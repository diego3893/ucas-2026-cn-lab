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52"/>
  </p:handoutMasterIdLst>
  <p:sldIdLst>
    <p:sldId id="256" r:id="rId4"/>
    <p:sldId id="270" r:id="rId6"/>
    <p:sldId id="343" r:id="rId7"/>
    <p:sldId id="325" r:id="rId8"/>
    <p:sldId id="326" r:id="rId9"/>
    <p:sldId id="327" r:id="rId10"/>
    <p:sldId id="329" r:id="rId11"/>
    <p:sldId id="330" r:id="rId12"/>
    <p:sldId id="331" r:id="rId13"/>
    <p:sldId id="332" r:id="rId14"/>
    <p:sldId id="333" r:id="rId15"/>
    <p:sldId id="345" r:id="rId16"/>
    <p:sldId id="346" r:id="rId17"/>
    <p:sldId id="347" r:id="rId18"/>
    <p:sldId id="348" r:id="rId19"/>
    <p:sldId id="349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259" r:id="rId28"/>
    <p:sldId id="258" r:id="rId29"/>
    <p:sldId id="260" r:id="rId30"/>
    <p:sldId id="261" r:id="rId31"/>
    <p:sldId id="262" r:id="rId32"/>
    <p:sldId id="263" r:id="rId33"/>
    <p:sldId id="273" r:id="rId34"/>
    <p:sldId id="271" r:id="rId35"/>
    <p:sldId id="264" r:id="rId36"/>
    <p:sldId id="272" r:id="rId37"/>
    <p:sldId id="350" r:id="rId38"/>
    <p:sldId id="304" r:id="rId39"/>
    <p:sldId id="274" r:id="rId40"/>
    <p:sldId id="275" r:id="rId41"/>
    <p:sldId id="284" r:id="rId42"/>
    <p:sldId id="269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</p:sldIdLst>
  <p:sldSz cx="9144000" cy="6858000" type="screen4x3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18" autoAdjust="0"/>
  </p:normalViewPr>
  <p:slideViewPr>
    <p:cSldViewPr snapToGrid="0">
      <p:cViewPr varScale="1">
        <p:scale>
          <a:sx n="69" d="100"/>
          <a:sy n="69" d="100"/>
        </p:scale>
        <p:origin x="17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6" Type="http://schemas.openxmlformats.org/officeDocument/2006/relationships/tags" Target="tags/tag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9034-ABE1-4D5D-AD6C-0DBC929EAC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RSA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Diffie</a:t>
            </a:r>
            <a:r>
              <a:rPr lang="en-US" altLang="zh-CN" dirty="0" smtClean="0"/>
              <a:t>-Hellman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认证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初始密码协商</a:t>
            </a:r>
            <a:endParaRPr lang="en-US" altLang="zh-CN" dirty="0" smtClean="0"/>
          </a:p>
          <a:p>
            <a:pPr marL="228600" indent="-228600">
              <a:buAutoNum type="arabicPeriod"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密码对由消息接收者提供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 smtClean="0"/>
              <a:t>层级的</a:t>
            </a:r>
            <a:r>
              <a:rPr lang="en-US" altLang="zh-CN" dirty="0" smtClean="0"/>
              <a:t>CA</a:t>
            </a:r>
            <a:r>
              <a:rPr lang="zh-CN" altLang="en-US" dirty="0" smtClean="0"/>
              <a:t>认证，顶级</a:t>
            </a:r>
            <a:r>
              <a:rPr lang="en-US" altLang="zh-CN" dirty="0" smtClean="0"/>
              <a:t>CA</a:t>
            </a:r>
            <a:r>
              <a:rPr lang="zh-CN" altLang="en-US" dirty="0" smtClean="0"/>
              <a:t>有很大权限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有效期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年左右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很贵、有免费的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342E-A5F2-4896-9F93-28735991AF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4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2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2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8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2" y="2324108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6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9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/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/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6934835" y="45085"/>
            <a:ext cx="220916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600" dirty="0">
                <a:solidFill>
                  <a:srgbClr val="9C9CC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计算机网络（研讨课）</a:t>
            </a:r>
            <a:endParaRPr lang="zh-CN" altLang="en-US" sz="1600" dirty="0">
              <a:solidFill>
                <a:srgbClr val="9C9CC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8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DAB1FE-0C97-4264-BBEE-6EB0937697B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2" y="6705601"/>
            <a:ext cx="208843" cy="152401"/>
          </a:xfrm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E66CA4B-62FD-4F41-A273-D0CE20CE9D2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A217C72-D1A8-4AAF-85C3-457A1C62965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6C342930-584E-419B-A671-37EC0C92F8E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7878769-730F-4726-87BF-0F749A8E263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E05D7DB-7C00-402E-8967-4E9C7E66E963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672CB05-5C36-4C31-8CAB-AE0023A1B9C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3976007-893A-457C-BBD7-A094EFDA530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4D89B0E-6E50-4259-B190-49097CC19A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95ABD29-FB4B-4289-A3C4-B5B125FED8F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00986B1-7CB0-45A9-A795-BD062051F225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125A-BC9B-4ABD-9A5C-B43E065153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51E-2069-46DC-AE39-7971CD6C3E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2D6A4-0239-4671-B0F6-53C442D9AA3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770F-B97E-45DB-892B-02D364E49E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164A-9C58-45EF-8FBC-0DF260CAAA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C1D4-36DB-4D60-A6D1-E773855499A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8D81-E242-4B27-B0E4-C64DA46D613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1194-07FD-4A17-9090-2089C78995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AB34-7A6D-49AF-94F9-08BC505F798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15D7-AE6C-42FC-9028-5CC33A077A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21E0-A861-49C9-BECD-AC4C7764310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65D9-C0FE-4741-84AD-DF4DA0CA6B6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08E68A2-AD48-4974-B9F0-FEADD0E590E4}" type="datetime1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D5D39203-2E53-4F16-87C7-15A91EC920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61840" y="4267200"/>
            <a:ext cx="4429760" cy="1752600"/>
          </a:xfrm>
        </p:spPr>
        <p:txBody>
          <a:bodyPr/>
          <a:lstStyle/>
          <a:p>
            <a:r>
              <a:rPr lang="zh-CN" altLang="en-US" sz="2400" dirty="0"/>
              <a:t>武庆华</a:t>
            </a:r>
            <a:endParaRPr lang="en-US" altLang="zh-CN" sz="2400" dirty="0"/>
          </a:p>
          <a:p>
            <a:r>
              <a:rPr lang="en-US" altLang="zh-CN" sz="2400" dirty="0"/>
              <a:t>wuqinghua@ict.ac.cn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Socket</a:t>
            </a:r>
            <a:r>
              <a:rPr lang="zh-CN" altLang="en-US" dirty="0"/>
              <a:t>应用编程实验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HTTP/HTTPS</a:t>
            </a:r>
            <a:r>
              <a:rPr lang="zh-CN" altLang="en-US" dirty="0">
                <a:sym typeface="+mn-ea"/>
              </a:rPr>
              <a:t>协议</a:t>
            </a:r>
            <a:endParaRPr lang="en-US" altLang="zh-CN" dirty="0">
              <a:sym typeface="+mn-ea"/>
            </a:endParaRPr>
          </a:p>
          <a:p>
            <a:r>
              <a:rPr lang="en-US" altLang="zh-CN" dirty="0"/>
              <a:t>Socket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en-US" altLang="zh-CN" dirty="0"/>
              <a:t>Socket</a:t>
            </a:r>
            <a:r>
              <a:rPr lang="zh-CN" altLang="en-US" dirty="0"/>
              <a:t>编程实验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Online Judge</a:t>
            </a:r>
            <a:r>
              <a:rPr lang="zh-CN" altLang="en-US" dirty="0">
                <a:sym typeface="+mn-ea"/>
              </a:rPr>
              <a:t>平台</a:t>
            </a:r>
            <a:endParaRPr lang="zh-CN" altLang="en-US" dirty="0"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0800"/>
            <a:ext cx="8058150" cy="42062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World Wide Web/Web/WWW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1989</a:t>
            </a:r>
            <a:r>
              <a:rPr lang="zh-CN" altLang="en-US" dirty="0"/>
              <a:t>年由</a:t>
            </a:r>
            <a:r>
              <a:rPr lang="en-US" altLang="zh-CN" dirty="0"/>
              <a:t>CERN</a:t>
            </a:r>
            <a:r>
              <a:rPr lang="zh-CN" altLang="en-US" dirty="0"/>
              <a:t>的</a:t>
            </a:r>
            <a:r>
              <a:rPr dirty="0"/>
              <a:t>Tim Berners-Lee</a:t>
            </a:r>
            <a:r>
              <a:rPr lang="zh-CN" altLang="en-US" dirty="0"/>
              <a:t>发明（</a:t>
            </a:r>
            <a:r>
              <a:rPr lang="en-US" altLang="zh-CN" dirty="0"/>
              <a:t>2016</a:t>
            </a:r>
            <a:r>
              <a:rPr lang="zh-CN" altLang="en-US" dirty="0"/>
              <a:t>年图灵奖）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一个由许多互相链接的超文本组成的资源系统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每个资源由一个全局唯一的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“统一资源标识符”（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URI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dirty="0"/>
              <a:t>标识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http://www.baidu.com/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使用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超文本传输协议（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Hypertext Transfer Protocol, 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dirty="0"/>
              <a:t>传输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GET /index.html HTTP/1.0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42648"/>
          <a:stretch>
            <a:fillRect/>
          </a:stretch>
        </p:blipFill>
        <p:spPr>
          <a:xfrm>
            <a:off x="1094740" y="4722495"/>
            <a:ext cx="6783705" cy="1837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HTTP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1. HTTP</a:t>
            </a:r>
            <a:r>
              <a:rPr lang="zh-CN" altLang="en-US">
                <a:solidFill>
                  <a:srgbClr val="FF0000"/>
                </a:solidFill>
              </a:rPr>
              <a:t>请求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</a:rPr>
              <a:t>1. HTTP</a:t>
            </a:r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应答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2. HTTP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请求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  <a:sym typeface="+mn-ea"/>
              </a:rPr>
              <a:t>2. HTTP</a:t>
            </a:r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  <a:sym typeface="+mn-ea"/>
              </a:rPr>
              <a:t>应答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/>
              <a:t>... ...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n. HTTP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请求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  <a:sym typeface="+mn-ea"/>
              </a:rPr>
              <a:t>n. HTTP</a:t>
            </a:r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  <a:sym typeface="+mn-ea"/>
              </a:rPr>
              <a:t>应答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685" y="2494941"/>
            <a:ext cx="4651651" cy="30238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请求 </a:t>
            </a:r>
            <a:r>
              <a:rPr lang="en-US" altLang="zh-CN" dirty="0"/>
              <a:t>(Request)</a:t>
            </a:r>
            <a:endParaRPr lang="zh-CN" altLang="en-US" dirty="0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3750012" y="3413565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请求头部</a:t>
            </a:r>
            <a:endParaRPr kumimoji="1" lang="zh-CN" altLang="en-US" sz="2000" dirty="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39" name="AutoShape 36"/>
          <p:cNvSpPr/>
          <p:nvPr/>
        </p:nvSpPr>
        <p:spPr bwMode="auto">
          <a:xfrm>
            <a:off x="3516828" y="3046852"/>
            <a:ext cx="181581" cy="1147763"/>
          </a:xfrm>
          <a:prstGeom prst="rightBrace">
            <a:avLst>
              <a:gd name="adj1" fmla="val 43929"/>
              <a:gd name="adj2" fmla="val 50000"/>
            </a:avLst>
          </a:prstGeom>
          <a:noFill/>
          <a:ln w="19050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5210586" y="248710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请求行</a:t>
            </a:r>
            <a:endParaRPr kumimoji="1" lang="zh-CN" altLang="en-US" sz="200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2010186" y="1837821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空格</a:t>
            </a:r>
            <a:endParaRPr kumimoji="1" lang="zh-CN" altLang="en-US" sz="200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3946936" y="1837821"/>
            <a:ext cx="1201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回车换行</a:t>
            </a:r>
            <a:endParaRPr kumimoji="1" lang="zh-CN" altLang="en-US" sz="200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2619786" y="2191833"/>
            <a:ext cx="407987" cy="306388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 flipH="1">
            <a:off x="1694273" y="2191833"/>
            <a:ext cx="444500" cy="306388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>
            <a:off x="4543836" y="2191833"/>
            <a:ext cx="222250" cy="306388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801314" y="4363059"/>
            <a:ext cx="5169966" cy="205287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GET /index.html HTTP/1.1</a:t>
            </a: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Host: www.baidu.com</a:t>
            </a: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Accept-Language: </a:t>
            </a:r>
            <a:r>
              <a:rPr lang="en-US" altLang="zh-CN" sz="1400" b="1" dirty="0" err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en</a:t>
            </a: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-us</a:t>
            </a: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Accept-Encoding: </a:t>
            </a:r>
            <a:r>
              <a:rPr lang="en-US" altLang="zh-CN" sz="1400" b="1" dirty="0" err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gzip</a:t>
            </a: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, deflate</a:t>
            </a: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User-Agent: Mozilla/4.0</a:t>
            </a: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(compatible; MSIE 5.5)</a:t>
            </a:r>
            <a:endParaRPr lang="en-US" altLang="zh-CN" sz="1400" b="1" dirty="0">
              <a:solidFill>
                <a:srgbClr val="FF0000"/>
              </a:solidFill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Connection: Keep-Alive</a:t>
            </a: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latin typeface="Courier New" panose="02070309020205020404" pitchFamily="49" charset="0"/>
              <a:ea typeface="MS PGothic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9" grpId="0" bldLvl="0" animBg="1"/>
      <p:bldP spid="42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61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请求行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请求行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/>
              <a:t>(Method)</a:t>
            </a:r>
            <a:endParaRPr lang="en-US" altLang="zh-CN" dirty="0"/>
          </a:p>
          <a:p>
            <a:pPr lvl="2"/>
            <a:r>
              <a:rPr lang="en-US" altLang="zh-CN" dirty="0"/>
              <a:t>GET: </a:t>
            </a:r>
            <a:r>
              <a:rPr lang="zh-CN" altLang="en-US" dirty="0"/>
              <a:t>返回</a:t>
            </a:r>
            <a:r>
              <a:rPr lang="en-US" altLang="zh-CN" dirty="0"/>
              <a:t>URI</a:t>
            </a:r>
            <a:r>
              <a:rPr lang="zh-CN" altLang="en-US" dirty="0"/>
              <a:t>对应的内容</a:t>
            </a:r>
            <a:endParaRPr lang="en-US" altLang="zh-CN" dirty="0"/>
          </a:p>
          <a:p>
            <a:pPr lvl="2"/>
            <a:r>
              <a:rPr lang="en-US" altLang="zh-CN" dirty="0"/>
              <a:t>POST: </a:t>
            </a:r>
            <a:r>
              <a:rPr lang="zh-CN" altLang="en-US" dirty="0"/>
              <a:t>向服务器发送数据</a:t>
            </a:r>
            <a:endParaRPr lang="en-US" altLang="zh-CN" dirty="0"/>
          </a:p>
          <a:p>
            <a:pPr lvl="2"/>
            <a:r>
              <a:rPr lang="en-US" altLang="zh-CN" dirty="0"/>
              <a:t>DELETE</a:t>
            </a:r>
            <a:r>
              <a:rPr lang="zh-CN" altLang="en-US" dirty="0"/>
              <a:t>、</a:t>
            </a:r>
            <a:r>
              <a:rPr lang="en-US" altLang="zh-CN" dirty="0"/>
              <a:t>CONNECT</a:t>
            </a:r>
            <a:r>
              <a:rPr lang="zh-CN" altLang="en-US" dirty="0"/>
              <a:t>、</a:t>
            </a:r>
            <a:r>
              <a:rPr lang="en-GB" altLang="zh-CN" dirty="0"/>
              <a:t> OPTIONS</a:t>
            </a:r>
            <a:r>
              <a:rPr lang="zh-CN" altLang="en-US" dirty="0"/>
              <a:t>、 </a:t>
            </a:r>
            <a:r>
              <a:rPr lang="en-US" altLang="zh-CN" dirty="0"/>
              <a:t>HEAD</a:t>
            </a:r>
            <a:r>
              <a:rPr lang="zh-CN" altLang="en-US" dirty="0"/>
              <a:t>、</a:t>
            </a:r>
            <a:r>
              <a:rPr lang="en-US" altLang="zh-CN" dirty="0"/>
              <a:t>PUT</a:t>
            </a:r>
            <a:endParaRPr lang="en-US" altLang="zh-CN" dirty="0"/>
          </a:p>
          <a:p>
            <a:pPr lvl="1"/>
            <a:r>
              <a:rPr lang="en-US" altLang="zh-CN" dirty="0"/>
              <a:t>URL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相对</a:t>
            </a:r>
            <a:r>
              <a:rPr lang="en-US" altLang="zh-CN" dirty="0"/>
              <a:t>URL)</a:t>
            </a:r>
            <a:endParaRPr lang="en-US" altLang="zh-CN" dirty="0"/>
          </a:p>
          <a:p>
            <a:pPr lvl="2"/>
            <a:r>
              <a:rPr lang="en-US" altLang="zh-CN" dirty="0"/>
              <a:t>e.g. /index.html</a:t>
            </a:r>
            <a:endParaRPr lang="en-US" altLang="zh-CN" dirty="0"/>
          </a:p>
          <a:p>
            <a:pPr lvl="2"/>
            <a:r>
              <a:rPr lang="zh-CN" altLang="en-US" dirty="0"/>
              <a:t>也可以写绝对</a:t>
            </a:r>
            <a:r>
              <a:rPr lang="en-US" altLang="zh-CN" dirty="0"/>
              <a:t>URL</a:t>
            </a:r>
            <a:endParaRPr lang="en-US" altLang="zh-CN" dirty="0"/>
          </a:p>
          <a:p>
            <a:pPr lvl="1"/>
            <a:r>
              <a:rPr lang="en-US" altLang="zh-CN" dirty="0"/>
              <a:t>HTTP</a:t>
            </a:r>
            <a:r>
              <a:rPr lang="zh-CN" altLang="en-US" dirty="0"/>
              <a:t>版本</a:t>
            </a:r>
            <a:endParaRPr lang="en-US" altLang="zh-CN" dirty="0"/>
          </a:p>
          <a:p>
            <a:pPr lvl="2"/>
            <a:r>
              <a:rPr lang="en-US" altLang="zh-CN" dirty="0"/>
              <a:t>HTTP/0.9  HTTP/1.0  HTTP/1.1  HTTP/2.0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请求头部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请求头部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变长、可读的字符串</a:t>
            </a:r>
            <a:endParaRPr lang="en-US" altLang="zh-CN" dirty="0"/>
          </a:p>
          <a:p>
            <a:pPr lvl="1"/>
            <a:r>
              <a:rPr lang="zh-CN" altLang="en-US" dirty="0"/>
              <a:t>包括（不限于）：</a:t>
            </a:r>
            <a:endParaRPr lang="en-US" altLang="zh-CN" dirty="0"/>
          </a:p>
          <a:p>
            <a:pPr lvl="2"/>
            <a:r>
              <a:rPr lang="zh-CN" altLang="en-US" dirty="0"/>
              <a:t>主机 </a:t>
            </a:r>
            <a:r>
              <a:rPr lang="en-US" altLang="zh-CN" dirty="0"/>
              <a:t>(Host)</a:t>
            </a:r>
            <a:endParaRPr lang="en-US" altLang="zh-CN" dirty="0"/>
          </a:p>
          <a:p>
            <a:pPr lvl="2"/>
            <a:r>
              <a:rPr lang="zh-CN" altLang="en-US" dirty="0"/>
              <a:t>认证</a:t>
            </a:r>
            <a:r>
              <a:rPr lang="en-US" altLang="zh-CN" dirty="0"/>
              <a:t> (Authorization)</a:t>
            </a:r>
            <a:endParaRPr lang="en-US" altLang="zh-CN" dirty="0"/>
          </a:p>
          <a:p>
            <a:pPr lvl="2"/>
            <a:r>
              <a:rPr lang="zh-CN" altLang="en-US" dirty="0"/>
              <a:t>可接受文档类型、编码类型</a:t>
            </a:r>
            <a:endParaRPr lang="en-US" altLang="zh-CN" dirty="0"/>
          </a:p>
          <a:p>
            <a:pPr lvl="2"/>
            <a:r>
              <a:rPr lang="zh-CN" altLang="en-US" dirty="0"/>
              <a:t>缓存 </a:t>
            </a:r>
            <a:r>
              <a:rPr lang="en-US" altLang="zh-CN" dirty="0"/>
              <a:t>(Cache-Control)</a:t>
            </a:r>
            <a:endParaRPr lang="en-US" altLang="zh-CN" dirty="0"/>
          </a:p>
          <a:p>
            <a:pPr lvl="2"/>
            <a:r>
              <a:rPr lang="zh-CN" altLang="en-US" dirty="0"/>
              <a:t>提交者 </a:t>
            </a:r>
            <a:r>
              <a:rPr lang="en-US" altLang="zh-CN" dirty="0"/>
              <a:t>(</a:t>
            </a:r>
            <a:r>
              <a:rPr lang="en-US" altLang="zh-CN" dirty="0" err="1"/>
              <a:t>Referer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zh-CN" altLang="en-US" dirty="0"/>
              <a:t>用户代理 </a:t>
            </a:r>
            <a:r>
              <a:rPr lang="en-US" altLang="zh-CN" dirty="0"/>
              <a:t>(User-Agent)</a:t>
            </a:r>
            <a:endParaRPr lang="en-US" altLang="zh-CN" dirty="0"/>
          </a:p>
          <a:p>
            <a:pPr lvl="2"/>
            <a:r>
              <a:rPr lang="zh-CN" altLang="en-US" dirty="0"/>
              <a:t>连接管理 </a:t>
            </a:r>
            <a:r>
              <a:rPr lang="en-US" altLang="zh-CN" dirty="0"/>
              <a:t>(Connection)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应答 </a:t>
            </a:r>
            <a:r>
              <a:rPr lang="en-US" altLang="zh-CN" dirty="0"/>
              <a:t>(Response)</a:t>
            </a:r>
            <a:endParaRPr lang="zh-CN" altLang="en-US" dirty="0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4116388" y="2810174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应答头部</a:t>
            </a:r>
            <a:endParaRPr kumimoji="1" lang="zh-CN" altLang="en-US" sz="2000" dirty="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39" name="AutoShape 36"/>
          <p:cNvSpPr/>
          <p:nvPr/>
        </p:nvSpPr>
        <p:spPr bwMode="auto">
          <a:xfrm>
            <a:off x="3956051" y="2451399"/>
            <a:ext cx="222250" cy="1171575"/>
          </a:xfrm>
          <a:prstGeom prst="rightBrace">
            <a:avLst>
              <a:gd name="adj1" fmla="val 43929"/>
              <a:gd name="adj2" fmla="val 50000"/>
            </a:avLst>
          </a:prstGeom>
          <a:noFill/>
          <a:ln w="19050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5514976" y="1981499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状态行</a:t>
            </a:r>
            <a:endParaRPr kumimoji="1" lang="zh-CN" altLang="en-US" sz="2000" dirty="0">
              <a:solidFill>
                <a:srgbClr val="333399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956051" y="4029374"/>
            <a:ext cx="4572000" cy="18374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HTTP/1.1 200 OK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Date: Wed, 12 Oct 2016 12:26:03 GMT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Server: Apache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Accept-Ranges: bytes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Content-Length: 1297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Connection: Keep-Alive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Body…</a:t>
            </a:r>
            <a:endParaRPr lang="en-US" altLang="zh-C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908810"/>
            <a:ext cx="4583430" cy="3040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9" grpId="0" bldLvl="0" animBg="1"/>
      <p:bldP spid="42" grpId="0" bldLvl="0" animBg="1"/>
      <p:bldP spid="6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状态码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6341" y="1450786"/>
          <a:ext cx="8340725" cy="440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20"/>
                <a:gridCol w="1021715"/>
                <a:gridCol w="3396615"/>
                <a:gridCol w="2974975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状态码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定义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说明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示例</a:t>
                      </a:r>
                      <a:endParaRPr lang="zh-CN" altLang="en-US" sz="2000" b="1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GB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1XX</a:t>
                      </a:r>
                      <a:endParaRPr kumimoji="0" lang="en-GB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信息</a:t>
                      </a:r>
                      <a:endParaRPr kumimoji="0" lang="zh-CN" alt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接收到请求，继续处理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r>
                        <a:rPr lang="en-GB" altLang="zh-CN" sz="1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100 Continue</a:t>
                      </a:r>
                      <a:endParaRPr lang="zh-CN" altLang="en-US" sz="1800" b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GB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2XX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成功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操作成功地收到和接受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r>
                        <a:rPr lang="en-GB" altLang="zh-CN" sz="18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200 OK</a:t>
                      </a:r>
                      <a:r>
                        <a:rPr lang="en-US" altLang="en-GB" sz="18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;   206 Partial Content</a:t>
                      </a:r>
                      <a:endParaRPr lang="en-US" altLang="en-GB" sz="18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GB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3XX</a:t>
                      </a:r>
                      <a:endParaRPr kumimoji="0" lang="en-GB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重定向</a:t>
                      </a:r>
                      <a:endParaRPr kumimoji="0" lang="zh-CN" alt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为了完成请求，必须采取进一步措施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r>
                        <a:rPr lang="en-GB" altLang="zh-CN" sz="18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301 Moved Permanently</a:t>
                      </a:r>
                      <a:endParaRPr lang="en-GB" altLang="zh-CN" sz="18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GB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4XX</a:t>
                      </a:r>
                      <a:endParaRPr kumimoji="0" lang="en-GB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客户端错误</a:t>
                      </a:r>
                      <a:endParaRPr kumimoji="0" lang="zh-CN" alt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请求的语法有错误或不能完全被满足。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r>
                        <a:rPr lang="en-GB" altLang="zh-CN" sz="18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404 Not Found</a:t>
                      </a:r>
                      <a:endParaRPr lang="en-GB" altLang="zh-CN" sz="18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GB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5XX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服务端错误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服务器无法完成明显有效的请求。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anchor="ctr" horzOverflow="overflow"/>
                </a:tc>
                <a:tc>
                  <a:txBody>
                    <a:bodyPr/>
                    <a:lstStyle/>
                    <a:p>
                      <a:r>
                        <a:rPr lang="en-GB" altLang="zh-CN" sz="18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500 Internal Server Error</a:t>
                      </a:r>
                      <a:endParaRPr lang="zh-CN" altLang="en-US" sz="1800" b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如何标识应答结束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显式关闭连接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由服务器来关闭（</a:t>
            </a:r>
            <a:r>
              <a:rPr lang="en-US" altLang="zh-CN" dirty="0"/>
              <a:t>Socket API</a:t>
            </a:r>
            <a:r>
              <a:rPr lang="zh-CN" altLang="en-US" dirty="0"/>
              <a:t>：</a:t>
            </a:r>
            <a:r>
              <a:rPr lang="en-US" altLang="zh-CN" dirty="0"/>
              <a:t>close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TCP</a:t>
            </a:r>
            <a:r>
              <a:rPr lang="zh-CN" altLang="en-US" dirty="0"/>
              <a:t>连接只处理一个</a:t>
            </a:r>
            <a:r>
              <a:rPr lang="en-US" altLang="zh-CN" dirty="0"/>
              <a:t>Request</a:t>
            </a:r>
            <a:r>
              <a:rPr lang="zh-CN" altLang="en-US" dirty="0"/>
              <a:t>，性能差</a:t>
            </a:r>
            <a:endParaRPr lang="en-US" altLang="zh-CN" dirty="0"/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由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Content-Length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来标识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在传输之前已经确定消息长度（</a:t>
            </a:r>
            <a:r>
              <a:rPr lang="en-US" altLang="zh-CN" dirty="0"/>
              <a:t>HTTP</a:t>
            </a:r>
            <a:r>
              <a:rPr lang="zh-CN" altLang="en-US" dirty="0"/>
              <a:t>应答头部中的参数字段）</a:t>
            </a:r>
            <a:endParaRPr lang="en-US" altLang="zh-CN" dirty="0"/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分块传输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(chunked)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在发送相应头部之后，每传一个</a:t>
            </a:r>
            <a:r>
              <a:rPr lang="en-US" altLang="zh-CN" dirty="0"/>
              <a:t>chunk</a:t>
            </a:r>
            <a:r>
              <a:rPr lang="zh-CN" altLang="en-US" dirty="0"/>
              <a:t>之前，先用</a:t>
            </a:r>
            <a:r>
              <a:rPr lang="en-US" altLang="zh-CN" dirty="0"/>
              <a:t>16</a:t>
            </a:r>
            <a:r>
              <a:rPr lang="zh-CN" altLang="en-US" dirty="0"/>
              <a:t>进制标识其长度</a:t>
            </a:r>
            <a:endParaRPr lang="en-US" altLang="zh-CN" dirty="0"/>
          </a:p>
          <a:p>
            <a:pPr lvl="1"/>
            <a:r>
              <a:rPr lang="zh-CN" altLang="en-US" dirty="0"/>
              <a:t>最后一个</a:t>
            </a:r>
            <a:r>
              <a:rPr lang="en-US" altLang="zh-CN" dirty="0"/>
              <a:t>chunk</a:t>
            </a:r>
            <a:r>
              <a:rPr lang="zh-CN" altLang="en-US" dirty="0"/>
              <a:t>写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分块传输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346089"/>
            <a:ext cx="8095802" cy="1830877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分块传输对于动态生成内容非常有效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由于服务器事先不知道生成内容的大小，如果使用</a:t>
            </a:r>
            <a:r>
              <a:rPr lang="en-US" altLang="zh-CN" dirty="0"/>
              <a:t>Content-Length</a:t>
            </a:r>
            <a:r>
              <a:rPr lang="zh-CN" altLang="en-US" dirty="0"/>
              <a:t>方法，则需将所有内容生成并缓存，才能计算长度并传输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79257" y="1718892"/>
            <a:ext cx="5793665" cy="2169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HTTP/1.1 200 OK 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Transfer-Encoding: chunked &lt;CRLF&gt;</a:t>
            </a:r>
            <a:endParaRPr lang="en-US" altLang="zh-CN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10 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0123456789ABCDEF&lt;CRLF&gt;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1A 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0123456789ABCDEF0123456789&lt;CRLF&gt;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0 &lt;CRLF&gt;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提升</a:t>
            </a:r>
            <a:r>
              <a:rPr lang="en-US" altLang="zh-CN" dirty="0"/>
              <a:t>HTTP</a:t>
            </a:r>
            <a:r>
              <a:rPr lang="zh-CN" altLang="en-US" dirty="0"/>
              <a:t>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751166"/>
            <a:ext cx="7886700" cy="628766"/>
          </a:xfrm>
        </p:spPr>
        <p:txBody>
          <a:bodyPr/>
          <a:lstStyle/>
          <a:p>
            <a:r>
              <a:rPr lang="zh-CN" altLang="en-US" dirty="0"/>
              <a:t>早期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r>
              <a:rPr lang="en-US" altLang="zh-CN" dirty="0"/>
              <a:t>(HTTP/0.9)</a:t>
            </a:r>
            <a:r>
              <a:rPr lang="zh-CN" altLang="en-US" dirty="0"/>
              <a:t>为每个请求建立一个新的连接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909900" y="3300798"/>
            <a:ext cx="2756093" cy="2011684"/>
            <a:chOff x="914401" y="4249267"/>
            <a:chExt cx="2756093" cy="2011684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1290918" y="4356847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3282873" y="4356847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914401" y="424926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80030" y="4249267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1376979" y="4618599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H="1">
              <a:off x="1378770" y="4975396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914861" y="4457233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895138" y="4910848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1401937" y="537729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>
              <a:off x="1403728" y="5734091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939819" y="5215928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20096" y="5669543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079903" y="2571775"/>
            <a:ext cx="2756093" cy="3707580"/>
            <a:chOff x="5079903" y="2571775"/>
            <a:chExt cx="2756093" cy="3707580"/>
          </a:xfrm>
        </p:grpSpPr>
        <p:cxnSp>
          <p:nvCxnSpPr>
            <p:cNvPr id="23" name="直接连接符 22"/>
            <p:cNvCxnSpPr/>
            <p:nvPr/>
          </p:nvCxnSpPr>
          <p:spPr>
            <a:xfrm flipH="1">
              <a:off x="5456420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7448375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5079903" y="2571775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545532" y="2571775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27" name="直接箭头连接符 26"/>
            <p:cNvCxnSpPr/>
            <p:nvPr/>
          </p:nvCxnSpPr>
          <p:spPr>
            <a:xfrm>
              <a:off x="5542481" y="3780206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5544272" y="4137003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114429" y="3845648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072106" y="4181271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105321" y="5733004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5522971" y="297411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flipH="1">
              <a:off x="5524762" y="3330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6114429" y="2872160"/>
              <a:ext cx="509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</a:t>
              </a:r>
              <a:endParaRPr lang="zh-CN" altLang="en-US" sz="1600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965614" y="3196684"/>
              <a:ext cx="945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SYN+ACK</a:t>
              </a:r>
              <a:endParaRPr lang="zh-CN" altLang="en-US" sz="1600" dirty="0"/>
            </a:p>
          </p:txBody>
        </p:sp>
        <p:cxnSp>
          <p:nvCxnSpPr>
            <p:cNvPr id="39" name="直接箭头连接符 38"/>
            <p:cNvCxnSpPr/>
            <p:nvPr/>
          </p:nvCxnSpPr>
          <p:spPr>
            <a:xfrm>
              <a:off x="5524762" y="368591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6137739" y="3578496"/>
              <a:ext cx="518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</a:t>
              </a:r>
              <a:endParaRPr lang="zh-CN" altLang="en-US" sz="1600" dirty="0"/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5555460" y="541024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1">
              <a:off x="5557251" y="576703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6127408" y="547568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5535950" y="460414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H="1">
              <a:off x="5537741" y="4960941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6127408" y="4502194"/>
              <a:ext cx="509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</a:t>
              </a:r>
              <a:endParaRPr lang="zh-CN" altLang="en-US" sz="1600" dirty="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978593" y="4826718"/>
              <a:ext cx="945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SYN+ACK</a:t>
              </a:r>
              <a:endParaRPr lang="zh-CN" altLang="en-US" sz="1600" dirty="0"/>
            </a:p>
          </p:txBody>
        </p:sp>
        <p:cxnSp>
          <p:nvCxnSpPr>
            <p:cNvPr id="49" name="直接箭头连接符 48"/>
            <p:cNvCxnSpPr/>
            <p:nvPr/>
          </p:nvCxnSpPr>
          <p:spPr>
            <a:xfrm>
              <a:off x="5537741" y="5315948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6150718" y="5208530"/>
              <a:ext cx="518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</a:t>
              </a:r>
              <a:endParaRPr lang="zh-CN" altLang="en-US" sz="1600" dirty="0"/>
            </a:p>
          </p:txBody>
        </p:sp>
      </p:grpSp>
      <p:sp>
        <p:nvSpPr>
          <p:cNvPr id="51" name="右箭头 50"/>
          <p:cNvSpPr/>
          <p:nvPr/>
        </p:nvSpPr>
        <p:spPr>
          <a:xfrm>
            <a:off x="4152451" y="4160641"/>
            <a:ext cx="419549" cy="3385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持久连接（</a:t>
            </a:r>
            <a:r>
              <a:rPr lang="en-US" altLang="zh-CN" dirty="0"/>
              <a:t>HTTP/1.0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持久连接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(Keep-Alive)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可使多个请求复用已有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TCP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连接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节约了建立额外</a:t>
            </a:r>
            <a:r>
              <a:rPr lang="en-US" altLang="zh-CN" dirty="0"/>
              <a:t>TCP</a:t>
            </a:r>
            <a:r>
              <a:rPr lang="zh-CN" altLang="en-US" dirty="0"/>
              <a:t>连接的时间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207150" y="2728180"/>
            <a:ext cx="2756093" cy="3707580"/>
            <a:chOff x="5079903" y="2571775"/>
            <a:chExt cx="2756093" cy="3707580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5456420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7448375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5079903" y="2571775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545532" y="2571775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5542481" y="3780206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>
              <a:off x="5544272" y="4137003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114429" y="3845648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72106" y="4181271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105321" y="5733004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5522971" y="297411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5524762" y="3330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6114429" y="2872160"/>
              <a:ext cx="509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</a:t>
              </a:r>
              <a:endParaRPr lang="zh-CN" altLang="en-US" sz="16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65614" y="3196684"/>
              <a:ext cx="945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SYN+ACK</a:t>
              </a:r>
              <a:endParaRPr lang="zh-CN" altLang="en-US" sz="1600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5524762" y="368591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6137739" y="3578496"/>
              <a:ext cx="518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</a:t>
              </a:r>
              <a:endParaRPr lang="zh-CN" altLang="en-US" sz="1600" dirty="0"/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5555460" y="541024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5557251" y="576703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6127408" y="547568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5535950" y="460414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1">
              <a:off x="5537741" y="4960941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6127408" y="4502194"/>
              <a:ext cx="509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</a:t>
              </a:r>
              <a:endParaRPr lang="zh-CN" altLang="en-US" sz="16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978593" y="4826718"/>
              <a:ext cx="945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SYN+ACK</a:t>
              </a:r>
              <a:endParaRPr lang="zh-CN" altLang="en-US" sz="1600" dirty="0"/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5537741" y="5315948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6150718" y="5208530"/>
              <a:ext cx="518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</a:t>
              </a:r>
              <a:endParaRPr lang="zh-CN" altLang="en-US" sz="160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503461" y="2728180"/>
            <a:ext cx="2756093" cy="3707580"/>
            <a:chOff x="5079903" y="2571775"/>
            <a:chExt cx="2756093" cy="3707580"/>
          </a:xfrm>
        </p:grpSpPr>
        <p:cxnSp>
          <p:nvCxnSpPr>
            <p:cNvPr id="57" name="直接连接符 56"/>
            <p:cNvCxnSpPr/>
            <p:nvPr/>
          </p:nvCxnSpPr>
          <p:spPr>
            <a:xfrm flipH="1">
              <a:off x="5456420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7448375" y="2679355"/>
              <a:ext cx="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5079903" y="2571775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545532" y="2571775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61" name="直接箭头连接符 60"/>
            <p:cNvCxnSpPr/>
            <p:nvPr/>
          </p:nvCxnSpPr>
          <p:spPr>
            <a:xfrm>
              <a:off x="5542481" y="3780206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flipH="1">
              <a:off x="5544272" y="4137003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6114429" y="3845648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072106" y="4181271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6105321" y="4904664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cxnSp>
          <p:nvCxnSpPr>
            <p:cNvPr id="66" name="直接箭头连接符 65"/>
            <p:cNvCxnSpPr/>
            <p:nvPr/>
          </p:nvCxnSpPr>
          <p:spPr>
            <a:xfrm>
              <a:off x="5522971" y="297411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H="1">
              <a:off x="5524762" y="3330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/>
          </p:nvSpPr>
          <p:spPr>
            <a:xfrm>
              <a:off x="6114429" y="2872160"/>
              <a:ext cx="509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</a:t>
              </a:r>
              <a:endParaRPr lang="zh-CN" altLang="en-US" sz="1600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965614" y="3196684"/>
              <a:ext cx="945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SYN+ACK</a:t>
              </a:r>
              <a:endParaRPr lang="zh-CN" altLang="en-US" sz="1600" dirty="0"/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5524762" y="368591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6137739" y="3578496"/>
              <a:ext cx="518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ACK</a:t>
              </a:r>
              <a:endParaRPr lang="zh-CN" altLang="en-US" sz="1600" dirty="0"/>
            </a:p>
          </p:txBody>
        </p:sp>
        <p:cxnSp>
          <p:nvCxnSpPr>
            <p:cNvPr id="72" name="直接箭头连接符 71"/>
            <p:cNvCxnSpPr/>
            <p:nvPr/>
          </p:nvCxnSpPr>
          <p:spPr>
            <a:xfrm>
              <a:off x="5555460" y="458190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 flipH="1">
              <a:off x="5557251" y="493869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/>
            <p:cNvSpPr txBox="1"/>
            <p:nvPr/>
          </p:nvSpPr>
          <p:spPr>
            <a:xfrm>
              <a:off x="6127408" y="464734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</p:grpSp>
      <p:sp>
        <p:nvSpPr>
          <p:cNvPr id="81" name="右箭头 80"/>
          <p:cNvSpPr/>
          <p:nvPr/>
        </p:nvSpPr>
        <p:spPr>
          <a:xfrm>
            <a:off x="4468043" y="4283757"/>
            <a:ext cx="419549" cy="3385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管道 </a:t>
            </a:r>
            <a:r>
              <a:rPr lang="en-US" altLang="zh-CN" dirty="0"/>
              <a:t>(pipelining)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HTTP/1.1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管道利用窗口的思想，提升并行性，改进传输性能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尽早发送请求，不用每次被应答阻塞，消除额外的往返延迟</a:t>
            </a:r>
            <a:endParaRPr lang="zh-CN" altLang="en-US" dirty="0"/>
          </a:p>
          <a:p>
            <a:pPr lvl="1"/>
            <a:r>
              <a:rPr lang="zh-CN" altLang="en-US">
                <a:sym typeface="+mn-ea"/>
              </a:rPr>
              <a:t>Pipelining要求在接收应答消息时，也必须依顺序接收</a:t>
            </a:r>
            <a:endParaRPr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1006476" y="3136564"/>
            <a:ext cx="2756093" cy="2011684"/>
            <a:chOff x="914401" y="4249267"/>
            <a:chExt cx="2756093" cy="2011684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1290918" y="4356847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3282873" y="4356847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14401" y="424926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80030" y="4249267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1376979" y="4618599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1378770" y="4975396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1914861" y="4457233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95138" y="4910848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1401937" y="537729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1403728" y="5734091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939819" y="5215928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20096" y="5669543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149171" y="3136564"/>
            <a:ext cx="2756093" cy="2011684"/>
            <a:chOff x="5057096" y="4189770"/>
            <a:chExt cx="2756093" cy="2011684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5433613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425568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5057096" y="418977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522725" y="418977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5519674" y="476350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1">
              <a:off x="5521465" y="512029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6057556" y="455910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037833" y="5055749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5529465" y="4915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5531256" y="527270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6067347" y="4754541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047624" y="5208156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</p:grpSp>
      <p:sp>
        <p:nvSpPr>
          <p:cNvPr id="34" name="右箭头 33"/>
          <p:cNvSpPr/>
          <p:nvPr/>
        </p:nvSpPr>
        <p:spPr>
          <a:xfrm>
            <a:off x="4287557" y="4039889"/>
            <a:ext cx="344245" cy="30120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1345" y="5436870"/>
            <a:ext cx="7819390" cy="1042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50000"/>
              </a:lnSpc>
            </a:pPr>
            <a:r>
              <a:rPr lang="zh-CN" altLang="en-US"/>
              <a:t>如果前一个应答遇到了阻塞，后面的请求即使已经处理完毕了，仍然需要等待阻塞的请求传输完毕后才能传输（Head of Line Blocking，队头阻塞）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HTTP多路复用</a:t>
            </a:r>
            <a:r>
              <a:rPr lang="zh-CN" altLang="en-US"/>
              <a:t>（</a:t>
            </a:r>
            <a:r>
              <a:rPr lang="en-US" altLang="zh-CN"/>
              <a:t>HTTP/2.0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120" y="1312545"/>
            <a:ext cx="8229600" cy="2443480"/>
          </a:xfrm>
        </p:spPr>
        <p:txBody>
          <a:bodyPr/>
          <a:p>
            <a:r>
              <a:rPr lang="en-US" altLang="zh-CN" sz="2000"/>
              <a:t>HTTP</a:t>
            </a:r>
            <a:r>
              <a:rPr lang="zh-CN" altLang="en-US" sz="2000"/>
              <a:t>多路复用将一个TCP连接分为若干个流（Stream），每个数据流都有一个唯一的编号，数据包中携带所属的数据流ID</a:t>
            </a:r>
            <a:endParaRPr lang="zh-CN" altLang="en-US" sz="2000"/>
          </a:p>
          <a:p>
            <a:r>
              <a:rPr lang="zh-CN" altLang="en-US" sz="2000"/>
              <a:t>客户端可以指定数据流的优先级，优先级越高，服务器就越早响应</a:t>
            </a:r>
            <a:endParaRPr lang="zh-CN" altLang="en-US" sz="2000"/>
          </a:p>
          <a:p>
            <a:r>
              <a:rPr lang="zh-CN" altLang="en-US" sz="2000"/>
              <a:t>即使一个请求被阻塞了，也不会影响其他请求的传输，消除了队头阻塞问题</a:t>
            </a:r>
            <a:endParaRPr lang="zh-CN" altLang="en-US" sz="2000"/>
          </a:p>
        </p:txBody>
      </p:sp>
      <p:grpSp>
        <p:nvGrpSpPr>
          <p:cNvPr id="32" name="组合 31"/>
          <p:cNvGrpSpPr/>
          <p:nvPr/>
        </p:nvGrpSpPr>
        <p:grpSpPr>
          <a:xfrm>
            <a:off x="1139146" y="3988734"/>
            <a:ext cx="2756093" cy="2011684"/>
            <a:chOff x="5057096" y="4189770"/>
            <a:chExt cx="2756093" cy="2011684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5433613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425568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5057096" y="418977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522725" y="418977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5519674" y="476350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1">
              <a:off x="5521465" y="512029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6057556" y="455910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037833" y="5055749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5529465" y="4915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5531256" y="527270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6067347" y="4754541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047624" y="5208156"/>
              <a:ext cx="7341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</p:grpSp>
      <p:sp>
        <p:nvSpPr>
          <p:cNvPr id="34" name="右箭头 33"/>
          <p:cNvSpPr/>
          <p:nvPr/>
        </p:nvSpPr>
        <p:spPr>
          <a:xfrm>
            <a:off x="4159287" y="4892059"/>
            <a:ext cx="344245" cy="30120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123136" y="3982384"/>
            <a:ext cx="2756093" cy="2011684"/>
            <a:chOff x="5057096" y="4189770"/>
            <a:chExt cx="2756093" cy="2011684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5433613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7425568" y="4297350"/>
              <a:ext cx="0" cy="1904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5057096" y="418977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522725" y="418977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5519674" y="4763500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>
              <a:off x="5567820" y="5120297"/>
              <a:ext cx="1782445" cy="8642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6057556" y="4559102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037833" y="5121789"/>
              <a:ext cx="72517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5529465" y="4915907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>
              <a:off x="5531256" y="5272704"/>
              <a:ext cx="1828800" cy="362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6067347" y="4754541"/>
              <a:ext cx="6539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Req</a:t>
              </a:r>
              <a:r>
                <a:rPr lang="en-US" altLang="zh-CN" sz="1600" dirty="0"/>
                <a:t> 2</a:t>
              </a:r>
              <a:endParaRPr lang="zh-CN" altLang="en-US" sz="1600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038099" y="5503431"/>
              <a:ext cx="72517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600" dirty="0" err="1"/>
                <a:t>Resp</a:t>
              </a:r>
              <a:r>
                <a:rPr lang="en-US" altLang="zh-CN" sz="1600" dirty="0"/>
                <a:t> 1</a:t>
              </a:r>
              <a:endParaRPr lang="zh-CN" alt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HTTP over QUIC</a:t>
            </a:r>
            <a:r>
              <a:rPr lang="zh-CN" altLang="en-US"/>
              <a:t>（</a:t>
            </a:r>
            <a:r>
              <a:rPr lang="en-US" altLang="zh-CN"/>
              <a:t>HTTP/3.0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5260"/>
            <a:ext cx="8229600" cy="3001645"/>
          </a:xfrm>
        </p:spPr>
        <p:txBody>
          <a:bodyPr/>
          <a:p>
            <a:r>
              <a:rPr lang="en-US" altLang="zh-CN"/>
              <a:t>HTTP</a:t>
            </a:r>
            <a:r>
              <a:rPr lang="zh-CN" altLang="en-US"/>
              <a:t>除了可以基于</a:t>
            </a:r>
            <a:r>
              <a:rPr lang="en-US" altLang="zh-CN"/>
              <a:t>TCP</a:t>
            </a:r>
            <a:r>
              <a:rPr lang="zh-CN" altLang="en-US"/>
              <a:t>传输，还可以基于</a:t>
            </a:r>
            <a:r>
              <a:rPr lang="en-US" altLang="zh-CN"/>
              <a:t>QUIC</a:t>
            </a:r>
            <a:r>
              <a:rPr lang="zh-CN" altLang="en-US"/>
              <a:t>传输</a:t>
            </a:r>
            <a:endParaRPr lang="zh-CN" altLang="en-US"/>
          </a:p>
          <a:p>
            <a:r>
              <a:rPr lang="en-US" altLang="zh-CN"/>
              <a:t>QUIC</a:t>
            </a:r>
            <a:r>
              <a:rPr lang="zh-CN" altLang="en-US"/>
              <a:t>带来的三个性能优势：</a:t>
            </a:r>
            <a:endParaRPr lang="zh-CN" altLang="en-US"/>
          </a:p>
          <a:p>
            <a:pPr lvl="1"/>
            <a:r>
              <a:rPr lang="zh-CN" altLang="en-US"/>
              <a:t>天然支持安全连接</a:t>
            </a:r>
            <a:endParaRPr lang="zh-CN" altLang="en-US"/>
          </a:p>
          <a:p>
            <a:pPr lvl="1"/>
            <a:r>
              <a:rPr lang="zh-CN" altLang="en-US"/>
              <a:t>在特定场景下可以省去建连时间</a:t>
            </a:r>
            <a:endParaRPr lang="zh-CN" altLang="en-US"/>
          </a:p>
          <a:p>
            <a:pPr lvl="1"/>
            <a:r>
              <a:rPr lang="zh-CN" altLang="en-US"/>
              <a:t>天然支持多</a:t>
            </a:r>
            <a:r>
              <a:rPr lang="en-US" altLang="zh-CN"/>
              <a:t>Stream</a:t>
            </a:r>
            <a:r>
              <a:rPr lang="zh-CN" altLang="en-US"/>
              <a:t>，每个</a:t>
            </a:r>
            <a:r>
              <a:rPr lang="en-US" altLang="zh-CN"/>
              <a:t>Stream</a:t>
            </a:r>
            <a:r>
              <a:rPr lang="zh-CN" altLang="en-US"/>
              <a:t>可独立进行拥塞控制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0665" y="5109210"/>
            <a:ext cx="8662035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HTTPS = HTTP + TLS</a:t>
            </a:r>
            <a:endParaRPr lang="en-US" altLang="zh-CN" sz="2800" dirty="0"/>
          </a:p>
          <a:p>
            <a:r>
              <a:rPr lang="zh-CN" altLang="en-US" sz="2800" dirty="0"/>
              <a:t>优点：</a:t>
            </a:r>
            <a:endParaRPr lang="en-US" altLang="zh-CN" sz="2800" dirty="0"/>
          </a:p>
          <a:p>
            <a:pPr lvl="1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很大程度上解决了互联网安全、隐私问题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2800" dirty="0"/>
              <a:t>缺点：</a:t>
            </a:r>
            <a:endParaRPr lang="en-US" altLang="zh-CN" sz="2800" dirty="0"/>
          </a:p>
          <a:p>
            <a:pPr lvl="1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对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Web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服务器造成一定性能负担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zh-CN" altLang="en-US" dirty="0"/>
              <a:t>加密、解密过程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破坏了互联网缓存机制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en-US" altLang="zh-CN" dirty="0"/>
              <a:t>ISP</a:t>
            </a:r>
            <a:r>
              <a:rPr lang="zh-CN" altLang="en-US" dirty="0"/>
              <a:t>不能缓存</a:t>
            </a:r>
            <a:r>
              <a:rPr lang="en-US" altLang="zh-CN" dirty="0"/>
              <a:t>HTTPS</a:t>
            </a:r>
            <a:r>
              <a:rPr lang="zh-CN" altLang="en-US" dirty="0"/>
              <a:t>流量</a:t>
            </a:r>
            <a:endParaRPr lang="en-US" altLang="zh-CN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非对称加密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公钥加密体系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Bob</a:t>
            </a:r>
            <a:r>
              <a:rPr lang="zh-CN" altLang="en-US" dirty="0" smtClean="0"/>
              <a:t>生成公钥对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PrivK</a:t>
            </a:r>
            <a:r>
              <a:rPr lang="en-US" altLang="zh-CN" baseline="-25000" dirty="0" err="1" smtClean="0"/>
              <a:t>Bob</a:t>
            </a:r>
            <a:r>
              <a:rPr lang="en-US" altLang="zh-CN" baseline="-25000" dirty="0" smtClean="0"/>
              <a:t>, </a:t>
            </a:r>
            <a:r>
              <a:rPr lang="en-US" altLang="zh-CN" dirty="0" err="1" smtClean="0"/>
              <a:t>PubK</a:t>
            </a:r>
            <a:r>
              <a:rPr lang="en-US" altLang="zh-CN" baseline="-25000" dirty="0" err="1" smtClean="0"/>
              <a:t>Bob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Alice</a:t>
            </a:r>
            <a:r>
              <a:rPr lang="zh-CN" altLang="en-US" dirty="0" smtClean="0"/>
              <a:t>使用</a:t>
            </a:r>
            <a:r>
              <a:rPr lang="en-US" altLang="zh-CN" dirty="0" err="1"/>
              <a:t>PubK</a:t>
            </a:r>
            <a:r>
              <a:rPr lang="en-US" altLang="zh-CN" baseline="-25000" dirty="0" err="1"/>
              <a:t>Bob</a:t>
            </a:r>
            <a:r>
              <a:rPr lang="zh-CN" altLang="en-US" dirty="0" smtClean="0"/>
              <a:t>对消息进行加密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该加密消息只有</a:t>
            </a:r>
            <a:r>
              <a:rPr lang="en-US" altLang="zh-CN" dirty="0" smtClean="0"/>
              <a:t>Bob</a:t>
            </a:r>
            <a:r>
              <a:rPr lang="zh-CN" altLang="en-US" dirty="0" smtClean="0"/>
              <a:t>能解密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1211975" y="2243126"/>
            <a:ext cx="2590800" cy="2138065"/>
            <a:chOff x="1211975" y="2243126"/>
            <a:chExt cx="2590800" cy="2138065"/>
          </a:xfrm>
        </p:grpSpPr>
        <p:sp>
          <p:nvSpPr>
            <p:cNvPr id="22" name="Text Box 5"/>
            <p:cNvSpPr txBox="1">
              <a:spLocks noChangeArrowheads="1"/>
            </p:cNvSpPr>
            <p:nvPr/>
          </p:nvSpPr>
          <p:spPr bwMode="auto">
            <a:xfrm>
              <a:off x="2080338" y="2243126"/>
              <a:ext cx="808037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Calibri" panose="020F0502020204030204" pitchFamily="34" charset="0"/>
                </a:rPr>
                <a:t>Alice</a:t>
              </a:r>
              <a:endParaRPr lang="en-US">
                <a:latin typeface="Calibri" panose="020F0502020204030204" pitchFamily="34" charset="0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2126375" y="2743189"/>
              <a:ext cx="762000" cy="914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Enc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1211975" y="3200389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endParaRPr lang="en-US">
                <a:latin typeface="Calibri" panose="020F0502020204030204" pitchFamily="34" charset="0"/>
              </a:endParaRPr>
            </a:p>
          </p:txBody>
        </p:sp>
        <p:sp>
          <p:nvSpPr>
            <p:cNvPr id="25" name="Text Box 8"/>
            <p:cNvSpPr txBox="1">
              <a:spLocks noChangeArrowheads="1"/>
            </p:cNvSpPr>
            <p:nvPr/>
          </p:nvSpPr>
          <p:spPr bwMode="auto">
            <a:xfrm>
              <a:off x="1378825" y="2722551"/>
              <a:ext cx="44275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m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3100853" y="2773351"/>
              <a:ext cx="31451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c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cxnSp>
          <p:nvCxnSpPr>
            <p:cNvPr id="32" name="Straight Arrow Connector 20"/>
            <p:cNvCxnSpPr>
              <a:cxnSpLocks noChangeShapeType="1"/>
              <a:endCxn id="23" idx="2"/>
            </p:cNvCxnSpPr>
            <p:nvPr/>
          </p:nvCxnSpPr>
          <p:spPr bwMode="auto">
            <a:xfrm rot="5400000" flipH="1" flipV="1">
              <a:off x="2337513" y="3825864"/>
              <a:ext cx="339725" cy="31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34" name="TextBox 18"/>
            <p:cNvSpPr txBox="1"/>
            <p:nvPr/>
          </p:nvSpPr>
          <p:spPr>
            <a:xfrm>
              <a:off x="1965905" y="3919526"/>
              <a:ext cx="1156086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 err="1" smtClean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</a:rPr>
                <a:t>PubK</a:t>
              </a:r>
              <a:r>
                <a:rPr lang="en-US" baseline="-25000" dirty="0" err="1" smtClean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</a:rPr>
                <a:t>Bob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36" name="Straight Arrow Connector 27"/>
            <p:cNvCxnSpPr>
              <a:cxnSpLocks noChangeShapeType="1"/>
            </p:cNvCxnSpPr>
            <p:nvPr/>
          </p:nvCxnSpPr>
          <p:spPr bwMode="auto">
            <a:xfrm>
              <a:off x="2888375" y="3233726"/>
              <a:ext cx="9144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</p:spPr>
        </p:cxnSp>
      </p:grpSp>
      <p:grpSp>
        <p:nvGrpSpPr>
          <p:cNvPr id="39" name="组合 38"/>
          <p:cNvGrpSpPr/>
          <p:nvPr/>
        </p:nvGrpSpPr>
        <p:grpSpPr>
          <a:xfrm>
            <a:off x="5631575" y="2265351"/>
            <a:ext cx="2254250" cy="2111078"/>
            <a:chOff x="5631575" y="2265351"/>
            <a:chExt cx="2254250" cy="2111078"/>
          </a:xfrm>
        </p:grpSpPr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6393575" y="2265351"/>
              <a:ext cx="696912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alibri" panose="020F0502020204030204" pitchFamily="34" charset="0"/>
                </a:rPr>
                <a:t>Bob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6361825" y="2765414"/>
              <a:ext cx="762000" cy="914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Dec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>
              <a:off x="5631575" y="3222614"/>
              <a:ext cx="730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endParaRPr lang="en-US">
                <a:latin typeface="Calibri" panose="020F0502020204030204" pitchFamily="34" charset="0"/>
              </a:endParaRP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5844053" y="2772685"/>
              <a:ext cx="31451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c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7322425" y="2752047"/>
              <a:ext cx="442750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 smtClean="0">
                  <a:latin typeface="Calibri" panose="020F0502020204030204" pitchFamily="34" charset="0"/>
                </a:rPr>
                <a:t>m</a:t>
              </a:r>
              <a:endParaRPr lang="en-US" dirty="0">
                <a:latin typeface="Calibri" panose="020F0502020204030204" pitchFamily="34" charset="0"/>
              </a:endParaRPr>
            </a:p>
          </p:txBody>
        </p:sp>
        <p:cxnSp>
          <p:nvCxnSpPr>
            <p:cNvPr id="33" name="Straight Arrow Connector 21"/>
            <p:cNvCxnSpPr>
              <a:cxnSpLocks noChangeShapeType="1"/>
            </p:cNvCxnSpPr>
            <p:nvPr/>
          </p:nvCxnSpPr>
          <p:spPr bwMode="auto">
            <a:xfrm rot="5400000" flipH="1" flipV="1">
              <a:off x="6606300" y="3859201"/>
              <a:ext cx="33813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35" name="TextBox 19"/>
            <p:cNvSpPr txBox="1"/>
            <p:nvPr/>
          </p:nvSpPr>
          <p:spPr>
            <a:xfrm>
              <a:off x="6221451" y="3914764"/>
              <a:ext cx="114967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 err="1" smtClean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</a:rPr>
                <a:t>PrivK</a:t>
              </a:r>
              <a:r>
                <a:rPr lang="en-US" baseline="-25000" dirty="0" err="1" smtClean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</a:rPr>
                <a:t>Bob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>
              <a:off x="7155575" y="3233726"/>
              <a:ext cx="730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" pitchFamily="18" charset="0"/>
                  <a:ea typeface="+mn-ea"/>
                  <a:cs typeface="+mn-cs"/>
                </a:defRPr>
              </a:lvl9pPr>
            </a:lstStyle>
            <a:p>
              <a:endParaRPr lang="en-US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91155" y="2911899"/>
            <a:ext cx="8952845" cy="2959250"/>
            <a:chOff x="191155" y="2911899"/>
            <a:chExt cx="8952845" cy="2959250"/>
          </a:xfrm>
        </p:grpSpPr>
        <p:sp>
          <p:nvSpPr>
            <p:cNvPr id="6" name="Rectangle 4"/>
            <p:cNvSpPr/>
            <p:nvPr/>
          </p:nvSpPr>
          <p:spPr bwMode="auto">
            <a:xfrm>
              <a:off x="7315200" y="3356549"/>
              <a:ext cx="1066800" cy="2514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7" name="Rectangle 5"/>
            <p:cNvSpPr/>
            <p:nvPr/>
          </p:nvSpPr>
          <p:spPr bwMode="auto">
            <a:xfrm>
              <a:off x="304800" y="3356549"/>
              <a:ext cx="990600" cy="2514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8" name="TextBox 6"/>
            <p:cNvSpPr txBox="1"/>
            <p:nvPr/>
          </p:nvSpPr>
          <p:spPr>
            <a:xfrm>
              <a:off x="7543800" y="3000365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CA</a:t>
              </a:r>
              <a:endParaRPr lang="en-US" sz="2000" dirty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191155" y="2919075"/>
              <a:ext cx="16738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Alice (</a:t>
              </a:r>
              <a:r>
                <a:rPr lang="zh-CN" altLang="en-US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浏览器</a:t>
              </a:r>
              <a:r>
                <a:rPr lang="en-US" altLang="zh-CN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)</a:t>
              </a:r>
              <a:endParaRPr lang="en-US" sz="2000" dirty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3" name="Rectangle 14"/>
            <p:cNvSpPr/>
            <p:nvPr/>
          </p:nvSpPr>
          <p:spPr bwMode="auto">
            <a:xfrm>
              <a:off x="8382000" y="4423349"/>
              <a:ext cx="762000" cy="457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latin typeface="Calibri" panose="020F0502020204030204" pitchFamily="34" charset="0"/>
                  <a:ea typeface="楷体" panose="02010609060101010101" pitchFamily="49" charset="-122"/>
                </a:rPr>
                <a:t>PrivK</a:t>
              </a:r>
              <a:r>
                <a:rPr kumimoji="0" lang="en-US" sz="1600" b="0" i="0" u="none" strike="noStrike" cap="none" normalizeH="0" baseline="-25000" dirty="0" err="1" smtClean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latin typeface="Calibri" panose="020F0502020204030204" pitchFamily="34" charset="0"/>
                  <a:ea typeface="楷体" panose="02010609060101010101" pitchFamily="49" charset="-122"/>
                </a:rPr>
                <a:t>CA</a:t>
              </a:r>
              <a:endPara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27" name="Rectangle 3"/>
            <p:cNvSpPr/>
            <p:nvPr/>
          </p:nvSpPr>
          <p:spPr bwMode="auto">
            <a:xfrm>
              <a:off x="2971800" y="3356549"/>
              <a:ext cx="1524000" cy="2514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29" name="TextBox 12"/>
            <p:cNvSpPr txBox="1"/>
            <p:nvPr/>
          </p:nvSpPr>
          <p:spPr>
            <a:xfrm>
              <a:off x="2997122" y="2911899"/>
              <a:ext cx="15776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Bob (</a:t>
              </a:r>
              <a:r>
                <a:rPr lang="zh-CN" altLang="en-US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服务器</a:t>
              </a:r>
              <a:r>
                <a:rPr lang="en-US" altLang="zh-CN" sz="2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)</a:t>
              </a:r>
              <a:endParaRPr lang="en-US" sz="2000" dirty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30" name="TextBox 33"/>
            <p:cNvSpPr txBox="1"/>
            <p:nvPr/>
          </p:nvSpPr>
          <p:spPr>
            <a:xfrm>
              <a:off x="346433" y="4480439"/>
              <a:ext cx="90108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PubK</a:t>
              </a:r>
              <a:r>
                <a:rPr lang="en-US" sz="2000" baseline="-25000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CA</a:t>
              </a:r>
              <a:endParaRPr lang="en-US" sz="2000" dirty="0" smtClean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32" name="TextBox 39"/>
            <p:cNvSpPr txBox="1"/>
            <p:nvPr/>
          </p:nvSpPr>
          <p:spPr>
            <a:xfrm>
              <a:off x="3288253" y="4499549"/>
              <a:ext cx="90108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PubK</a:t>
              </a:r>
              <a:r>
                <a:rPr lang="en-US" sz="2000" baseline="-25000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CA</a:t>
              </a:r>
              <a:endParaRPr lang="en-US" sz="2000" dirty="0" smtClean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公钥</a:t>
            </a:r>
            <a:r>
              <a:rPr lang="zh-CN" altLang="en-US" dirty="0" smtClean="0"/>
              <a:t>认证 </a:t>
            </a:r>
            <a:r>
              <a:rPr lang="en-US" altLang="zh-CN" dirty="0" smtClean="0"/>
              <a:t>(</a:t>
            </a:r>
            <a:r>
              <a:rPr lang="zh-CN" altLang="en-US" dirty="0" smtClean="0"/>
              <a:t>证书体系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Alice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如何获取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Bob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的公钥</a:t>
            </a:r>
            <a:r>
              <a:rPr lang="en-GB" altLang="zh-CN" dirty="0" smtClean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</a:rPr>
              <a:t>ub</a:t>
            </a:r>
            <a:r>
              <a:rPr lang="en-GB" altLang="zh-CN" dirty="0" err="1" smtClean="0">
                <a:solidFill>
                  <a:schemeClr val="accent1">
                    <a:lumMod val="75000"/>
                  </a:schemeClr>
                </a:solidFill>
              </a:rPr>
              <a:t>K</a:t>
            </a:r>
            <a:r>
              <a:rPr lang="en-GB" altLang="zh-CN" baseline="-25000" dirty="0" err="1" smtClean="0">
                <a:solidFill>
                  <a:schemeClr val="accent1">
                    <a:lumMod val="75000"/>
                  </a:schemeClr>
                </a:solidFill>
              </a:rPr>
              <a:t>Bob</a:t>
            </a:r>
            <a:endParaRPr lang="en-US" altLang="zh-CN" baseline="-25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CN" altLang="en-US" dirty="0" smtClean="0"/>
              <a:t>如何防止第三者伪造</a:t>
            </a:r>
            <a:r>
              <a:rPr lang="en-US" altLang="zh-CN" dirty="0" smtClean="0"/>
              <a:t>Bob</a:t>
            </a:r>
            <a:r>
              <a:rPr lang="zh-CN" altLang="en-US" dirty="0" smtClean="0"/>
              <a:t>的公钥？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grpSp>
        <p:nvGrpSpPr>
          <p:cNvPr id="9" name="Group 35"/>
          <p:cNvGrpSpPr/>
          <p:nvPr/>
        </p:nvGrpSpPr>
        <p:grpSpPr>
          <a:xfrm>
            <a:off x="4609587" y="3579667"/>
            <a:ext cx="2705613" cy="369332"/>
            <a:chOff x="4262351" y="3204443"/>
            <a:chExt cx="2769191" cy="369332"/>
          </a:xfrm>
        </p:grpSpPr>
        <p:cxnSp>
          <p:nvCxnSpPr>
            <p:cNvPr id="10" name="Straight Arrow Connector 9"/>
            <p:cNvCxnSpPr/>
            <p:nvPr/>
          </p:nvCxnSpPr>
          <p:spPr bwMode="auto">
            <a:xfrm>
              <a:off x="4275348" y="3559841"/>
              <a:ext cx="27432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4262351" y="3204443"/>
              <a:ext cx="27691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P</a:t>
              </a:r>
              <a:r>
                <a:rPr lang="en-US" altLang="zh-CN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ub</a:t>
              </a:r>
              <a:r>
                <a:rPr lang="en-US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K</a:t>
              </a:r>
              <a:r>
                <a:rPr lang="en-US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 and proof “I am Bob”</a:t>
              </a:r>
              <a:endParaRPr lang="en-US" dirty="0" smtClean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4" name="TextBox 18"/>
          <p:cNvSpPr txBox="1"/>
          <p:nvPr/>
        </p:nvSpPr>
        <p:spPr>
          <a:xfrm>
            <a:off x="7472156" y="4103559"/>
            <a:ext cx="782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check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pPr algn="ctr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proof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grpSp>
        <p:nvGrpSpPr>
          <p:cNvPr id="15" name="Group 36"/>
          <p:cNvGrpSpPr/>
          <p:nvPr/>
        </p:nvGrpSpPr>
        <p:grpSpPr>
          <a:xfrm>
            <a:off x="4530984" y="4804349"/>
            <a:ext cx="2819400" cy="1427750"/>
            <a:chOff x="4302384" y="4429125"/>
            <a:chExt cx="2819400" cy="1427750"/>
          </a:xfrm>
        </p:grpSpPr>
        <p:cxnSp>
          <p:nvCxnSpPr>
            <p:cNvPr id="16" name="Straight Arrow Connector 20"/>
            <p:cNvCxnSpPr/>
            <p:nvPr/>
          </p:nvCxnSpPr>
          <p:spPr bwMode="auto">
            <a:xfrm rot="10800000">
              <a:off x="4302384" y="4798011"/>
              <a:ext cx="28194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7" name="TextBox 21"/>
            <p:cNvSpPr txBox="1"/>
            <p:nvPr/>
          </p:nvSpPr>
          <p:spPr>
            <a:xfrm>
              <a:off x="4505662" y="4429125"/>
              <a:ext cx="2362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issue Cert with </a:t>
              </a:r>
              <a:r>
                <a:rPr lang="en-US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PrivK</a:t>
              </a:r>
              <a:r>
                <a:rPr lang="en-US" baseline="-25000" dirty="0" err="1" smtClean="0">
                  <a:latin typeface="Calibri" panose="020F0502020204030204" pitchFamily="34" charset="0"/>
                  <a:ea typeface="楷体" panose="02010609060101010101" pitchFamily="49" charset="-122"/>
                </a:rPr>
                <a:t>CA</a:t>
              </a:r>
              <a:r>
                <a:rPr lang="en-US" baseline="-25000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 </a:t>
              </a:r>
              <a:r>
                <a:rPr lang="en-US" dirty="0" smtClean="0">
                  <a:latin typeface="Calibri" panose="020F0502020204030204" pitchFamily="34" charset="0"/>
                  <a:ea typeface="楷体" panose="02010609060101010101" pitchFamily="49" charset="-122"/>
                </a:rPr>
                <a:t>:</a:t>
              </a:r>
              <a:endParaRPr lang="en-US" dirty="0" smtClean="0">
                <a:latin typeface="Calibri" panose="020F0502020204030204" pitchFamily="34" charset="0"/>
                <a:ea typeface="楷体" panose="02010609060101010101" pitchFamily="49" charset="-122"/>
              </a:endParaRPr>
            </a:p>
          </p:txBody>
        </p:sp>
        <p:grpSp>
          <p:nvGrpSpPr>
            <p:cNvPr id="18" name="Group 25"/>
            <p:cNvGrpSpPr/>
            <p:nvPr/>
          </p:nvGrpSpPr>
          <p:grpSpPr>
            <a:xfrm>
              <a:off x="4762947" y="4875800"/>
              <a:ext cx="1752600" cy="981075"/>
              <a:chOff x="4762947" y="4682645"/>
              <a:chExt cx="1752600" cy="981075"/>
            </a:xfrm>
          </p:grpSpPr>
          <p:pic>
            <p:nvPicPr>
              <p:cNvPr id="19" name="Picture 1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4762947" y="4682645"/>
                <a:ext cx="1752600" cy="981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0" name="TextBox 24"/>
              <p:cNvSpPr txBox="1"/>
              <p:nvPr/>
            </p:nvSpPr>
            <p:spPr>
              <a:xfrm>
                <a:off x="5046231" y="4758845"/>
                <a:ext cx="138396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Bob’s </a:t>
                </a:r>
                <a:b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</a:br>
                <a: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key is </a:t>
                </a:r>
                <a:r>
                  <a:rPr lang="en-US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P</a:t>
                </a:r>
                <a:r>
                  <a:rPr lang="en-US" altLang="zh-CN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ub</a:t>
                </a:r>
                <a:r>
                  <a:rPr lang="en-US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K</a:t>
                </a:r>
                <a:endParaRPr lang="en-US" sz="2000" b="1" dirty="0" smtClean="0">
                  <a:latin typeface="Calibri" panose="020F0502020204030204" pitchFamily="34" charset="0"/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21" name="Group 37"/>
          <p:cNvGrpSpPr/>
          <p:nvPr/>
        </p:nvGrpSpPr>
        <p:grpSpPr>
          <a:xfrm>
            <a:off x="1295400" y="5135148"/>
            <a:ext cx="1783830" cy="1057275"/>
            <a:chOff x="1066800" y="4759924"/>
            <a:chExt cx="1783830" cy="1057275"/>
          </a:xfrm>
        </p:grpSpPr>
        <p:cxnSp>
          <p:nvCxnSpPr>
            <p:cNvPr id="22" name="Straight Arrow Connector 27"/>
            <p:cNvCxnSpPr/>
            <p:nvPr/>
          </p:nvCxnSpPr>
          <p:spPr bwMode="auto">
            <a:xfrm rot="10800000">
              <a:off x="1295400" y="5623405"/>
              <a:ext cx="15240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grpSp>
          <p:nvGrpSpPr>
            <p:cNvPr id="23" name="Group 28"/>
            <p:cNvGrpSpPr/>
            <p:nvPr/>
          </p:nvGrpSpPr>
          <p:grpSpPr>
            <a:xfrm>
              <a:off x="1098030" y="4836124"/>
              <a:ext cx="1752600" cy="981075"/>
              <a:chOff x="5257800" y="4327644"/>
              <a:chExt cx="1752600" cy="981075"/>
            </a:xfrm>
          </p:grpSpPr>
          <p:pic>
            <p:nvPicPr>
              <p:cNvPr id="25" name="Picture 1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5257800" y="4327644"/>
                <a:ext cx="1752600" cy="981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6" name="TextBox 30"/>
              <p:cNvSpPr txBox="1"/>
              <p:nvPr/>
            </p:nvSpPr>
            <p:spPr>
              <a:xfrm>
                <a:off x="5562600" y="4425360"/>
                <a:ext cx="138396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Bob’s </a:t>
                </a:r>
                <a:b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</a:br>
                <a:r>
                  <a:rPr lang="en-US" sz="2000" b="1" dirty="0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key is </a:t>
                </a:r>
                <a:r>
                  <a:rPr lang="en-US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P</a:t>
                </a:r>
                <a:r>
                  <a:rPr lang="en-US" altLang="zh-CN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ub</a:t>
                </a:r>
                <a:r>
                  <a:rPr lang="en-US" sz="2000" b="1" dirty="0" err="1" smtClean="0">
                    <a:latin typeface="Calibri" panose="020F0502020204030204" pitchFamily="34" charset="0"/>
                    <a:ea typeface="楷体" panose="02010609060101010101" pitchFamily="49" charset="-122"/>
                  </a:rPr>
                  <a:t>K</a:t>
                </a:r>
                <a:endParaRPr lang="en-US" sz="2000" b="1" dirty="0" smtClean="0">
                  <a:latin typeface="Calibri" panose="020F0502020204030204" pitchFamily="34" charset="0"/>
                  <a:ea typeface="楷体" panose="02010609060101010101" pitchFamily="49" charset="-122"/>
                </a:endParaRPr>
              </a:p>
            </p:txBody>
          </p:sp>
        </p:grpSp>
        <p:cxnSp>
          <p:nvCxnSpPr>
            <p:cNvPr id="24" name="Straight Arrow Connector 32"/>
            <p:cNvCxnSpPr/>
            <p:nvPr/>
          </p:nvCxnSpPr>
          <p:spPr bwMode="auto">
            <a:xfrm rot="10800000">
              <a:off x="1066800" y="4759924"/>
              <a:ext cx="16764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8" name="TextBox 7"/>
          <p:cNvSpPr txBox="1"/>
          <p:nvPr/>
        </p:nvSpPr>
        <p:spPr>
          <a:xfrm>
            <a:off x="2930558" y="3425308"/>
            <a:ext cx="1689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ea typeface="楷体" panose="02010609060101010101" pitchFamily="49" charset="-122"/>
              </a:rPr>
              <a:t>choose</a:t>
            </a:r>
            <a:endParaRPr lang="en-US" sz="2000" dirty="0" smtClean="0"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r>
              <a:rPr lang="en-US" sz="2000" dirty="0" smtClean="0">
                <a:latin typeface="Calibri" panose="020F0502020204030204" pitchFamily="34" charset="0"/>
                <a:ea typeface="楷体" panose="02010609060101010101" pitchFamily="49" charset="-122"/>
              </a:rPr>
              <a:t>   (</a:t>
            </a:r>
            <a:r>
              <a:rPr lang="en-US" altLang="zh-CN" sz="2000" dirty="0" err="1" smtClean="0">
                <a:latin typeface="Calibri" panose="020F0502020204030204" pitchFamily="34" charset="0"/>
                <a:ea typeface="楷体" panose="02010609060101010101" pitchFamily="49" charset="-122"/>
              </a:rPr>
              <a:t>Priv</a:t>
            </a:r>
            <a:r>
              <a:rPr lang="en-US" sz="2000" dirty="0" err="1" smtClean="0">
                <a:latin typeface="Calibri" panose="020F0502020204030204" pitchFamily="34" charset="0"/>
                <a:ea typeface="楷体" panose="02010609060101010101" pitchFamily="49" charset="-122"/>
              </a:rPr>
              <a:t>K,PubK</a:t>
            </a:r>
            <a:r>
              <a:rPr lang="en-US" dirty="0" smtClean="0">
                <a:latin typeface="Calibri" panose="020F0502020204030204" pitchFamily="34" charset="0"/>
                <a:ea typeface="楷体" panose="02010609060101010101" pitchFamily="49" charset="-122"/>
              </a:rPr>
              <a:t>) </a:t>
            </a:r>
            <a:endParaRPr lang="en-US" dirty="0" smtClean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31" name="TextBox 34"/>
          <p:cNvSpPr txBox="1"/>
          <p:nvPr/>
        </p:nvSpPr>
        <p:spPr>
          <a:xfrm>
            <a:off x="399738" y="5163263"/>
            <a:ext cx="797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verify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pPr algn="ctr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Cert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8" grpId="0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SSL/TLS</a:t>
            </a:r>
            <a:r>
              <a:rPr lang="zh-CN" altLang="en-US" dirty="0" smtClean="0"/>
              <a:t>概览</a:t>
            </a:r>
            <a:endParaRPr lang="zh-CN" altLang="en-US" dirty="0"/>
          </a:p>
        </p:txBody>
      </p:sp>
      <p:sp>
        <p:nvSpPr>
          <p:cNvPr id="6" name="Rectangle 3"/>
          <p:cNvSpPr/>
          <p:nvPr/>
        </p:nvSpPr>
        <p:spPr bwMode="auto">
          <a:xfrm>
            <a:off x="685800" y="2095949"/>
            <a:ext cx="1143000" cy="403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822960" y="1730189"/>
            <a:ext cx="1038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</a:rPr>
              <a:t>browser</a:t>
            </a:r>
            <a:endParaRPr lang="en-US" sz="2000" dirty="0" smtClean="0">
              <a:latin typeface="Calibri" panose="020F0502020204030204" pitchFamily="34" charset="0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028401" y="1714949"/>
            <a:ext cx="836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</a:rPr>
              <a:t>server</a:t>
            </a:r>
            <a:endParaRPr lang="en-US" sz="2000" dirty="0" smtClean="0">
              <a:latin typeface="Calibri" panose="020F0502020204030204" pitchFamily="34" charset="0"/>
            </a:endParaRPr>
          </a:p>
        </p:txBody>
      </p:sp>
      <p:sp>
        <p:nvSpPr>
          <p:cNvPr id="9" name="Rectangle 7"/>
          <p:cNvSpPr/>
          <p:nvPr/>
        </p:nvSpPr>
        <p:spPr bwMode="auto">
          <a:xfrm>
            <a:off x="8153400" y="2781749"/>
            <a:ext cx="762000" cy="457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 err="1" smtClean="0">
                <a:latin typeface="Calibri" panose="020F0502020204030204" pitchFamily="34" charset="0"/>
              </a:rPr>
              <a:t>Priv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effectLst/>
                <a:latin typeface="Calibri" panose="020F0502020204030204" pitchFamily="34" charset="0"/>
              </a:rPr>
              <a:t>K</a:t>
            </a:r>
            <a:endParaRPr kumimoji="0" lang="en-US" sz="2000" b="0" i="0" u="none" strike="noStrike" cap="none" normalizeH="0" dirty="0" smtClean="0">
              <a:ln>
                <a:noFill/>
              </a:ln>
              <a:effectLst/>
              <a:latin typeface="Calibri" panose="020F0502020204030204" pitchFamily="34" charset="0"/>
            </a:endParaRPr>
          </a:p>
        </p:txBody>
      </p:sp>
      <p:grpSp>
        <p:nvGrpSpPr>
          <p:cNvPr id="10" name="Group 31"/>
          <p:cNvGrpSpPr/>
          <p:nvPr/>
        </p:nvGrpSpPr>
        <p:grpSpPr>
          <a:xfrm>
            <a:off x="1828800" y="2034989"/>
            <a:ext cx="5181600" cy="400110"/>
            <a:chOff x="1828800" y="1615440"/>
            <a:chExt cx="5181600" cy="400110"/>
          </a:xfrm>
        </p:grpSpPr>
        <p:cxnSp>
          <p:nvCxnSpPr>
            <p:cNvPr id="11" name="Straight Arrow Connector 9"/>
            <p:cNvCxnSpPr/>
            <p:nvPr/>
          </p:nvCxnSpPr>
          <p:spPr bwMode="auto">
            <a:xfrm>
              <a:off x="1828800" y="1981200"/>
              <a:ext cx="51816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0"/>
            <p:cNvSpPr txBox="1"/>
            <p:nvPr/>
          </p:nvSpPr>
          <p:spPr>
            <a:xfrm>
              <a:off x="3657600" y="1615440"/>
              <a:ext cx="13540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</a:rPr>
                <a:t>client-hello</a:t>
              </a:r>
              <a:endParaRPr lang="en-US" sz="2000" dirty="0" smtClean="0">
                <a:latin typeface="Calibri" panose="020F0502020204030204" pitchFamily="34" charset="0"/>
              </a:endParaRPr>
            </a:p>
          </p:txBody>
        </p:sp>
      </p:grpSp>
      <p:grpSp>
        <p:nvGrpSpPr>
          <p:cNvPr id="13" name="Group 32"/>
          <p:cNvGrpSpPr/>
          <p:nvPr/>
        </p:nvGrpSpPr>
        <p:grpSpPr>
          <a:xfrm>
            <a:off x="1828800" y="2655364"/>
            <a:ext cx="5181600" cy="400110"/>
            <a:chOff x="1828800" y="2235815"/>
            <a:chExt cx="5181600" cy="400110"/>
          </a:xfrm>
        </p:grpSpPr>
        <p:cxnSp>
          <p:nvCxnSpPr>
            <p:cNvPr id="14" name="Straight Arrow Connector 12"/>
            <p:cNvCxnSpPr/>
            <p:nvPr/>
          </p:nvCxnSpPr>
          <p:spPr bwMode="auto">
            <a:xfrm rot="10800000">
              <a:off x="1828800" y="2590800"/>
              <a:ext cx="51816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5" name="TextBox 13"/>
            <p:cNvSpPr txBox="1"/>
            <p:nvPr/>
          </p:nvSpPr>
          <p:spPr>
            <a:xfrm>
              <a:off x="2639208" y="2235815"/>
              <a:ext cx="37478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</a:rPr>
                <a:t>server-hello   +   server-cert (</a:t>
              </a:r>
              <a:r>
                <a:rPr lang="en-US" sz="1800" dirty="0" err="1" smtClean="0">
                  <a:latin typeface="Calibri" panose="020F0502020204030204" pitchFamily="34" charset="0"/>
                </a:rPr>
                <a:t>PubK</a:t>
              </a:r>
              <a:r>
                <a:rPr lang="en-US" sz="2000" dirty="0" smtClean="0">
                  <a:latin typeface="Calibri" panose="020F0502020204030204" pitchFamily="34" charset="0"/>
                </a:rPr>
                <a:t>)</a:t>
              </a:r>
              <a:endParaRPr lang="en-US" sz="2000" dirty="0" smtClean="0">
                <a:latin typeface="Calibri" panose="020F0502020204030204" pitchFamily="34" charset="0"/>
              </a:endParaRPr>
            </a:p>
          </p:txBody>
        </p:sp>
      </p:grpSp>
      <p:grpSp>
        <p:nvGrpSpPr>
          <p:cNvPr id="16" name="Group 33"/>
          <p:cNvGrpSpPr/>
          <p:nvPr/>
        </p:nvGrpSpPr>
        <p:grpSpPr>
          <a:xfrm>
            <a:off x="1828800" y="3463084"/>
            <a:ext cx="5181600" cy="1295400"/>
            <a:chOff x="1828800" y="3043535"/>
            <a:chExt cx="5181600" cy="1295400"/>
          </a:xfrm>
        </p:grpSpPr>
        <p:sp>
          <p:nvSpPr>
            <p:cNvPr id="17" name="Rounded Rectangle 20"/>
            <p:cNvSpPr/>
            <p:nvPr/>
          </p:nvSpPr>
          <p:spPr bwMode="auto">
            <a:xfrm>
              <a:off x="1828800" y="3043535"/>
              <a:ext cx="5181600" cy="1295400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0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endParaRPr>
            </a:p>
          </p:txBody>
        </p:sp>
        <p:sp>
          <p:nvSpPr>
            <p:cNvPr id="18" name="TextBox 21"/>
            <p:cNvSpPr txBox="1"/>
            <p:nvPr/>
          </p:nvSpPr>
          <p:spPr>
            <a:xfrm>
              <a:off x="3295426" y="3043535"/>
              <a:ext cx="15704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0070C0"/>
                  </a:solidFill>
                  <a:latin typeface="Calibri" panose="020F0502020204030204" pitchFamily="34" charset="0"/>
                </a:rPr>
                <a:t>Key exchange</a:t>
              </a:r>
              <a:endParaRPr lang="en-US" sz="2000" dirty="0" smtClean="0">
                <a:solidFill>
                  <a:srgbClr val="0070C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9" name="Rectangle 4"/>
          <p:cNvSpPr/>
          <p:nvPr/>
        </p:nvSpPr>
        <p:spPr bwMode="auto">
          <a:xfrm>
            <a:off x="7010400" y="2073539"/>
            <a:ext cx="1143000" cy="403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20" name="Group 35"/>
          <p:cNvGrpSpPr/>
          <p:nvPr/>
        </p:nvGrpSpPr>
        <p:grpSpPr>
          <a:xfrm>
            <a:off x="1828800" y="4915349"/>
            <a:ext cx="5181600" cy="400110"/>
            <a:chOff x="1828800" y="4495800"/>
            <a:chExt cx="5181600" cy="400110"/>
          </a:xfrm>
        </p:grpSpPr>
        <p:cxnSp>
          <p:nvCxnSpPr>
            <p:cNvPr id="21" name="Straight Arrow Connector 24"/>
            <p:cNvCxnSpPr/>
            <p:nvPr/>
          </p:nvCxnSpPr>
          <p:spPr bwMode="auto">
            <a:xfrm>
              <a:off x="1828800" y="4876800"/>
              <a:ext cx="51816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22" name="TextBox 25"/>
            <p:cNvSpPr txBox="1"/>
            <p:nvPr/>
          </p:nvSpPr>
          <p:spPr>
            <a:xfrm>
              <a:off x="3581400" y="4495800"/>
              <a:ext cx="1055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</a:rPr>
                <a:t>Finished</a:t>
              </a:r>
              <a:endParaRPr lang="en-US" sz="2000" dirty="0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23" name="Rectangle 26"/>
          <p:cNvSpPr/>
          <p:nvPr/>
        </p:nvSpPr>
        <p:spPr bwMode="auto">
          <a:xfrm>
            <a:off x="8153400" y="2248349"/>
            <a:ext cx="7620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cert</a:t>
            </a:r>
            <a:endParaRPr kumimoji="0" lang="en-US" sz="24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24" name="Group 34"/>
          <p:cNvGrpSpPr/>
          <p:nvPr/>
        </p:nvGrpSpPr>
        <p:grpSpPr>
          <a:xfrm>
            <a:off x="685799" y="3687219"/>
            <a:ext cx="6844553" cy="983397"/>
            <a:chOff x="685800" y="3267670"/>
            <a:chExt cx="6842062" cy="983397"/>
          </a:xfrm>
        </p:grpSpPr>
        <p:cxnSp>
          <p:nvCxnSpPr>
            <p:cNvPr id="25" name="Straight Arrow Connector 17"/>
            <p:cNvCxnSpPr/>
            <p:nvPr/>
          </p:nvCxnSpPr>
          <p:spPr bwMode="auto">
            <a:xfrm>
              <a:off x="1828800" y="4075390"/>
              <a:ext cx="51816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Box 19"/>
            <p:cNvSpPr txBox="1"/>
            <p:nvPr/>
          </p:nvSpPr>
          <p:spPr>
            <a:xfrm>
              <a:off x="2546427" y="3724870"/>
              <a:ext cx="38443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</a:rPr>
                <a:t> client-key-exchange:   </a:t>
              </a:r>
              <a:r>
                <a:rPr lang="en-US" dirty="0" err="1" smtClean="0">
                  <a:latin typeface="Calibri" panose="020F0502020204030204" pitchFamily="34" charset="0"/>
                </a:rPr>
                <a:t>Enc</a:t>
              </a:r>
              <a:r>
                <a:rPr lang="en-US" dirty="0" smtClean="0">
                  <a:latin typeface="Calibri" panose="020F0502020204030204" pitchFamily="34" charset="0"/>
                </a:rPr>
                <a:t>(</a:t>
              </a:r>
              <a:r>
                <a:rPr lang="en-US" dirty="0" err="1" smtClean="0">
                  <a:latin typeface="Calibri" panose="020F0502020204030204" pitchFamily="34" charset="0"/>
                </a:rPr>
                <a:t>PubK</a:t>
              </a:r>
              <a:r>
                <a:rPr lang="en-US" dirty="0" smtClean="0">
                  <a:latin typeface="Calibri" panose="020F0502020204030204" pitchFamily="34" charset="0"/>
                </a:rPr>
                <a:t>, k)</a:t>
              </a:r>
              <a:endParaRPr lang="en-US" sz="2000" dirty="0" smtClean="0">
                <a:latin typeface="Calibri" panose="020F0502020204030204" pitchFamily="34" charset="0"/>
              </a:endParaRPr>
            </a:p>
          </p:txBody>
        </p:sp>
        <p:sp>
          <p:nvSpPr>
            <p:cNvPr id="27" name="TextBox 22"/>
            <p:cNvSpPr txBox="1"/>
            <p:nvPr/>
          </p:nvSpPr>
          <p:spPr>
            <a:xfrm>
              <a:off x="685800" y="326767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alibri" panose="020F0502020204030204" pitchFamily="34" charset="0"/>
                </a:rPr>
                <a:t>rand. k</a:t>
              </a:r>
              <a:endParaRPr lang="en-US" dirty="0" smtClean="0">
                <a:latin typeface="Calibri" panose="020F050202020403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39000" y="3881735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 panose="020F0502020204030204" pitchFamily="34" charset="0"/>
                </a:rPr>
                <a:t>k</a:t>
              </a:r>
              <a:endParaRPr lang="en-US" dirty="0" smtClean="0">
                <a:latin typeface="Calibri" panose="020F0502020204030204" pitchFamily="34" charset="0"/>
              </a:endParaRPr>
            </a:p>
          </p:txBody>
        </p:sp>
      </p:grpSp>
      <p:grpSp>
        <p:nvGrpSpPr>
          <p:cNvPr id="29" name="Group 36"/>
          <p:cNvGrpSpPr/>
          <p:nvPr/>
        </p:nvGrpSpPr>
        <p:grpSpPr>
          <a:xfrm>
            <a:off x="1828800" y="5596684"/>
            <a:ext cx="5181600" cy="400110"/>
            <a:chOff x="1828800" y="5177135"/>
            <a:chExt cx="5181600" cy="400110"/>
          </a:xfrm>
        </p:grpSpPr>
        <p:cxnSp>
          <p:nvCxnSpPr>
            <p:cNvPr id="30" name="Straight Arrow Connector 29"/>
            <p:cNvCxnSpPr/>
            <p:nvPr/>
          </p:nvCxnSpPr>
          <p:spPr bwMode="auto">
            <a:xfrm>
              <a:off x="1828800" y="5562600"/>
              <a:ext cx="51816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1" name="TextBox 30"/>
            <p:cNvSpPr txBox="1"/>
            <p:nvPr/>
          </p:nvSpPr>
          <p:spPr>
            <a:xfrm>
              <a:off x="2373544" y="5177135"/>
              <a:ext cx="3492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alibri" panose="020F0502020204030204" pitchFamily="34" charset="0"/>
                </a:rPr>
                <a:t>HTTP data encrypted with Key k</a:t>
              </a:r>
              <a:endParaRPr lang="en-US" sz="2000" dirty="0" smtClean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生成自签名证书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310" y="1445260"/>
            <a:ext cx="8814435" cy="5034915"/>
          </a:xfrm>
        </p:spPr>
        <p:txBody>
          <a:bodyPr/>
          <a:p>
            <a:pPr marL="0" indent="0">
              <a:buNone/>
            </a:pPr>
            <a:r>
              <a:rPr lang="zh-CN" altLang="en-US"/>
              <a:t># generate private key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openssl genpkey -algorithm RSA -pkeyopt rsa_keygen_bits:2048 </a:t>
            </a:r>
            <a:r>
              <a:rPr lang="en-US" altLang="zh-CN"/>
              <a:t>\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-out </a:t>
            </a:r>
            <a:r>
              <a:rPr lang="en-US" altLang="zh-CN"/>
              <a:t>cnlab</a:t>
            </a:r>
            <a:r>
              <a:rPr lang="zh-CN" altLang="en-US"/>
              <a:t>.</a:t>
            </a:r>
            <a:r>
              <a:rPr lang="en-US" altLang="zh-CN"/>
              <a:t>pri</a:t>
            </a:r>
            <a:r>
              <a:rPr lang="zh-CN" altLang="en-US"/>
              <a:t>key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# generate self-signed certificate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openssl req -new -key cnlab.prikey -out cnlab.csr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openssl x509 -req -days 36500 -in cnlab.csr -signkey cnlab.prikey </a:t>
            </a:r>
            <a:r>
              <a:rPr lang="en-US" altLang="zh-CN"/>
              <a:t>\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-out cnlab.cert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查看证书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openssl x509 -in cnlab.cert -text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975" y="2186305"/>
            <a:ext cx="5440045" cy="42157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使用公钥</a:t>
            </a:r>
            <a:r>
              <a:rPr lang="en-US" altLang="zh-CN"/>
              <a:t>/</a:t>
            </a:r>
            <a:r>
              <a:rPr lang="zh-CN" altLang="en-US"/>
              <a:t>私钥进行加</a:t>
            </a:r>
            <a:r>
              <a:rPr lang="en-US" altLang="zh-CN"/>
              <a:t>/</a:t>
            </a:r>
            <a:r>
              <a:rPr lang="zh-CN" altLang="en-US"/>
              <a:t>解密数据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510" y="1445260"/>
            <a:ext cx="8685530" cy="5034915"/>
          </a:xfrm>
        </p:spPr>
        <p:txBody>
          <a:bodyPr/>
          <a:p>
            <a:pPr marL="0" indent="0" algn="l">
              <a:buNone/>
            </a:pPr>
            <a:r>
              <a:rPr lang="zh-CN" altLang="en-US" sz="2000"/>
              <a:t># extract pubkey from certificate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openssl x509 -pubkey -noout -in cnlab.cert &gt; cnlab.pubkey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# or from prikey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openssl rsa -in cnlab.prikey -pubout &gt; new-cnlab.pubkey</a:t>
            </a:r>
            <a:endParaRPr lang="zh-CN" altLang="en-US" sz="2000"/>
          </a:p>
          <a:p>
            <a:pPr marL="0" indent="0" algn="l">
              <a:buNone/>
            </a:pP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# encrypt secret.txt (data less than 200 bytes)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openssl </a:t>
            </a:r>
            <a:r>
              <a:rPr lang="en-US" altLang="zh-CN" sz="2000"/>
              <a:t>pkey</a:t>
            </a:r>
            <a:r>
              <a:rPr lang="zh-CN" altLang="en-US" sz="2000"/>
              <a:t>utl -encrypt -inkey cnlab.pubkey -pubin -in secret.txt -out secret.enc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# decrypt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openssl </a:t>
            </a:r>
            <a:r>
              <a:rPr lang="en-US" altLang="zh-CN" sz="2000"/>
              <a:t>pkey</a:t>
            </a:r>
            <a:r>
              <a:rPr lang="zh-CN" altLang="en-US" sz="2000"/>
              <a:t>utl -decrypt -inkey cnlab.prikey -in secret.enc -out new_secret.txt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# diff</a:t>
            </a:r>
            <a:endParaRPr lang="zh-CN" altLang="en-US" sz="2000"/>
          </a:p>
          <a:p>
            <a:pPr marL="0" indent="0" algn="l">
              <a:buNone/>
            </a:pPr>
            <a:r>
              <a:rPr lang="zh-CN" altLang="en-US" sz="2000"/>
              <a:t>md5sum secret.txt new_secret.txt</a:t>
            </a:r>
            <a:endParaRPr lang="zh-CN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Socket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663982"/>
          </a:xfrm>
        </p:spPr>
        <p:txBody>
          <a:bodyPr/>
          <a:lstStyle/>
          <a:p>
            <a:r>
              <a:rPr lang="en-US" altLang="zh-CN" dirty="0"/>
              <a:t>BSD Socket API</a:t>
            </a:r>
            <a:endParaRPr lang="en-US" altLang="zh-CN" dirty="0"/>
          </a:p>
          <a:p>
            <a:pPr lvl="1"/>
            <a:r>
              <a:rPr lang="zh-CN" altLang="en-US" dirty="0"/>
              <a:t>不是为每个应用程序定义接口，而是提供最基本的通信功能</a:t>
            </a:r>
            <a:endParaRPr lang="en-US" altLang="zh-CN" dirty="0"/>
          </a:p>
          <a:p>
            <a:pPr lvl="1"/>
            <a:r>
              <a:rPr lang="zh-CN" altLang="en-US" dirty="0"/>
              <a:t>对上层提供统一的调用接口，支持丰富的上层应用开发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49277" y="3144727"/>
          <a:ext cx="5314314" cy="3560874"/>
        </p:xfrm>
        <a:graphic>
          <a:graphicData uri="http://schemas.openxmlformats.org/drawingml/2006/table">
            <a:tbl>
              <a:tblPr/>
              <a:tblGrid>
                <a:gridCol w="5314314"/>
              </a:tblGrid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BSD Socket API</a:t>
                      </a:r>
                      <a:endParaRPr lang="en-US" sz="1800" b="0" i="0" u="none" strike="noStrike" dirty="0">
                        <a:solidFill>
                          <a:srgbClr val="9C65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781915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socket(domain, type, proto);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close(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sockfd</a:t>
                      </a:r>
                      <a:r>
                        <a:rPr lang="en-US" altLang="zh-CN" sz="1600" u="none" strike="noStrike" dirty="0">
                          <a:effectLst/>
                        </a:rPr>
                        <a:t>);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altLang="zh-CN" sz="1600" u="none" strike="noStrike" dirty="0">
                          <a:effectLst/>
                        </a:rPr>
                        <a:t>bind(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sockfd</a:t>
                      </a:r>
                      <a:r>
                        <a:rPr lang="en-US" altLang="zh-CN" sz="1600" u="none" strike="noStrike" dirty="0">
                          <a:effectLst/>
                        </a:rPr>
                        <a:t>, 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addr</a:t>
                      </a:r>
                      <a:r>
                        <a:rPr lang="en-US" altLang="zh-CN" sz="1600" u="none" strike="noStrike" dirty="0">
                          <a:effectLst/>
                        </a:rPr>
                        <a:t>, 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addrlen</a:t>
                      </a:r>
                      <a:r>
                        <a:rPr lang="en-US" altLang="zh-CN" sz="1600" u="none" strike="noStrike" dirty="0">
                          <a:effectLst/>
                        </a:rPr>
                        <a:t>);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tagram (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/>
                          <a:ea typeface="+mn-ea"/>
                          <a:cs typeface="+mn-cs"/>
                        </a:rPr>
                        <a:t>Connectionless)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524627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sendto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flags, </a:t>
                      </a:r>
                      <a:r>
                        <a:rPr lang="en-US" sz="1600" u="none" strike="noStrike" dirty="0" err="1">
                          <a:effectLst/>
                        </a:rPr>
                        <a:t>dest_addr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recvfrom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flags, </a:t>
                      </a:r>
                      <a:r>
                        <a:rPr lang="en-US" sz="1600" u="none" strike="noStrike" dirty="0" err="1">
                          <a:effectLst/>
                        </a:rPr>
                        <a:t>src_addr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3418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 (Connection-oriented)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039203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263525" algn="l" fontAlgn="b"/>
                      <a:r>
                        <a:rPr lang="sv-SE" sz="1600" u="none" strike="noStrike" dirty="0">
                          <a:effectLst/>
                        </a:rPr>
                        <a:t>listen(sockfd, backlog);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accept(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connect(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addrlen</a:t>
                      </a:r>
                      <a:r>
                        <a:rPr lang="en-US" sz="1600" u="none" strike="noStrike" dirty="0">
                          <a:effectLst/>
                        </a:rPr>
                        <a:t>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>
                          <a:effectLst/>
                        </a:rPr>
                        <a:t>send(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flags);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marL="0" indent="263525" algn="l" fontAlgn="b"/>
                      <a:r>
                        <a:rPr lang="en-US" sz="1600" u="none" strike="noStrike" dirty="0" err="1">
                          <a:effectLst/>
                        </a:rPr>
                        <a:t>recv</a:t>
                      </a: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</a:rPr>
                        <a:t>sockfd</a:t>
                      </a:r>
                      <a:r>
                        <a:rPr lang="en-US" sz="1600" u="none" strike="noStrike" dirty="0">
                          <a:effectLst/>
                        </a:rPr>
                        <a:t>, &amp;</a:t>
                      </a:r>
                      <a:r>
                        <a:rPr lang="en-US" sz="1600" u="none" strike="noStrike" dirty="0" err="1">
                          <a:effectLst/>
                        </a:rPr>
                        <a:t>buf</a:t>
                      </a:r>
                      <a:r>
                        <a:rPr lang="en-US" sz="1600" u="none" strike="noStrike" dirty="0">
                          <a:effectLst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</a:rPr>
                        <a:t>len</a:t>
                      </a:r>
                      <a:r>
                        <a:rPr lang="en-US" sz="1600" u="none" strike="noStrike" dirty="0">
                          <a:effectLst/>
                        </a:rPr>
                        <a:t>, flags);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Socket</a:t>
            </a:r>
            <a:r>
              <a:rPr lang="zh-CN" altLang="en-US" dirty="0"/>
              <a:t>调用流程</a:t>
            </a:r>
            <a:endParaRPr lang="zh-CN" altLang="en-US" dirty="0"/>
          </a:p>
        </p:txBody>
      </p:sp>
      <p:grpSp>
        <p:nvGrpSpPr>
          <p:cNvPr id="5" name="Group 65"/>
          <p:cNvGrpSpPr/>
          <p:nvPr/>
        </p:nvGrpSpPr>
        <p:grpSpPr>
          <a:xfrm>
            <a:off x="838200" y="1470757"/>
            <a:ext cx="7467600" cy="5078313"/>
            <a:chOff x="762000" y="1447800"/>
            <a:chExt cx="7467600" cy="5078313"/>
          </a:xfrm>
        </p:grpSpPr>
        <p:sp>
          <p:nvSpPr>
            <p:cNvPr id="6" name="TextBox 16"/>
            <p:cNvSpPr txBox="1"/>
            <p:nvPr/>
          </p:nvSpPr>
          <p:spPr>
            <a:xfrm>
              <a:off x="4724400" y="1447800"/>
              <a:ext cx="3505200" cy="50783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  <a:cs typeface="Courier New" panose="02070309020205020404" pitchFamily="49" charset="0"/>
                </a:rPr>
                <a:t>Passive</a:t>
              </a:r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</p:txBody>
        </p:sp>
        <p:sp>
          <p:nvSpPr>
            <p:cNvPr id="7" name="TextBox 15"/>
            <p:cNvSpPr txBox="1"/>
            <p:nvPr/>
          </p:nvSpPr>
          <p:spPr>
            <a:xfrm>
              <a:off x="762000" y="1447800"/>
              <a:ext cx="3352800" cy="50783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  <a:cs typeface="Courier New" panose="02070309020205020404" pitchFamily="49" charset="0"/>
                </a:rPr>
                <a:t>Active</a:t>
              </a:r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  <a:p>
              <a:endParaRPr lang="en-US" dirty="0">
                <a:latin typeface="+mj-lt"/>
                <a:cs typeface="Courier New" panose="02070309020205020404" pitchFamily="49" charset="0"/>
              </a:endParaRPr>
            </a:p>
          </p:txBody>
        </p:sp>
        <p:sp>
          <p:nvSpPr>
            <p:cNvPr id="8" name="TextBox 2"/>
            <p:cNvSpPr txBox="1"/>
            <p:nvPr/>
          </p:nvSpPr>
          <p:spPr>
            <a:xfrm>
              <a:off x="1600200" y="17526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socket()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TextBox 3"/>
            <p:cNvSpPr txBox="1"/>
            <p:nvPr/>
          </p:nvSpPr>
          <p:spPr>
            <a:xfrm>
              <a:off x="1600200" y="35052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connect()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4"/>
            <p:cNvSpPr txBox="1"/>
            <p:nvPr/>
          </p:nvSpPr>
          <p:spPr>
            <a:xfrm>
              <a:off x="1600200" y="41910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send()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TextBox 5"/>
            <p:cNvSpPr txBox="1"/>
            <p:nvPr/>
          </p:nvSpPr>
          <p:spPr>
            <a:xfrm>
              <a:off x="1600200" y="47244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recv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6"/>
            <p:cNvSpPr txBox="1"/>
            <p:nvPr/>
          </p:nvSpPr>
          <p:spPr>
            <a:xfrm>
              <a:off x="1600200" y="52578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close()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TextBox 7"/>
            <p:cNvSpPr txBox="1"/>
            <p:nvPr/>
          </p:nvSpPr>
          <p:spPr>
            <a:xfrm>
              <a:off x="5715000" y="17526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socket()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TextBox 8"/>
            <p:cNvSpPr txBox="1"/>
            <p:nvPr/>
          </p:nvSpPr>
          <p:spPr>
            <a:xfrm>
              <a:off x="5715000" y="24384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bind()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9"/>
            <p:cNvSpPr txBox="1"/>
            <p:nvPr/>
          </p:nvSpPr>
          <p:spPr>
            <a:xfrm>
              <a:off x="5715000" y="29718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listen()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5715000" y="35052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accept()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5715000" y="47244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send()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TextBox 12"/>
            <p:cNvSpPr txBox="1"/>
            <p:nvPr/>
          </p:nvSpPr>
          <p:spPr>
            <a:xfrm>
              <a:off x="5715000" y="41910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recv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TextBox 13"/>
            <p:cNvSpPr txBox="1"/>
            <p:nvPr/>
          </p:nvSpPr>
          <p:spPr>
            <a:xfrm>
              <a:off x="5715000" y="59436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close()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715000" y="5257800"/>
              <a:ext cx="14478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recv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Straight Arrow Connector 18"/>
            <p:cNvCxnSpPr>
              <a:stCxn id="8" idx="2"/>
              <a:endCxn id="9" idx="0"/>
            </p:cNvCxnSpPr>
            <p:nvPr/>
          </p:nvCxnSpPr>
          <p:spPr>
            <a:xfrm rot="5400000">
              <a:off x="1632466" y="2813566"/>
              <a:ext cx="13832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0"/>
            <p:cNvCxnSpPr>
              <a:stCxn id="9" idx="2"/>
              <a:endCxn id="10" idx="0"/>
            </p:cNvCxnSpPr>
            <p:nvPr/>
          </p:nvCxnSpPr>
          <p:spPr>
            <a:xfrm rot="5400000">
              <a:off x="2165866" y="4032766"/>
              <a:ext cx="3164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3"/>
              <a:endCxn id="16" idx="1"/>
            </p:cNvCxnSpPr>
            <p:nvPr/>
          </p:nvCxnSpPr>
          <p:spPr>
            <a:xfrm>
              <a:off x="3048000" y="3689866"/>
              <a:ext cx="2667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4"/>
            <p:cNvCxnSpPr>
              <a:stCxn id="13" idx="2"/>
              <a:endCxn id="14" idx="0"/>
            </p:cNvCxnSpPr>
            <p:nvPr/>
          </p:nvCxnSpPr>
          <p:spPr>
            <a:xfrm rot="5400000">
              <a:off x="6280666" y="2280166"/>
              <a:ext cx="3164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6"/>
            <p:cNvCxnSpPr>
              <a:stCxn id="14" idx="2"/>
              <a:endCxn id="15" idx="0"/>
            </p:cNvCxnSpPr>
            <p:nvPr/>
          </p:nvCxnSpPr>
          <p:spPr>
            <a:xfrm rot="5400000">
              <a:off x="6356866" y="2889766"/>
              <a:ext cx="1640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8"/>
            <p:cNvCxnSpPr>
              <a:stCxn id="15" idx="2"/>
              <a:endCxn id="16" idx="0"/>
            </p:cNvCxnSpPr>
            <p:nvPr/>
          </p:nvCxnSpPr>
          <p:spPr>
            <a:xfrm rot="5400000">
              <a:off x="6356866" y="3423166"/>
              <a:ext cx="1640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30"/>
            <p:cNvCxnSpPr>
              <a:stCxn id="16" idx="2"/>
              <a:endCxn id="18" idx="0"/>
            </p:cNvCxnSpPr>
            <p:nvPr/>
          </p:nvCxnSpPr>
          <p:spPr>
            <a:xfrm rot="5400000">
              <a:off x="6280666" y="4032766"/>
              <a:ext cx="3164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32"/>
            <p:cNvCxnSpPr>
              <a:stCxn id="10" idx="3"/>
              <a:endCxn id="18" idx="1"/>
            </p:cNvCxnSpPr>
            <p:nvPr/>
          </p:nvCxnSpPr>
          <p:spPr>
            <a:xfrm>
              <a:off x="3048000" y="4375666"/>
              <a:ext cx="2667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34"/>
            <p:cNvCxnSpPr>
              <a:stCxn id="18" idx="2"/>
              <a:endCxn id="17" idx="0"/>
            </p:cNvCxnSpPr>
            <p:nvPr/>
          </p:nvCxnSpPr>
          <p:spPr>
            <a:xfrm rot="5400000">
              <a:off x="6356866" y="4642366"/>
              <a:ext cx="1640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36"/>
            <p:cNvCxnSpPr>
              <a:stCxn id="17" idx="1"/>
              <a:endCxn id="11" idx="3"/>
            </p:cNvCxnSpPr>
            <p:nvPr/>
          </p:nvCxnSpPr>
          <p:spPr>
            <a:xfrm rot="10800000">
              <a:off x="3048000" y="4909066"/>
              <a:ext cx="2667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8"/>
            <p:cNvCxnSpPr>
              <a:stCxn id="10" idx="2"/>
              <a:endCxn id="11" idx="0"/>
            </p:cNvCxnSpPr>
            <p:nvPr/>
          </p:nvCxnSpPr>
          <p:spPr>
            <a:xfrm rot="5400000">
              <a:off x="2242066" y="4642366"/>
              <a:ext cx="1640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40"/>
            <p:cNvCxnSpPr>
              <a:stCxn id="11" idx="1"/>
              <a:endCxn id="10" idx="1"/>
            </p:cNvCxnSpPr>
            <p:nvPr/>
          </p:nvCxnSpPr>
          <p:spPr>
            <a:xfrm rot="10800000">
              <a:off x="1600200" y="4375666"/>
              <a:ext cx="1588" cy="533400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44"/>
            <p:cNvCxnSpPr>
              <a:stCxn id="17" idx="3"/>
              <a:endCxn id="18" idx="3"/>
            </p:cNvCxnSpPr>
            <p:nvPr/>
          </p:nvCxnSpPr>
          <p:spPr>
            <a:xfrm flipV="1">
              <a:off x="7162800" y="4375666"/>
              <a:ext cx="1588" cy="533400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46"/>
            <p:cNvCxnSpPr>
              <a:stCxn id="11" idx="2"/>
              <a:endCxn id="12" idx="0"/>
            </p:cNvCxnSpPr>
            <p:nvPr/>
          </p:nvCxnSpPr>
          <p:spPr>
            <a:xfrm rot="5400000">
              <a:off x="2242066" y="5175766"/>
              <a:ext cx="1640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48"/>
            <p:cNvCxnSpPr>
              <a:stCxn id="12" idx="3"/>
              <a:endCxn id="20" idx="1"/>
            </p:cNvCxnSpPr>
            <p:nvPr/>
          </p:nvCxnSpPr>
          <p:spPr>
            <a:xfrm>
              <a:off x="3048000" y="5442466"/>
              <a:ext cx="2667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50"/>
            <p:cNvCxnSpPr>
              <a:stCxn id="20" idx="2"/>
              <a:endCxn id="19" idx="0"/>
            </p:cNvCxnSpPr>
            <p:nvPr/>
          </p:nvCxnSpPr>
          <p:spPr>
            <a:xfrm rot="5400000">
              <a:off x="6280666" y="5785366"/>
              <a:ext cx="3164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lbow Connector 52"/>
            <p:cNvCxnSpPr>
              <a:stCxn id="19" idx="3"/>
              <a:endCxn id="16" idx="3"/>
            </p:cNvCxnSpPr>
            <p:nvPr/>
          </p:nvCxnSpPr>
          <p:spPr>
            <a:xfrm flipV="1">
              <a:off x="7162800" y="3689866"/>
              <a:ext cx="1588" cy="2438400"/>
            </a:xfrm>
            <a:prstGeom prst="bentConnector3">
              <a:avLst>
                <a:gd name="adj1" fmla="val 25363484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61"/>
            <p:cNvSpPr txBox="1"/>
            <p:nvPr/>
          </p:nvSpPr>
          <p:spPr>
            <a:xfrm>
              <a:off x="4876800" y="5257800"/>
              <a:ext cx="609600" cy="3385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EOF</a:t>
              </a:r>
              <a:endParaRPr lang="en-US" sz="1600" dirty="0"/>
            </a:p>
          </p:txBody>
        </p:sp>
        <p:sp>
          <p:nvSpPr>
            <p:cNvPr id="40" name="TextBox 63"/>
            <p:cNvSpPr txBox="1"/>
            <p:nvPr/>
          </p:nvSpPr>
          <p:spPr>
            <a:xfrm>
              <a:off x="3352800" y="3505200"/>
              <a:ext cx="2057400" cy="3385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Connection Request</a:t>
              </a:r>
              <a:endParaRPr lang="en-US" sz="1600" dirty="0"/>
            </a:p>
          </p:txBody>
        </p:sp>
        <p:sp>
          <p:nvSpPr>
            <p:cNvPr id="41" name="TextBox 64"/>
            <p:cNvSpPr txBox="1"/>
            <p:nvPr/>
          </p:nvSpPr>
          <p:spPr>
            <a:xfrm>
              <a:off x="3276600" y="4495800"/>
              <a:ext cx="2209800" cy="3385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/>
                <a:t>Data Transmission</a:t>
              </a:r>
              <a:endParaRPr lang="en-US" sz="1600" dirty="0"/>
            </a:p>
          </p:txBody>
        </p:sp>
      </p:grpSp>
      <p:sp>
        <p:nvSpPr>
          <p:cNvPr id="43" name="Rectangle 62"/>
          <p:cNvSpPr/>
          <p:nvPr/>
        </p:nvSpPr>
        <p:spPr>
          <a:xfrm>
            <a:off x="1143000" y="4137757"/>
            <a:ext cx="6705600" cy="1066800"/>
          </a:xfrm>
          <a:prstGeom prst="rect">
            <a:avLst/>
          </a:prstGeom>
          <a:solidFill>
            <a:schemeClr val="accent1">
              <a:tint val="100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一、建立</a:t>
            </a:r>
            <a:r>
              <a:rPr lang="en-US" altLang="zh-CN" dirty="0"/>
              <a:t>socket</a:t>
            </a:r>
            <a:r>
              <a:rPr lang="zh-CN" altLang="en-US" dirty="0"/>
              <a:t>文件描述符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/>
              <a:t>数据收发两端都需要建立</a:t>
            </a:r>
            <a:r>
              <a:rPr lang="en-US" altLang="zh-CN" dirty="0"/>
              <a:t>socket</a:t>
            </a:r>
            <a:r>
              <a:rPr lang="zh-CN" altLang="en-US" dirty="0"/>
              <a:t>文件描述符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socket(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domain,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type,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protocol);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/>
              <a:t> Domain: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AF_INET</a:t>
            </a:r>
            <a:endParaRPr lang="en-US" altLang="zh-CN" dirty="0"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/>
              <a:t> Type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SOCK_STREAM </a:t>
            </a:r>
            <a:r>
              <a:rPr lang="en-US" altLang="zh-CN" dirty="0">
                <a:solidFill>
                  <a:srgbClr val="FF0000"/>
                </a:solidFill>
                <a:cs typeface="Courier New" panose="02070309020205020404" pitchFamily="49" charset="0"/>
              </a:rPr>
              <a:t>TCP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SOCK_DGRAM </a:t>
            </a:r>
            <a:r>
              <a:rPr lang="en-US" altLang="zh-CN" dirty="0">
                <a:cs typeface="Courier New" panose="02070309020205020404" pitchFamily="49" charset="0"/>
              </a:rPr>
              <a:t>UDP</a:t>
            </a:r>
            <a:endParaRPr lang="en-US" altLang="zh-CN" dirty="0"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cs typeface="Courier New" panose="02070309020205020404" pitchFamily="49" charset="0"/>
              </a:rPr>
              <a:t>Protocol: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返回值</a:t>
            </a:r>
            <a:r>
              <a:rPr lang="en-US" altLang="zh-CN" dirty="0">
                <a:latin typeface="+mj-lt"/>
                <a:cs typeface="Courier New" panose="02070309020205020404" pitchFamily="49" charset="0"/>
              </a:rPr>
              <a:t>: socket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文件描述符</a:t>
            </a:r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5778507"/>
            <a:ext cx="708660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socket(AF_INET, SOCK_STREAM, 0);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457200"/>
            <a:ext cx="8579555" cy="811560"/>
          </a:xfrm>
        </p:spPr>
        <p:txBody>
          <a:bodyPr/>
          <a:lstStyle/>
          <a:p>
            <a:r>
              <a:rPr lang="zh-CN" altLang="en-US" dirty="0"/>
              <a:t>二、将</a:t>
            </a:r>
            <a:r>
              <a:rPr lang="en-US" altLang="zh-CN" dirty="0"/>
              <a:t>socket</a:t>
            </a:r>
            <a:r>
              <a:rPr lang="zh-CN" altLang="en-US" dirty="0"/>
              <a:t>文件描述符与监听地址绑定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只需要被动建立连接一方进行绑定（</a:t>
            </a:r>
            <a:r>
              <a:rPr lang="en-US" altLang="zh-CN" dirty="0"/>
              <a:t>bind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bind(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			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sockfd</a:t>
            </a:r>
            <a:r>
              <a:rPr lang="en-US" altLang="zh-CN" sz="2000" dirty="0">
                <a:cs typeface="Courier New" panose="02070309020205020404" pitchFamily="49" charset="0"/>
              </a:rPr>
              <a:t>: Socket</a:t>
            </a:r>
            <a:r>
              <a:rPr lang="zh-CN" altLang="en-US" sz="2000" dirty="0">
                <a:cs typeface="Courier New" panose="02070309020205020404" pitchFamily="49" charset="0"/>
              </a:rPr>
              <a:t>文件描述符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addr</a:t>
            </a:r>
            <a:r>
              <a:rPr lang="en-US" altLang="zh-CN" sz="2000" dirty="0"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cs typeface="Courier New" panose="02070309020205020404" pitchFamily="49" charset="0"/>
              </a:rPr>
              <a:t>需要绑定的地址和端口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addrlen</a:t>
            </a:r>
            <a:r>
              <a:rPr lang="en-US" altLang="zh-CN" sz="2000" dirty="0"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cs typeface="Courier New" panose="02070309020205020404" pitchFamily="49" charset="0"/>
              </a:rPr>
              <a:t>地址和端口数据结构的长度</a:t>
            </a:r>
            <a:endParaRPr lang="zh-CN" altLang="en-US" sz="2000" dirty="0"/>
          </a:p>
        </p:txBody>
      </p:sp>
      <p:sp>
        <p:nvSpPr>
          <p:cNvPr id="5" name="TextBox 3"/>
          <p:cNvSpPr txBox="1"/>
          <p:nvPr/>
        </p:nvSpPr>
        <p:spPr>
          <a:xfrm>
            <a:off x="107295" y="4536164"/>
            <a:ext cx="8971383" cy="19380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sockaddr_in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server;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server.sin_family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AF_INET;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server.sin_addr.s_addr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INADDR_ANY;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server.sin_port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(80);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bind(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(struct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*)&amp;server,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(server));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三、进行监听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只在被动建立连接一方进行监听，等待新的连接请求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listen(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backlog)</a:t>
            </a:r>
            <a:endParaRPr lang="en-US" altLang="zh-CN" dirty="0"/>
          </a:p>
          <a:p>
            <a:r>
              <a:rPr lang="en-US" altLang="zh-CN" dirty="0" err="1"/>
              <a:t>sockfd</a:t>
            </a:r>
            <a:r>
              <a:rPr lang="en-US" altLang="zh-CN" dirty="0"/>
              <a:t>: </a:t>
            </a:r>
            <a:r>
              <a:rPr lang="zh-CN" altLang="en-US" dirty="0"/>
              <a:t>之前建立的</a:t>
            </a:r>
            <a:r>
              <a:rPr lang="en-US" altLang="zh-CN" dirty="0"/>
              <a:t>socket</a:t>
            </a:r>
            <a:r>
              <a:rPr lang="zh-CN" altLang="en-US" dirty="0"/>
              <a:t>文件描述符</a:t>
            </a:r>
            <a:endParaRPr lang="en-US" altLang="zh-CN" dirty="0"/>
          </a:p>
          <a:p>
            <a:r>
              <a:rPr lang="en-US" altLang="zh-CN" dirty="0"/>
              <a:t>backlog: </a:t>
            </a:r>
            <a:r>
              <a:rPr lang="zh-CN" altLang="en-US" dirty="0"/>
              <a:t>可以理解为待处理请求的最大数目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1084317" y="4538524"/>
            <a:ext cx="6506135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listen(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128);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四、接受连接请求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被动建立连接一方需要显式的接受连接请求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accept(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	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sockfd</a:t>
            </a:r>
            <a:r>
              <a:rPr lang="en-US" altLang="zh-CN" sz="2000" dirty="0"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cs typeface="Courier New" panose="02070309020205020404" pitchFamily="49" charset="0"/>
              </a:rPr>
              <a:t>之前建立的</a:t>
            </a:r>
            <a:r>
              <a:rPr lang="en-US" altLang="zh-CN" sz="2000" dirty="0">
                <a:cs typeface="Courier New" panose="02070309020205020404" pitchFamily="49" charset="0"/>
              </a:rPr>
              <a:t>socket</a:t>
            </a:r>
            <a:r>
              <a:rPr lang="zh-CN" altLang="en-US" sz="2000" dirty="0">
                <a:cs typeface="Courier New" panose="02070309020205020404" pitchFamily="49" charset="0"/>
              </a:rPr>
              <a:t>文件描述符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addr</a:t>
            </a:r>
            <a:r>
              <a:rPr lang="en-US" altLang="zh-CN" sz="2000" dirty="0"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cs typeface="Courier New" panose="02070309020205020404" pitchFamily="49" charset="0"/>
              </a:rPr>
              <a:t>用于存储对端网络地址的数据结构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r>
              <a:rPr lang="en-US" altLang="zh-CN" sz="2000" dirty="0" err="1">
                <a:cs typeface="Courier New" panose="02070309020205020404" pitchFamily="49" charset="0"/>
              </a:rPr>
              <a:t>addrlen</a:t>
            </a:r>
            <a:r>
              <a:rPr lang="en-US" altLang="zh-CN" sz="2000" dirty="0"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cs typeface="Courier New" panose="02070309020205020404" pitchFamily="49" charset="0"/>
              </a:rPr>
              <a:t>指定</a:t>
            </a:r>
            <a:r>
              <a:rPr lang="en-US" altLang="zh-CN" sz="2000" dirty="0" err="1">
                <a:cs typeface="Courier New" panose="02070309020205020404" pitchFamily="49" charset="0"/>
              </a:rPr>
              <a:t>addr</a:t>
            </a:r>
            <a:r>
              <a:rPr lang="zh-CN" altLang="en-US" sz="2000" dirty="0">
                <a:cs typeface="Courier New" panose="02070309020205020404" pitchFamily="49" charset="0"/>
              </a:rPr>
              <a:t>大小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r>
              <a:rPr lang="zh-CN" altLang="en-US" sz="2000" dirty="0">
                <a:cs typeface="Courier New" panose="02070309020205020404" pitchFamily="49" charset="0"/>
              </a:rPr>
              <a:t>返回值为该连接对应的文件描述符，以后收发数据都使用该文件描述符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23900" y="5447613"/>
            <a:ext cx="7696200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csock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accept(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sockaddr_in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*) 			&amp;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五、申请建立连接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连接的另一方需要主动建立连接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connect(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buClr>
                <a:srgbClr val="00007D"/>
              </a:buClr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sockfd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之前建立的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socket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文件描述符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lvl="0">
              <a:buClr>
                <a:srgbClr val="00007D"/>
              </a:buClr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addr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对端的网络地址（包括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地址和端口号）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lvl="0">
              <a:buClr>
                <a:srgbClr val="00007D"/>
              </a:buClr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addrlen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: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addr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的大小（不同协议的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addr</a:t>
            </a: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大小不同）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lvl="0">
              <a:buClr>
                <a:srgbClr val="00007D"/>
              </a:buClr>
            </a:pPr>
            <a:r>
              <a:rPr lang="zh-CN" altLang="en-US" sz="2000" dirty="0">
                <a:solidFill>
                  <a:srgbClr val="000000"/>
                </a:solidFill>
                <a:cs typeface="Courier New" panose="02070309020205020404" pitchFamily="49" charset="0"/>
              </a:rPr>
              <a:t>返回值指示连接是否建立成功</a:t>
            </a:r>
            <a:endParaRPr lang="en-US" altLang="zh-CN" dirty="0">
              <a:solidFill>
                <a:srgbClr val="000000"/>
              </a:solidFill>
            </a:endParaRPr>
          </a:p>
          <a:p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457200" y="4766609"/>
            <a:ext cx="8173616" cy="19380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sockaddr_in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dst.sin_family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AF_INET;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dst.sin_addr.s_addr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inet_addr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("10.0.0.1");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dst.sin_port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(80);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connect(sock, (struct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*)&amp;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六、数据传输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80465"/>
            <a:ext cx="8463915" cy="5299710"/>
          </a:xfrm>
        </p:spPr>
        <p:txBody>
          <a:bodyPr/>
          <a:lstStyle/>
          <a:p>
            <a:r>
              <a:rPr lang="zh-CN" altLang="en-US" dirty="0"/>
              <a:t>数据发送方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send(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void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flags);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数据接收方</a:t>
            </a:r>
            <a:endParaRPr lang="en-US" altLang="zh-CN" dirty="0"/>
          </a:p>
          <a:p>
            <a:pPr lvl="1"/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flags);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连接任意一端都可以发送或者接收数据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对于一个阻塞式</a:t>
            </a:r>
            <a:r>
              <a:rPr lang="en-US" altLang="zh-CN" dirty="0">
                <a:latin typeface="+mj-lt"/>
                <a:cs typeface="Courier New" panose="02070309020205020404" pitchFamily="49" charset="0"/>
              </a:rPr>
              <a:t>(blocking) socket</a:t>
            </a:r>
            <a:endParaRPr lang="en-US" altLang="zh-CN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+mj-lt"/>
                <a:cs typeface="Courier New" panose="02070309020205020404" pitchFamily="49" charset="0"/>
              </a:rPr>
              <a:t>send</a:t>
            </a:r>
            <a:r>
              <a:rPr lang="zh-CN" altLang="en-US" dirty="0">
                <a:latin typeface="+mj-lt"/>
                <a:cs typeface="Courier New" panose="02070309020205020404" pitchFamily="49" charset="0"/>
              </a:rPr>
              <a:t>直到所有数据被拷贝到协议栈缓存中才返回，或产生错误返回</a:t>
            </a:r>
            <a:endParaRPr lang="en-US" altLang="zh-CN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altLang="zh-CN" dirty="0" err="1">
                <a:latin typeface="+mj-lt"/>
                <a:cs typeface="Courier New" panose="02070309020205020404" pitchFamily="49" charset="0"/>
              </a:rPr>
              <a:t>recv</a:t>
            </a:r>
            <a:r>
              <a:rPr lang="zh-CN" altLang="en-US" dirty="0">
                <a:latin typeface="+mj-lt"/>
                <a:cs typeface="Courier New" panose="02070309020205020404" pitchFamily="49" charset="0"/>
              </a:rPr>
              <a:t>直到接收到数据</a:t>
            </a:r>
            <a:r>
              <a:rPr lang="en-US" altLang="zh-CN" dirty="0">
                <a:latin typeface="+mj-lt"/>
                <a:cs typeface="Courier New" panose="02070309020205020404" pitchFamily="49" charset="0"/>
              </a:rPr>
              <a:t>(</a:t>
            </a:r>
            <a:r>
              <a:rPr lang="zh-CN" altLang="en-US" dirty="0">
                <a:latin typeface="+mj-lt"/>
                <a:cs typeface="Courier New" panose="02070309020205020404" pitchFamily="49" charset="0"/>
              </a:rPr>
              <a:t>不一定等于</a:t>
            </a:r>
            <a:r>
              <a:rPr lang="en-US" altLang="zh-CN" dirty="0" err="1">
                <a:latin typeface="+mj-lt"/>
                <a:cs typeface="Courier New" panose="02070309020205020404" pitchFamily="49" charset="0"/>
              </a:rPr>
              <a:t>len</a:t>
            </a:r>
            <a:r>
              <a:rPr lang="en-US" altLang="zh-CN" dirty="0">
                <a:latin typeface="+mj-lt"/>
                <a:cs typeface="Courier New" panose="02070309020205020404" pitchFamily="49" charset="0"/>
              </a:rPr>
              <a:t>)</a:t>
            </a:r>
            <a:r>
              <a:rPr lang="zh-CN" altLang="en-US" dirty="0">
                <a:latin typeface="+mj-lt"/>
                <a:cs typeface="Courier New" panose="02070309020205020404" pitchFamily="49" charset="0"/>
              </a:rPr>
              <a:t>，或对端关闭连接（返回</a:t>
            </a:r>
            <a:r>
              <a:rPr lang="en-US" altLang="zh-CN" dirty="0">
                <a:latin typeface="+mj-lt"/>
                <a:cs typeface="Courier New" panose="02070309020205020404" pitchFamily="49" charset="0"/>
              </a:rPr>
              <a:t>0</a:t>
            </a:r>
            <a:r>
              <a:rPr lang="zh-CN" altLang="en-US" dirty="0">
                <a:latin typeface="+mj-lt"/>
                <a:cs typeface="Courier New" panose="02070309020205020404" pitchFamily="49" charset="0"/>
              </a:rPr>
              <a:t>），或产生错误才返回</a:t>
            </a:r>
            <a:endParaRPr lang="en-US" altLang="zh-CN" dirty="0">
              <a:latin typeface="+mj-lt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网络字节序与本地字节序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244895"/>
          </a:xfrm>
        </p:spPr>
        <p:txBody>
          <a:bodyPr/>
          <a:lstStyle/>
          <a:p>
            <a:r>
              <a:rPr lang="zh-CN" altLang="en-US" dirty="0"/>
              <a:t>网络协议使用网络字节序（即大端字节序）传输数据，地址低位存储值的高位</a:t>
            </a:r>
            <a:endParaRPr lang="en-US" altLang="zh-CN" dirty="0"/>
          </a:p>
          <a:p>
            <a:r>
              <a:rPr lang="en-US" altLang="zh-CN" dirty="0"/>
              <a:t>Intel</a:t>
            </a:r>
            <a:r>
              <a:rPr lang="zh-CN" altLang="en-US" dirty="0"/>
              <a:t>的</a:t>
            </a:r>
            <a:r>
              <a:rPr lang="en-US" altLang="zh-CN" dirty="0"/>
              <a:t>x86</a:t>
            </a:r>
            <a:r>
              <a:rPr lang="zh-CN" altLang="en-US" dirty="0"/>
              <a:t>平台使用的是小端字节序，地址低位存储值的低位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586483" y="3824719"/>
            <a:ext cx="2452744" cy="1904103"/>
            <a:chOff x="339058" y="4121488"/>
            <a:chExt cx="2452744" cy="1904103"/>
          </a:xfrm>
        </p:grpSpPr>
        <p:sp>
          <p:nvSpPr>
            <p:cNvPr id="7" name="矩形 6"/>
            <p:cNvSpPr/>
            <p:nvPr/>
          </p:nvSpPr>
          <p:spPr>
            <a:xfrm>
              <a:off x="339058" y="4121488"/>
              <a:ext cx="2452744" cy="1904103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05446" y="4647304"/>
              <a:ext cx="15199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/>
                <a:t>内存</a:t>
              </a:r>
              <a:endParaRPr lang="en-US" altLang="zh-CN" dirty="0"/>
            </a:p>
            <a:p>
              <a:pPr algn="ctr"/>
              <a:r>
                <a:rPr lang="zh-CN" altLang="en-US" dirty="0"/>
                <a:t>低      </a:t>
              </a:r>
              <a:r>
                <a:rPr lang="en-US" altLang="zh-CN" dirty="0"/>
                <a:t>-&gt;       </a:t>
              </a:r>
              <a:r>
                <a:rPr lang="zh-CN" altLang="en-US" dirty="0"/>
                <a:t>高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32503" y="5379260"/>
              <a:ext cx="213539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LE 04 03 02 01 </a:t>
              </a:r>
              <a:endParaRPr lang="zh-CN" alt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zh-CN" alt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BE 01 02 03 04</a:t>
              </a:r>
              <a:endParaRPr lang="zh-CN" alt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32503" y="4192347"/>
              <a:ext cx="2029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数据：</a:t>
              </a:r>
              <a:r>
                <a:rPr lang="en-US" altLang="zh-CN" dirty="0"/>
                <a:t>0x01020304</a:t>
              </a:r>
              <a:endParaRPr lang="zh-CN" altLang="en-US" dirty="0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419356" y="3640053"/>
            <a:ext cx="540855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为了保证数据在不同主机之间传输时能够被正确解释，主机在发送和接收数据时，需要进行网络字节序与主机字节序之间的相互转换：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htonll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ntohll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65516" y="6057684"/>
            <a:ext cx="8747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只有在收发整数数据时才需要转换字节序，收发字符串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字节流时不需要关心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七、处理并发服务请求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如果一台服务器需要同时处理多个服务请求</a:t>
            </a:r>
            <a:endParaRPr lang="en-US" altLang="zh-CN" dirty="0"/>
          </a:p>
          <a:p>
            <a:r>
              <a:rPr lang="zh-CN" altLang="en-US" sz="2000" dirty="0"/>
              <a:t>使用多进程</a:t>
            </a:r>
            <a:r>
              <a:rPr lang="en-US" altLang="zh-CN" sz="2000" dirty="0"/>
              <a:t>/</a:t>
            </a:r>
            <a:r>
              <a:rPr lang="zh-CN" altLang="en-US" sz="2000" dirty="0"/>
              <a:t>多线程技术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accept(sock,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new_thread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NULL,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handle_request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需要维护多个线程，增加系统开销</a:t>
            </a:r>
            <a:endParaRPr lang="en-US" altLang="zh-CN" dirty="0"/>
          </a:p>
          <a:p>
            <a:r>
              <a:rPr lang="zh-CN" altLang="en-US" sz="2000" dirty="0"/>
              <a:t>或 使用</a:t>
            </a:r>
            <a:r>
              <a:rPr lang="en-US" altLang="zh-CN" sz="2000" dirty="0">
                <a:solidFill>
                  <a:srgbClr val="FF0000"/>
                </a:solidFill>
              </a:rPr>
              <a:t>I/O</a:t>
            </a:r>
            <a:r>
              <a:rPr lang="zh-CN" altLang="en-US" sz="2000" dirty="0">
                <a:solidFill>
                  <a:srgbClr val="FF0000"/>
                </a:solidFill>
              </a:rPr>
              <a:t>多路复用技术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FD_SET(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ready =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NULL, NULL, timeout);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if (FD_ISSET(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rfds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buffer,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/>
              <a:t>select</a:t>
            </a:r>
            <a:r>
              <a:rPr lang="zh-CN" altLang="en-US" dirty="0"/>
              <a:t>最多支持</a:t>
            </a:r>
            <a:r>
              <a:rPr lang="en-US" altLang="zh-CN" dirty="0"/>
              <a:t>1024</a:t>
            </a:r>
            <a:r>
              <a:rPr lang="zh-CN" altLang="en-US" dirty="0"/>
              <a:t>个并发连接，且每次都需要遍历每一个连接，使用</a:t>
            </a:r>
            <a:r>
              <a:rPr lang="en-US" altLang="zh-CN" dirty="0" err="1"/>
              <a:t>epoll</a:t>
            </a:r>
            <a:r>
              <a:rPr lang="zh-CN" altLang="en-US" dirty="0"/>
              <a:t>可以避免该限制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八、</a:t>
            </a:r>
            <a:r>
              <a:rPr lang="en-US" altLang="zh-CN">
                <a:sym typeface="+mn-ea"/>
              </a:rPr>
              <a:t>Socket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SSL/TLS</a:t>
            </a:r>
            <a:r>
              <a:rPr lang="zh-CN" altLang="en-US">
                <a:sym typeface="+mn-ea"/>
              </a:rPr>
              <a:t>通信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// init SSL Library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OpenSSL_add_all_algorithms();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SSL_load_error_strings();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const SSL_METHOD *method = TLS_server_method();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SSL_CTX *ctx = SSL_CTX_new(method);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// load certificate and private key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SSL_CTX_use_certificate_file(ctx, "./keys/cnlab.cert", SSL_FILETYPE_PEM);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SSL_CTX_use_PrivateKey_file(ctx, "./keys/cnlab.prikey", SSL_FILETYPE_PEM);</a:t>
            </a:r>
            <a:endParaRPr lang="zh-CN" alt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八、</a:t>
            </a:r>
            <a:r>
              <a:rPr lang="en-US" altLang="zh-CN">
                <a:sym typeface="+mn-ea"/>
              </a:rPr>
              <a:t>Socket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SSL/TLS</a:t>
            </a:r>
            <a:r>
              <a:rPr lang="zh-CN" altLang="en-US">
                <a:sym typeface="+mn-ea"/>
              </a:rPr>
              <a:t>通信（续）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int sock = socket(</a:t>
            </a:r>
            <a:r>
              <a:rPr lang="en-US" altLang="zh-CN" sz="2000"/>
              <a:t>AF</a:t>
            </a:r>
            <a:r>
              <a:rPr lang="zh-CN" altLang="en-US" sz="2000"/>
              <a:t>_INET, SOCK_STREAM, 0);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struct sockaddr_in addr;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addr.sin_family = AF_INET;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addr.sin_addr.s_addr = INADDR_ANY;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addr.sin_port = htons(443);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bind(sock, (struct sockaddr*)&amp;addr, sizeof(addr));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listen(sock, 10);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int csock = accept(sock, (struct sockaddr*)&amp;caddr, &amp;len);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>
                <a:sym typeface="+mn-ea"/>
              </a:rPr>
              <a:t>SSL *ssl = SSL_new(ctx);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>
                <a:sym typeface="+mn-ea"/>
              </a:rPr>
              <a:t>SSL_set_fd(ssl, csock);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>
                <a:sym typeface="+mn-ea"/>
              </a:rPr>
              <a:t>handle_https_request(ssl);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服务器实验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5260"/>
            <a:ext cx="8229600" cy="1803400"/>
          </a:xfrm>
        </p:spPr>
        <p:txBody>
          <a:bodyPr/>
          <a:lstStyle/>
          <a:p>
            <a:r>
              <a:rPr lang="zh-CN" altLang="en-US" sz="2000" dirty="0"/>
              <a:t>实现：使用</a:t>
            </a:r>
            <a:r>
              <a:rPr lang="en-US" altLang="zh-CN" sz="2000" dirty="0"/>
              <a:t>C</a:t>
            </a:r>
            <a:r>
              <a:rPr lang="zh-CN" altLang="en-US" sz="2000" dirty="0"/>
              <a:t>语言实现最简单的</a:t>
            </a:r>
            <a:r>
              <a:rPr lang="en-US" altLang="zh-CN" sz="2000" dirty="0"/>
              <a:t>HTTP</a:t>
            </a:r>
            <a:r>
              <a:rPr lang="zh-CN" altLang="en-US" sz="2000" dirty="0"/>
              <a:t>服务器</a:t>
            </a:r>
            <a:endParaRPr lang="zh-CN" altLang="en-US" sz="2000" dirty="0"/>
          </a:p>
          <a:p>
            <a:pPr lvl="1"/>
            <a:r>
              <a:rPr lang="zh-CN" altLang="en-US" sz="1800" dirty="0"/>
              <a:t>同时支持</a:t>
            </a:r>
            <a:r>
              <a:rPr lang="en-US" altLang="zh-CN" sz="1800" dirty="0"/>
              <a:t>HTTP</a:t>
            </a:r>
            <a:r>
              <a:rPr lang="zh-CN" altLang="en-US" sz="1800" dirty="0"/>
              <a:t>（</a:t>
            </a:r>
            <a:r>
              <a:rPr lang="en-US" altLang="zh-CN" sz="1800" dirty="0"/>
              <a:t>80</a:t>
            </a:r>
            <a:r>
              <a:rPr lang="zh-CN" altLang="en-US" sz="1800" dirty="0"/>
              <a:t>端口）和</a:t>
            </a:r>
            <a:r>
              <a:rPr lang="en-US" altLang="zh-CN" sz="1800" dirty="0"/>
              <a:t>HTTPS</a:t>
            </a:r>
            <a:r>
              <a:rPr lang="zh-CN" altLang="en-US" sz="1800" dirty="0"/>
              <a:t>（</a:t>
            </a:r>
            <a:r>
              <a:rPr lang="en-US" altLang="zh-CN" sz="1800" dirty="0"/>
              <a:t>443</a:t>
            </a:r>
            <a:r>
              <a:rPr lang="zh-CN" altLang="en-US" sz="1800" dirty="0"/>
              <a:t>端口）</a:t>
            </a:r>
            <a:endParaRPr lang="zh-CN" altLang="en-US" sz="1800" dirty="0"/>
          </a:p>
          <a:p>
            <a:pPr lvl="2"/>
            <a:r>
              <a:rPr lang="zh-CN" altLang="en-US" sz="1620" dirty="0"/>
              <a:t>使用两个线程分别监听各自端口</a:t>
            </a:r>
            <a:endParaRPr lang="zh-CN" altLang="en-US" sz="1620" dirty="0"/>
          </a:p>
          <a:p>
            <a:pPr lvl="1"/>
            <a:r>
              <a:rPr lang="zh-CN" altLang="en-US" sz="1800" dirty="0"/>
              <a:t>支持</a:t>
            </a:r>
            <a:r>
              <a:rPr lang="en-US" altLang="zh-CN" sz="1800" dirty="0"/>
              <a:t>GET</a:t>
            </a:r>
            <a:r>
              <a:rPr lang="zh-CN" altLang="en-US" sz="1800" dirty="0"/>
              <a:t>方法，解析请求报文，返回相应应答及内容</a:t>
            </a:r>
            <a:endParaRPr lang="zh-CN" altLang="en-US" sz="1800" dirty="0"/>
          </a:p>
          <a:p>
            <a:pPr lvl="1"/>
            <a:r>
              <a:rPr lang="zh-CN" altLang="en-US" sz="1800" dirty="0"/>
              <a:t>支持多流并发</a:t>
            </a:r>
            <a:r>
              <a:rPr lang="zh-CN" altLang="en-US" sz="1800" dirty="0"/>
              <a:t>处理</a:t>
            </a:r>
            <a:endParaRPr lang="zh-CN" altLang="en-US" sz="1800"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16535" y="3510915"/>
          <a:ext cx="8681085" cy="352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420"/>
                <a:gridCol w="6082665"/>
              </a:tblGrid>
              <a:tr h="504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需支持的状态码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场景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985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200 OK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对于443端口接收的请求，如果程序所在文件夹存在所请求的文件，返回该状态码，以及所请求的文件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978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301 Moved Permanently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对于80端口接收的请求，返回该状态码，在应答中使用</a:t>
                      </a:r>
                      <a:r>
                        <a:rPr lang="en-US" altLang="zh-CN"/>
                        <a:t>Location</a:t>
                      </a:r>
                      <a:r>
                        <a:rPr lang="zh-CN" altLang="en-US"/>
                        <a:t>字段表达相应的https URL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289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206 Partial Content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对于</a:t>
                      </a:r>
                      <a:r>
                        <a:rPr lang="en-US" altLang="zh-CN"/>
                        <a:t>443</a:t>
                      </a:r>
                      <a:r>
                        <a:rPr lang="zh-CN" altLang="en-US"/>
                        <a:t>端口接收的请求，如果所请求的为部分内容（请求中有</a:t>
                      </a:r>
                      <a:r>
                        <a:rPr lang="en-US" altLang="zh-CN"/>
                        <a:t>Range</a:t>
                      </a:r>
                      <a:r>
                        <a:rPr lang="zh-CN" altLang="en-US"/>
                        <a:t>字段），返回该状态码，以及相应的部分内容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978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404 Not Found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对于</a:t>
                      </a:r>
                      <a:r>
                        <a:rPr lang="en-US" altLang="zh-CN"/>
                        <a:t>443</a:t>
                      </a:r>
                      <a:r>
                        <a:rPr lang="zh-CN" altLang="en-US"/>
                        <a:t>端口接收的请求，如果</a:t>
                      </a:r>
                      <a:r>
                        <a:rPr lang="zh-CN" altLang="en-US" sz="1800">
                          <a:sym typeface="+mn-ea"/>
                        </a:rPr>
                        <a:t>程序所在</a:t>
                      </a:r>
                      <a:r>
                        <a:rPr lang="zh-CN" altLang="en-US" sz="1800">
                          <a:sym typeface="+mn-ea"/>
                        </a:rPr>
                        <a:t>文件夹没有</a:t>
                      </a:r>
                      <a:r>
                        <a:rPr lang="zh-CN" altLang="en-US"/>
                        <a:t>所请求的文件，返回该状态码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根据上述要求，实现</a:t>
            </a:r>
            <a:r>
              <a:rPr lang="en-US" altLang="zh-CN" dirty="0"/>
              <a:t>HTTP</a:t>
            </a:r>
            <a:r>
              <a:rPr lang="zh-CN" altLang="en-US" dirty="0"/>
              <a:t>服务器程序</a:t>
            </a:r>
            <a:endParaRPr lang="zh-CN" altLang="en-US" dirty="0"/>
          </a:p>
          <a:p>
            <a:r>
              <a:rPr lang="zh-CN" altLang="en-US" dirty="0"/>
              <a:t>执行</a:t>
            </a:r>
            <a:r>
              <a:rPr lang="en-US" altLang="zh-CN" dirty="0"/>
              <a:t>sudo python topo.py</a:t>
            </a:r>
            <a:r>
              <a:rPr lang="zh-CN" altLang="en-US" dirty="0"/>
              <a:t>命令，生成包括两个端节点的网络拓扑</a:t>
            </a:r>
            <a:endParaRPr lang="en-US" altLang="zh-CN" dirty="0"/>
          </a:p>
          <a:p>
            <a:r>
              <a:rPr lang="zh-CN" altLang="en-US" dirty="0"/>
              <a:t>在主机</a:t>
            </a:r>
            <a:r>
              <a:rPr lang="en-US" altLang="zh-CN" dirty="0"/>
              <a:t>h1</a:t>
            </a:r>
            <a:r>
              <a:rPr lang="zh-CN" altLang="en-US" dirty="0"/>
              <a:t>上运行</a:t>
            </a:r>
            <a:r>
              <a:rPr lang="en-US" altLang="zh-CN" dirty="0"/>
              <a:t>HTTP</a:t>
            </a:r>
            <a:r>
              <a:rPr lang="zh-CN" altLang="en-US" dirty="0"/>
              <a:t>服务器程序，同时监听</a:t>
            </a:r>
            <a:r>
              <a:rPr lang="en-US" altLang="zh-CN" dirty="0"/>
              <a:t>80</a:t>
            </a:r>
            <a:r>
              <a:rPr lang="zh-CN" altLang="en-US" dirty="0"/>
              <a:t>和</a:t>
            </a:r>
            <a:r>
              <a:rPr lang="en-US" altLang="zh-CN" dirty="0"/>
              <a:t>443</a:t>
            </a:r>
            <a:r>
              <a:rPr lang="zh-CN" altLang="en-US" dirty="0"/>
              <a:t>端口</a:t>
            </a:r>
            <a:endParaRPr lang="en-US" altLang="zh-CN" dirty="0"/>
          </a:p>
          <a:p>
            <a:pPr lvl="1"/>
            <a:r>
              <a:rPr lang="en-US" altLang="zh-CN" dirty="0"/>
              <a:t>h1 # ./http-server</a:t>
            </a:r>
            <a:endParaRPr lang="en-US" altLang="zh-CN" dirty="0"/>
          </a:p>
          <a:p>
            <a:r>
              <a:rPr lang="zh-CN" altLang="en-US" dirty="0"/>
              <a:t>在主机</a:t>
            </a:r>
            <a:r>
              <a:rPr lang="en-US" altLang="zh-CN" dirty="0"/>
              <a:t>h2</a:t>
            </a:r>
            <a:r>
              <a:rPr lang="zh-CN" altLang="en-US" dirty="0"/>
              <a:t>上运行</a:t>
            </a:r>
            <a:r>
              <a:rPr lang="zh-CN" dirty="0"/>
              <a:t>测试程序，验证程序正确性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h2 # python3 test/test.py</a:t>
            </a:r>
            <a:endParaRPr lang="en-US" altLang="zh-CN" dirty="0"/>
          </a:p>
          <a:p>
            <a:pPr lvl="1"/>
            <a:r>
              <a:rPr lang="zh-CN" altLang="en-US" dirty="0"/>
              <a:t>如果出现AssertionError或其他错误，则说明程序实现有</a:t>
            </a:r>
            <a:r>
              <a:rPr lang="zh-CN" altLang="en-US" dirty="0"/>
              <a:t>问题</a:t>
            </a:r>
            <a:endParaRPr lang="zh-CN" altLang="en-US" dirty="0"/>
          </a:p>
          <a:p>
            <a:pPr lvl="0"/>
            <a:r>
              <a:rPr lang="zh-CN" altLang="en-US" dirty="0"/>
              <a:t>在</a:t>
            </a:r>
            <a:r>
              <a:rPr lang="en-US" altLang="zh-CN" dirty="0"/>
              <a:t>OJ</a:t>
            </a:r>
            <a:r>
              <a:rPr lang="zh-CN" altLang="en-US" dirty="0"/>
              <a:t>上测试程序</a:t>
            </a:r>
            <a:r>
              <a:rPr lang="zh-CN" altLang="en-US" dirty="0">
                <a:sym typeface="+mn-ea"/>
              </a:rPr>
              <a:t>能</a:t>
            </a:r>
            <a:r>
              <a:rPr lang="zh-CN" altLang="en-US" dirty="0"/>
              <a:t>否支持多流并发</a:t>
            </a:r>
            <a:r>
              <a:rPr lang="zh-CN" altLang="en-US" dirty="0"/>
              <a:t>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提交作业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代码提交到</a:t>
            </a:r>
            <a:r>
              <a:rPr lang="en-US" altLang="zh-CN"/>
              <a:t>OJ</a:t>
            </a:r>
            <a:r>
              <a:rPr lang="zh-CN" altLang="en-US"/>
              <a:t>网站，命名格式</a:t>
            </a:r>
            <a:endParaRPr lang="zh-CN" altLang="en-US"/>
          </a:p>
          <a:p>
            <a:pPr lvl="1"/>
            <a:r>
              <a:rPr lang="zh-CN" altLang="en-US"/>
              <a:t>提交文件：</a:t>
            </a:r>
            <a:r>
              <a:rPr lang="en-US" altLang="zh-CN"/>
              <a:t>02-socket.zip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解压后文件夹名称为</a:t>
            </a:r>
            <a:r>
              <a:rPr lang="en-US" altLang="zh-CN">
                <a:sym typeface="+mn-ea"/>
              </a:rPr>
              <a:t>02-socket</a:t>
            </a:r>
            <a:r>
              <a:rPr lang="zh-CN" altLang="en-US">
                <a:sym typeface="+mn-ea"/>
              </a:rPr>
              <a:t>，</a:t>
            </a:r>
            <a:r>
              <a:rPr lang="zh-CN" altLang="en-US"/>
              <a:t>文件夹内只包含编译程序所需的</a:t>
            </a:r>
            <a:r>
              <a:rPr lang="en-US" altLang="zh-CN"/>
              <a:t>C</a:t>
            </a:r>
            <a:r>
              <a:rPr lang="zh-CN" altLang="en-US"/>
              <a:t>文件、头文件和</a:t>
            </a:r>
            <a:r>
              <a:rPr lang="en-US" altLang="zh-CN"/>
              <a:t>Makefile</a:t>
            </a:r>
            <a:endParaRPr lang="zh-CN" altLang="en-US"/>
          </a:p>
          <a:p>
            <a:pPr lvl="1"/>
            <a:r>
              <a:rPr lang="zh-CN"/>
              <a:t>该程序假设当前目录有一个</a:t>
            </a:r>
            <a:r>
              <a:rPr lang="en-US" altLang="zh-CN"/>
              <a:t>keys</a:t>
            </a:r>
            <a:r>
              <a:rPr lang="zh-CN" altLang="en-US"/>
              <a:t>文件夹，里面包含</a:t>
            </a:r>
            <a:r>
              <a:rPr lang="en-US" altLang="zh-CN"/>
              <a:t>cnlab.prikey</a:t>
            </a:r>
            <a:r>
              <a:rPr lang="zh-CN" altLang="en-US"/>
              <a:t>和</a:t>
            </a:r>
            <a:r>
              <a:rPr lang="en-US" altLang="zh-CN"/>
              <a:t>cnlab.cert</a:t>
            </a:r>
            <a:r>
              <a:rPr lang="zh-CN" altLang="en-US"/>
              <a:t>，编译时</a:t>
            </a:r>
            <a:r>
              <a:rPr lang="zh-CN" altLang="en-US">
                <a:sym typeface="+mn-ea"/>
              </a:rPr>
              <a:t>只依赖-lssl -lcrypto -lpthread这三个动态库</a:t>
            </a:r>
            <a:endParaRPr lang="en-US" altLang="zh-CN"/>
          </a:p>
          <a:p>
            <a:pPr lvl="1"/>
            <a:r>
              <a:rPr lang="zh-CN" altLang="en-US"/>
              <a:t>截止时间：下周</a:t>
            </a:r>
            <a:r>
              <a:rPr lang="zh-CN" altLang="en-US"/>
              <a:t>四（晚于该时间视为补交）</a:t>
            </a:r>
            <a:endParaRPr lang="en-US" altLang="zh-CN"/>
          </a:p>
          <a:p>
            <a:pPr lvl="0"/>
            <a:r>
              <a:rPr lang="zh-CN" altLang="en-US">
                <a:sym typeface="+mn-ea"/>
              </a:rPr>
              <a:t>报告提交到课程网站</a:t>
            </a:r>
            <a:endParaRPr lang="zh-CN" altLang="en-US"/>
          </a:p>
          <a:p>
            <a:pPr lvl="1"/>
            <a:r>
              <a:rPr lang="zh-CN" altLang="en-US"/>
              <a:t>报告命名格式：</a:t>
            </a:r>
            <a:r>
              <a:rPr lang="en-US" altLang="zh-CN"/>
              <a:t>02-Socket</a:t>
            </a:r>
            <a:r>
              <a:rPr lang="zh-CN" altLang="en-US"/>
              <a:t>编程实验报告</a:t>
            </a:r>
            <a:r>
              <a:rPr lang="en-US" altLang="zh-CN"/>
              <a:t>.(docx/pdf)</a:t>
            </a:r>
            <a:endParaRPr lang="en-US" altLang="zh-CN"/>
          </a:p>
          <a:p>
            <a:pPr lvl="1"/>
            <a:r>
              <a:rPr lang="zh-CN" altLang="en-US"/>
              <a:t>截止时间：下周</a:t>
            </a:r>
            <a:r>
              <a:rPr lang="zh-CN" altLang="en-US"/>
              <a:t>五（晚于该时间只能邮件补交）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附件文件列表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dir				# </a:t>
            </a:r>
            <a:r>
              <a:rPr lang="zh-CN" altLang="en-US" dirty="0"/>
              <a:t>目录下有一个</a:t>
            </a:r>
            <a:r>
              <a:rPr lang="en-US" altLang="zh-CN" dirty="0"/>
              <a:t>HTML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/>
              <a:t>https-server-example.c	# C</a:t>
            </a:r>
            <a:r>
              <a:rPr lang="zh-CN" altLang="en-US" dirty="0"/>
              <a:t>语言的</a:t>
            </a:r>
            <a:r>
              <a:rPr lang="en-US" altLang="zh-CN" dirty="0"/>
              <a:t>HTTPS</a:t>
            </a:r>
            <a:r>
              <a:rPr lang="zh-CN" altLang="en-US" dirty="0"/>
              <a:t>服务器例子</a:t>
            </a:r>
            <a:endParaRPr lang="zh-CN" altLang="en-US" dirty="0"/>
          </a:p>
          <a:p>
            <a:r>
              <a:rPr lang="en-US" altLang="zh-CN" dirty="0"/>
              <a:t>index.html			# HTML</a:t>
            </a:r>
            <a:r>
              <a:rPr lang="zh-CN" altLang="en-US" dirty="0"/>
              <a:t>文件</a:t>
            </a:r>
            <a:endParaRPr lang="zh-CN" altLang="en-US" dirty="0"/>
          </a:p>
          <a:p>
            <a:r>
              <a:rPr lang="en-US" altLang="zh-CN" dirty="0"/>
              <a:t>keys				# </a:t>
            </a:r>
            <a:r>
              <a:rPr lang="zh-CN" altLang="en-US" dirty="0"/>
              <a:t>私钥和证书文件</a:t>
            </a:r>
            <a:endParaRPr lang="zh-CN" altLang="en-US" dirty="0"/>
          </a:p>
          <a:p>
            <a:r>
              <a:rPr lang="en-US" altLang="zh-CN" dirty="0"/>
              <a:t>Makefile			# </a:t>
            </a:r>
            <a:r>
              <a:rPr lang="zh-CN" altLang="en-US" dirty="0">
                <a:sym typeface="+mn-ea"/>
              </a:rPr>
              <a:t>不能修改</a:t>
            </a:r>
            <a:r>
              <a:rPr lang="zh-CN" altLang="en-US" dirty="0"/>
              <a:t>该文件</a:t>
            </a:r>
            <a:endParaRPr lang="zh-CN" altLang="en-US" dirty="0"/>
          </a:p>
          <a:p>
            <a:r>
              <a:rPr lang="en-US" altLang="zh-CN" dirty="0"/>
              <a:t>test				# </a:t>
            </a:r>
            <a:r>
              <a:rPr lang="zh-CN" altLang="en-US" dirty="0"/>
              <a:t>测试程序</a:t>
            </a:r>
            <a:endParaRPr lang="en-US" altLang="zh-CN" dirty="0"/>
          </a:p>
          <a:p>
            <a:r>
              <a:rPr lang="en-US" altLang="zh-CN" dirty="0"/>
              <a:t>topo.py			# Mininet</a:t>
            </a:r>
            <a:r>
              <a:rPr lang="zh-CN" altLang="en-US" dirty="0"/>
              <a:t>拓扑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O</a:t>
            </a:r>
            <a:r>
              <a:rPr lang="en-US" dirty="0">
                <a:sym typeface="+mn-ea"/>
              </a:rPr>
              <a:t>nline Judge(OJ)</a:t>
            </a:r>
            <a:r>
              <a:rPr lang="zh-CN" altLang="en-US" dirty="0">
                <a:sym typeface="+mn-ea"/>
              </a:rPr>
              <a:t>平台使用说明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基本操作</a:t>
            </a:r>
            <a:endParaRPr lang="zh-CN" altLang="en-US" dirty="0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提交代码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网站进入方法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浏览器输入</a:t>
            </a:r>
            <a:r>
              <a:rPr lang="en-US" altLang="zh-CN" sz="2000" dirty="0"/>
              <a:t> http://8.130.165.251:10225/ </a:t>
            </a:r>
            <a:r>
              <a:rPr lang="zh-CN" altLang="en-US" sz="2000" dirty="0"/>
              <a:t>（暂无域名，</a:t>
            </a:r>
            <a:r>
              <a:rPr lang="zh-CN" altLang="en-US" sz="2000" b="1" dirty="0"/>
              <a:t>暂不支持</a:t>
            </a:r>
            <a:r>
              <a:rPr lang="en-US" altLang="zh-CN" sz="2000" b="1" dirty="0"/>
              <a:t>https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若访问失败则考虑是浏览器自动采用</a:t>
            </a:r>
            <a:r>
              <a:rPr lang="en-US" altLang="zh-CN" sz="2000" dirty="0"/>
              <a:t>https</a:t>
            </a:r>
            <a:r>
              <a:rPr lang="zh-CN" altLang="en-US" sz="2000" dirty="0"/>
              <a:t>协议，此时采用</a:t>
            </a:r>
            <a:r>
              <a:rPr lang="en-US" altLang="zh-CN" sz="2000" dirty="0"/>
              <a:t>http</a:t>
            </a:r>
            <a:r>
              <a:rPr lang="zh-CN" altLang="en-US" sz="2000" dirty="0"/>
              <a:t>访问即可，登录界面如下图所示：</a:t>
            </a: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080" y="3470910"/>
            <a:ext cx="5732145" cy="31292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初始用户名：学号；初始密码：</a:t>
            </a:r>
            <a:r>
              <a:rPr lang="en-US" altLang="zh-CN" dirty="0" err="1"/>
              <a:t>ucas</a:t>
            </a:r>
            <a:endParaRPr lang="en-US" altLang="zh-CN" dirty="0"/>
          </a:p>
          <a:p>
            <a:r>
              <a:rPr lang="zh-CN" altLang="en-US" dirty="0"/>
              <a:t>为安全考虑，登录后请尽快修改密码，修改方式如下图所示</a:t>
            </a:r>
            <a:endParaRPr lang="en-US" altLang="zh-CN" dirty="0"/>
          </a:p>
          <a:p>
            <a:r>
              <a:rPr lang="zh-CN" altLang="en-US" dirty="0"/>
              <a:t>如果忘记密码可以联系助教（</a:t>
            </a:r>
            <a:r>
              <a:rPr lang="en-US" altLang="zh-CN" dirty="0"/>
              <a:t>@</a:t>
            </a:r>
            <a:r>
              <a:rPr lang="zh-CN" altLang="zh-CN" dirty="0"/>
              <a:t>黄诗扬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224" y="4152857"/>
            <a:ext cx="7248088" cy="17072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提交代码</a:t>
            </a:r>
            <a:r>
              <a:rPr lang="en-US" altLang="zh-CN" dirty="0"/>
              <a:t> - </a:t>
            </a:r>
            <a:r>
              <a:rPr lang="zh-CN" altLang="en-US" dirty="0"/>
              <a:t>选择实验类型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点击主页即可选择不同的实验进行提交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48" y="3073410"/>
            <a:ext cx="8100880" cy="196820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提交代码前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每次提交作业前请</a:t>
            </a:r>
            <a:r>
              <a:rPr lang="zh-CN" altLang="en-US" b="1" dirty="0"/>
              <a:t>务必</a:t>
            </a:r>
            <a:r>
              <a:rPr lang="zh-CN" altLang="en-US" dirty="0"/>
              <a:t>仔细阅读</a:t>
            </a:r>
            <a:r>
              <a:rPr lang="zh-CN" altLang="en-US" b="1" dirty="0"/>
              <a:t>左侧实验说明</a:t>
            </a:r>
            <a:endParaRPr lang="en-US" altLang="zh-CN" b="1" dirty="0"/>
          </a:p>
          <a:p>
            <a:r>
              <a:rPr lang="zh-CN" altLang="en-US" dirty="0"/>
              <a:t>暂时</a:t>
            </a:r>
            <a:r>
              <a:rPr lang="zh-CN" altLang="en-US" b="1" dirty="0"/>
              <a:t>只支持</a:t>
            </a:r>
            <a:r>
              <a:rPr lang="en-US" altLang="zh-CN" b="1" dirty="0"/>
              <a:t>zip</a:t>
            </a:r>
            <a:r>
              <a:rPr lang="zh-CN" altLang="en-US" dirty="0"/>
              <a:t>格式的文件，请勿多层嵌套</a:t>
            </a:r>
            <a:r>
              <a:rPr lang="en-US" altLang="zh-CN" dirty="0"/>
              <a:t>zip</a:t>
            </a:r>
            <a:endParaRPr lang="en-US" altLang="zh-CN" dirty="0"/>
          </a:p>
          <a:p>
            <a:pPr lvl="1"/>
            <a:r>
              <a:rPr lang="zh-CN" altLang="en-US" dirty="0"/>
              <a:t>打包内容包括：所有</a:t>
            </a:r>
            <a:r>
              <a:rPr lang="en-US" altLang="zh-CN" dirty="0"/>
              <a:t>C</a:t>
            </a:r>
            <a:r>
              <a:rPr lang="zh-CN" altLang="en-US" dirty="0"/>
              <a:t>文件，头文件（</a:t>
            </a:r>
            <a:r>
              <a:rPr lang="en-US" altLang="zh-CN" dirty="0"/>
              <a:t>include</a:t>
            </a:r>
            <a:r>
              <a:rPr lang="zh-CN" altLang="en-US" dirty="0"/>
              <a:t>文件夹，如果有），</a:t>
            </a:r>
            <a:r>
              <a:rPr lang="en-US" altLang="zh-CN" b="1" dirty="0">
                <a:solidFill>
                  <a:srgbClr val="FF0000"/>
                </a:solidFill>
              </a:rPr>
              <a:t>Makefile</a:t>
            </a:r>
            <a:r>
              <a:rPr lang="zh-CN" altLang="en-US" b="1" dirty="0">
                <a:solidFill>
                  <a:srgbClr val="FF0000"/>
                </a:solidFill>
              </a:rPr>
              <a:t>文件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64" y="3700577"/>
            <a:ext cx="8149675" cy="211161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提交代码时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收到作业后，</a:t>
            </a:r>
            <a:r>
              <a:rPr lang="zh-CN" altLang="en-US" dirty="0">
                <a:sym typeface="+mn-ea"/>
              </a:rPr>
              <a:t>判题程序在特定文件夹解压</a:t>
            </a:r>
            <a:r>
              <a:rPr lang="en-US" altLang="zh-CN" dirty="0">
                <a:sym typeface="+mn-ea"/>
              </a:rPr>
              <a:t>zip</a:t>
            </a:r>
            <a:r>
              <a:rPr lang="zh-CN" altLang="en-US" dirty="0">
                <a:sym typeface="+mn-ea"/>
              </a:rPr>
              <a:t>文件，递归遍历寻找Makefile文件，其所在目录为工作目录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/>
              <a:t>提交作业后会自动进行跳转到判题界面，显示正在判题中，此时说明文件已经成功提交至服务器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/>
              <a:t>如果没有自动跳转，可能为网络问题，也可能上传文件过大导致（每次都会有文件大小限制），请</a:t>
            </a:r>
            <a:r>
              <a:rPr lang="zh-CN" altLang="en-US" b="1" dirty="0"/>
              <a:t>耐心等待</a:t>
            </a:r>
            <a:r>
              <a:rPr lang="zh-CN" altLang="en-US" dirty="0"/>
              <a:t>或者</a:t>
            </a:r>
            <a:r>
              <a:rPr lang="zh-CN" altLang="en-US" b="1" dirty="0"/>
              <a:t>刷新后再次尝试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提交代码后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提交作业后显示正在判题中，可以自动刷新出判题结果，若长时间没有变更状态，可以尝试刷新页面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判题结果有三种，原因说明如下：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>
                <a:highlight>
                  <a:srgbClr val="FF0000"/>
                </a:highlight>
              </a:rPr>
              <a:t>执行错误</a:t>
            </a:r>
            <a:r>
              <a:rPr lang="zh-CN" altLang="en-US" dirty="0"/>
              <a:t>：文件中没有</a:t>
            </a:r>
            <a:r>
              <a:rPr lang="en-US" altLang="zh-CN" dirty="0" err="1"/>
              <a:t>Makefile</a:t>
            </a:r>
            <a:r>
              <a:rPr lang="zh-CN" altLang="en-US" dirty="0"/>
              <a:t>；文件格式错误；编译失败等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>
                <a:highlight>
                  <a:srgbClr val="FF0000"/>
                </a:highlight>
              </a:rPr>
              <a:t>解答错误</a:t>
            </a:r>
            <a:r>
              <a:rPr lang="zh-CN" altLang="en-US" dirty="0"/>
              <a:t>：顺利编译但是未能完全解答正确，未通过的在右侧说明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>
                <a:highlight>
                  <a:srgbClr val="008000"/>
                </a:highlight>
              </a:rPr>
              <a:t>通过</a:t>
            </a:r>
            <a:r>
              <a:rPr lang="zh-CN" altLang="en-US" dirty="0"/>
              <a:t>：        顺利完成测试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04950"/>
            <a:ext cx="7886700" cy="3475355"/>
          </a:xfrm>
        </p:spPr>
        <p:txBody>
          <a:bodyPr/>
          <a:lstStyle/>
          <a:p>
            <a:r>
              <a:rPr lang="zh-CN" altLang="en-US" dirty="0"/>
              <a:t>个别实验运行时间较长，建议在本地运行通过之后再提交，如果和本地运行结果有差异请联系</a:t>
            </a:r>
            <a:r>
              <a:rPr lang="zh-CN" altLang="en-US" dirty="0">
                <a:sym typeface="+mn-ea"/>
              </a:rPr>
              <a:t>助教（</a:t>
            </a:r>
            <a:r>
              <a:rPr lang="en-US" altLang="zh-CN" dirty="0">
                <a:sym typeface="+mn-ea"/>
              </a:rPr>
              <a:t>@</a:t>
            </a:r>
            <a:r>
              <a:rPr lang="zh-CN" altLang="en-US" dirty="0">
                <a:sym typeface="+mn-ea"/>
              </a:rPr>
              <a:t>黄诗扬</a:t>
            </a:r>
            <a:r>
              <a:rPr lang="zh-CN" altLang="en-US" dirty="0">
                <a:sym typeface="+mn-ea"/>
              </a:rPr>
              <a:t>）</a:t>
            </a:r>
            <a:endParaRPr lang="en-US" altLang="zh-CN" dirty="0"/>
          </a:p>
          <a:p>
            <a:endParaRPr lang="zh-CN" altLang="en-US" b="1" dirty="0"/>
          </a:p>
          <a:p>
            <a:r>
              <a:rPr lang="zh-CN" altLang="en-US" b="1" dirty="0"/>
              <a:t>系统只保留最后一次提交的作业（</a:t>
            </a:r>
            <a:r>
              <a:rPr lang="zh-CN" altLang="en-US" b="1" u="sng" dirty="0"/>
              <a:t>不论通过与否</a:t>
            </a:r>
            <a:r>
              <a:rPr lang="zh-CN" altLang="en-US" b="1" dirty="0"/>
              <a:t>）和其对应的运行结果，最后一次提交的结果在对应实验的“状态”页面显示</a:t>
            </a:r>
            <a:endParaRPr lang="zh-CN" altLang="en-US" b="1" dirty="0"/>
          </a:p>
          <a:p>
            <a:endParaRPr lang="en-US" altLang="zh-CN" b="1" dirty="0"/>
          </a:p>
          <a:p>
            <a:r>
              <a:rPr lang="zh-CN" altLang="en-US" dirty="0"/>
              <a:t>有任何问题可以联系助教（</a:t>
            </a:r>
            <a:r>
              <a:rPr lang="en-US" altLang="zh-CN" dirty="0"/>
              <a:t>@</a:t>
            </a:r>
            <a:r>
              <a:rPr lang="zh-CN" altLang="en-US" dirty="0"/>
              <a:t>黄诗扬</a:t>
            </a:r>
            <a:r>
              <a:rPr lang="zh-CN" altLang="en-US" dirty="0"/>
              <a:t>）</a:t>
            </a:r>
            <a:endParaRPr lang="zh-CN" altLang="en-US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11d1da8b-26f9-4abc-bf2f-9b37a7847d88}"/>
</p:tagLst>
</file>

<file path=ppt/tags/tag2.xml><?xml version="1.0" encoding="utf-8"?>
<p:tagLst xmlns:p="http://schemas.openxmlformats.org/presentationml/2006/main">
  <p:tag name="KSO_WM_UNIT_PLACING_PICTURE_USER_VIEWPORT" val="{&quot;height&quot;:2280,&quot;width&quot;:18345}"/>
</p:tagLst>
</file>

<file path=ppt/tags/tag3.xml><?xml version="1.0" encoding="utf-8"?>
<p:tagLst xmlns:p="http://schemas.openxmlformats.org/presentationml/2006/main">
  <p:tag name="KSO_WM_UNIT_TABLE_BEAUTIFY" val="smartTable{6eb681c9-e3e2-456c-9583-a3d3ffa85574}"/>
  <p:tag name="TABLE_ENDDRAG_ORIGIN_RECT" val="683*296"/>
  <p:tag name="TABLE_ENDDRAG_RECT" val="17*253*683*296"/>
</p:tagLst>
</file>

<file path=ppt/tags/tag4.xml><?xml version="1.0" encoding="utf-8"?>
<p:tagLst xmlns:p="http://schemas.openxmlformats.org/presentationml/2006/main">
  <p:tag name="KSO_WPP_MARK_KEY" val="1525d71d-e3a6-4e3d-ab44-f34a1448349f"/>
  <p:tag name="COMMONDATA" val="eyJoZGlkIjoiZTllZGQyYTgzMDVhZjVmMWU0ODdmMDlmNGY5MThhMGUifQ=="/>
  <p:tag name="commondata" val="eyJoZGlkIjoiZTAxYTRlZjUyOWI4NjdmNTMxNTQ0MTIwNWZjZmYwMGY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计算机网络课程模板</Template>
  <TotalTime>0</TotalTime>
  <Words>9069</Words>
  <Application>WPS 演示</Application>
  <PresentationFormat>全屏显示(4:3)</PresentationFormat>
  <Paragraphs>823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Arial</vt:lpstr>
      <vt:lpstr>宋体</vt:lpstr>
      <vt:lpstr>Wingdings</vt:lpstr>
      <vt:lpstr>Arial Black</vt:lpstr>
      <vt:lpstr>Times New Roman</vt:lpstr>
      <vt:lpstr>黑体</vt:lpstr>
      <vt:lpstr>Calibri</vt:lpstr>
      <vt:lpstr>微软雅黑</vt:lpstr>
      <vt:lpstr>Tahoma</vt:lpstr>
      <vt:lpstr>楷体</vt:lpstr>
      <vt:lpstr>Courier New</vt:lpstr>
      <vt:lpstr>MS PGothic</vt:lpstr>
      <vt:lpstr>Times</vt:lpstr>
      <vt:lpstr>Calibri</vt:lpstr>
      <vt:lpstr>Arial Unicode MS</vt:lpstr>
      <vt:lpstr>Pixel</vt:lpstr>
      <vt:lpstr>自定义设计方案</vt:lpstr>
      <vt:lpstr>Socket应用编程实验</vt:lpstr>
      <vt:lpstr>提纲</vt:lpstr>
      <vt:lpstr>Web</vt:lpstr>
      <vt:lpstr>HTTP协议</vt:lpstr>
      <vt:lpstr>HTTP请求 (Request)</vt:lpstr>
      <vt:lpstr>HTTP请求行</vt:lpstr>
      <vt:lpstr>HTTP请求头部</vt:lpstr>
      <vt:lpstr>HTTP应答 (Response)</vt:lpstr>
      <vt:lpstr>HTTP状态码</vt:lpstr>
      <vt:lpstr>如何标识应答结束?</vt:lpstr>
      <vt:lpstr>HTTP分块传输</vt:lpstr>
      <vt:lpstr>提升HTTP性能</vt:lpstr>
      <vt:lpstr>HTTP持久连接（HTTP/1.0）</vt:lpstr>
      <vt:lpstr>HTTP管道 (pipelining)（HTTP/1.1）</vt:lpstr>
      <vt:lpstr>HTTP多路复用（HTTP/2.0）</vt:lpstr>
      <vt:lpstr>HTTP over QUIC（HTTP/3.0）</vt:lpstr>
      <vt:lpstr>HTTPS</vt:lpstr>
      <vt:lpstr>非对称加密</vt:lpstr>
      <vt:lpstr>公钥认证 (证书体系)</vt:lpstr>
      <vt:lpstr>SSL/TLS概览</vt:lpstr>
      <vt:lpstr>生成自签名证书</vt:lpstr>
      <vt:lpstr>查看证书</vt:lpstr>
      <vt:lpstr>使用公钥/私钥进行加/解密数据</vt:lpstr>
      <vt:lpstr>Socket API</vt:lpstr>
      <vt:lpstr>Socket调用流程</vt:lpstr>
      <vt:lpstr>一、建立socket文件描述符</vt:lpstr>
      <vt:lpstr>二、将socket文件描述符与监听地址绑定</vt:lpstr>
      <vt:lpstr>三、进行监听</vt:lpstr>
      <vt:lpstr>四、接受连接请求</vt:lpstr>
      <vt:lpstr>五、申请建立连接</vt:lpstr>
      <vt:lpstr>六、数据传输</vt:lpstr>
      <vt:lpstr>网络字节序与本地字节序</vt:lpstr>
      <vt:lpstr>七、处理并发服务请求</vt:lpstr>
      <vt:lpstr>八、Socket使用SSL/TLS通信</vt:lpstr>
      <vt:lpstr>八、Socket使用SSL/TLS通信（续）</vt:lpstr>
      <vt:lpstr>HTTP服务器实验</vt:lpstr>
      <vt:lpstr>实验流程</vt:lpstr>
      <vt:lpstr>提交作业</vt:lpstr>
      <vt:lpstr>附件文件列表</vt:lpstr>
      <vt:lpstr>Online Judge(OJ)平台使用说明</vt:lpstr>
      <vt:lpstr>网站进入方法</vt:lpstr>
      <vt:lpstr>注意事项</vt:lpstr>
      <vt:lpstr>提交代码 - 选择实验类型</vt:lpstr>
      <vt:lpstr>提交代码前</vt:lpstr>
      <vt:lpstr>提交代码时</vt:lpstr>
      <vt:lpstr>提交代码后</vt:lpstr>
      <vt:lpstr>提示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Qinghua</dc:creator>
  <cp:lastModifiedBy>Qinghua</cp:lastModifiedBy>
  <cp:revision>1428</cp:revision>
  <dcterms:created xsi:type="dcterms:W3CDTF">2017-02-15T05:09:00Z</dcterms:created>
  <dcterms:modified xsi:type="dcterms:W3CDTF">2026-09-10T00:19:17Z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2929A7B1F4564EAE843E9E1F17A20296</vt:lpwstr>
  </property>
  <property fmtid="{D5CDD505-2E9C-101B-9397-08002B2CF9AE}" pid="3" name="KSOProductBuildVer">
    <vt:lpwstr>2052-12.1.0.28505</vt:lpwstr>
  </property>
</Properties>
</file>