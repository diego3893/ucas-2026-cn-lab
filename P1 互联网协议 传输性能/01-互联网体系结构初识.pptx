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drawings/drawing1.xml" ContentType="application/vnd.openxmlformats-officedocument.drawingml.chartshap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72"/>
  </p:handoutMasterIdLst>
  <p:sldIdLst>
    <p:sldId id="256" r:id="rId4"/>
    <p:sldId id="295" r:id="rId6"/>
    <p:sldId id="258" r:id="rId7"/>
    <p:sldId id="313" r:id="rId8"/>
    <p:sldId id="312" r:id="rId9"/>
    <p:sldId id="261" r:id="rId10"/>
    <p:sldId id="309" r:id="rId11"/>
    <p:sldId id="310" r:id="rId12"/>
    <p:sldId id="311" r:id="rId13"/>
    <p:sldId id="262" r:id="rId14"/>
    <p:sldId id="279" r:id="rId15"/>
    <p:sldId id="284" r:id="rId16"/>
    <p:sldId id="291" r:id="rId17"/>
    <p:sldId id="285" r:id="rId18"/>
    <p:sldId id="263" r:id="rId19"/>
    <p:sldId id="264" r:id="rId20"/>
    <p:sldId id="277" r:id="rId21"/>
    <p:sldId id="265" r:id="rId22"/>
    <p:sldId id="300" r:id="rId23"/>
    <p:sldId id="304" r:id="rId24"/>
    <p:sldId id="305" r:id="rId25"/>
    <p:sldId id="271" r:id="rId26"/>
    <p:sldId id="294" r:id="rId27"/>
    <p:sldId id="268" r:id="rId28"/>
    <p:sldId id="267" r:id="rId29"/>
    <p:sldId id="278" r:id="rId30"/>
    <p:sldId id="308" r:id="rId31"/>
    <p:sldId id="274" r:id="rId32"/>
    <p:sldId id="275" r:id="rId33"/>
    <p:sldId id="283" r:id="rId34"/>
    <p:sldId id="293" r:id="rId35"/>
    <p:sldId id="306" r:id="rId36"/>
    <p:sldId id="286" r:id="rId37"/>
    <p:sldId id="296" r:id="rId38"/>
    <p:sldId id="297" r:id="rId39"/>
    <p:sldId id="287" r:id="rId40"/>
    <p:sldId id="288" r:id="rId41"/>
    <p:sldId id="290" r:id="rId42"/>
    <p:sldId id="298" r:id="rId43"/>
    <p:sldId id="289" r:id="rId44"/>
    <p:sldId id="299" r:id="rId45"/>
    <p:sldId id="354" r:id="rId46"/>
    <p:sldId id="355" r:id="rId47"/>
    <p:sldId id="356" r:id="rId48"/>
    <p:sldId id="357" r:id="rId49"/>
    <p:sldId id="358" r:id="rId50"/>
    <p:sldId id="359" r:id="rId51"/>
    <p:sldId id="360" r:id="rId52"/>
    <p:sldId id="361" r:id="rId53"/>
    <p:sldId id="362" r:id="rId54"/>
    <p:sldId id="363" r:id="rId55"/>
    <p:sldId id="364" r:id="rId56"/>
    <p:sldId id="365" r:id="rId57"/>
    <p:sldId id="366" r:id="rId58"/>
    <p:sldId id="367" r:id="rId59"/>
    <p:sldId id="368" r:id="rId60"/>
    <p:sldId id="369" r:id="rId61"/>
    <p:sldId id="370" r:id="rId62"/>
    <p:sldId id="371" r:id="rId63"/>
    <p:sldId id="372" r:id="rId64"/>
    <p:sldId id="373" r:id="rId65"/>
    <p:sldId id="377" r:id="rId66"/>
    <p:sldId id="378" r:id="rId67"/>
    <p:sldId id="381" r:id="rId68"/>
    <p:sldId id="379" r:id="rId69"/>
    <p:sldId id="380" r:id="rId70"/>
    <p:sldId id="353" r:id="rId71"/>
  </p:sldIdLst>
  <p:sldSz cx="9144000" cy="6858000" type="screen4x3"/>
  <p:notesSz cx="6858000" cy="9144000"/>
  <p:custDataLst>
    <p:tags r:id="rId7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409" autoAdjust="0"/>
  </p:normalViewPr>
  <p:slideViewPr>
    <p:cSldViewPr snapToGrid="0">
      <p:cViewPr varScale="1">
        <p:scale>
          <a:sx n="66" d="100"/>
          <a:sy n="66" d="100"/>
        </p:scale>
        <p:origin x="18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6" Type="http://schemas.openxmlformats.org/officeDocument/2006/relationships/tags" Target="tags/tag5.xml"/><Relationship Id="rId75" Type="http://schemas.openxmlformats.org/officeDocument/2006/relationships/tableStyles" Target="tableStyles.xml"/><Relationship Id="rId74" Type="http://schemas.openxmlformats.org/officeDocument/2006/relationships/viewProps" Target="viewProps.xml"/><Relationship Id="rId73" Type="http://schemas.openxmlformats.org/officeDocument/2006/relationships/presProps" Target="presProps.xml"/><Relationship Id="rId72" Type="http://schemas.openxmlformats.org/officeDocument/2006/relationships/handoutMaster" Target="handoutMasters/handoutMaster1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cer\Desktop\&#24320;&#39064;\&#30011;&#22270;.xlsx" TargetMode="External"/></Relationships>
</file>

<file path=ppt/charts/_rels/chart2.xml.rels><?xml version="1.0" encoding="UTF-8" standalone="yes"?>
<Relationships xmlns="http://schemas.openxmlformats.org/package/2006/relationships"><Relationship Id="rId4" Type="http://schemas.microsoft.com/office/2011/relationships/chartColorStyle" Target="colors1.xml"/><Relationship Id="rId3" Type="http://schemas.microsoft.com/office/2011/relationships/chartStyle" Target="style1.xml"/><Relationship Id="rId2" Type="http://schemas.openxmlformats.org/officeDocument/2006/relationships/chartUserShapes" Target="../drawings/drawing1.xml"/><Relationship Id="rId1" Type="http://schemas.openxmlformats.org/officeDocument/2006/relationships/oleObject" Target="/Users\zhoujianer\Documents\other\2015CoNEXT&#24320;&#20250;\stall-example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92861308918277"/>
          <c:y val="0.0331379598147401"/>
          <c:w val="0.872816276703967"/>
          <c:h val="0.705481261929358"/>
        </c:manualLayout>
      </c:layout>
      <c:lineChart>
        <c:grouping val="standard"/>
        <c:varyColors val="0"/>
        <c:ser>
          <c:idx val="0"/>
          <c:order val="0"/>
          <c:tx>
            <c:strRef>
              <c:f>RTT=2ms</c:f>
              <c:strCache>
                <c:ptCount val="1"/>
                <c:pt idx="0">
                  <c:v>RTT=2ms</c:v>
                </c:pt>
              </c:strCache>
            </c:strRef>
          </c:tx>
          <c:spPr>
            <a:ln w="28575" cap="rnd" cmpd="sng" algn="ctr">
              <a:solidFill>
                <a:schemeClr val="accent1">
                  <a:shade val="65000"/>
                  <a:shade val="95000"/>
                  <a:satMod val="105000"/>
                </a:schemeClr>
              </a:solidFill>
              <a:prstDash val="solid"/>
              <a:round/>
            </a:ln>
            <a:effectLst/>
          </c:spPr>
          <c:marker>
            <c:spPr>
              <a:solidFill>
                <a:schemeClr val="accent1">
                  <a:shade val="65000"/>
                </a:schemeClr>
              </a:solidFill>
              <a:ln w="9525" cap="flat" cmpd="sng" algn="ctr">
                <a:solidFill>
                  <a:schemeClr val="accent1">
                    <a:shade val="65000"/>
                    <a:shade val="95000"/>
                    <a:satMod val="105000"/>
                  </a:schemeClr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numRef>
              <c:f>{0.0001,0.001,0.01,0.1,1,10}</c:f>
              <c:numCache>
                <c:formatCode>General</c:formatCode>
                <c:ptCount val="6"/>
                <c:pt idx="0">
                  <c:v>0.0001</c:v>
                </c:pt>
                <c:pt idx="1">
                  <c:v>0.001</c:v>
                </c:pt>
                <c:pt idx="2">
                  <c:v>0.01</c:v>
                </c:pt>
                <c:pt idx="3">
                  <c:v>0.1</c:v>
                </c:pt>
                <c:pt idx="4">
                  <c:v>1</c:v>
                </c:pt>
                <c:pt idx="5">
                  <c:v>10</c:v>
                </c:pt>
              </c:numCache>
            </c:numRef>
          </c:cat>
          <c:val>
            <c:numRef>
              <c:f>{75,23,15,9,7,6}</c:f>
              <c:numCache>
                <c:formatCode>General</c:formatCode>
                <c:ptCount val="6"/>
                <c:pt idx="0">
                  <c:v>75</c:v>
                </c:pt>
                <c:pt idx="1">
                  <c:v>23</c:v>
                </c:pt>
                <c:pt idx="2">
                  <c:v>15</c:v>
                </c:pt>
                <c:pt idx="3">
                  <c:v>9</c:v>
                </c:pt>
                <c:pt idx="4">
                  <c:v>7</c:v>
                </c:pt>
                <c:pt idx="5">
                  <c:v>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RTT=10ms</c:f>
              <c:strCache>
                <c:ptCount val="1"/>
                <c:pt idx="0">
                  <c:v>RTT=10ms</c:v>
                </c:pt>
              </c:strCache>
            </c:strRef>
          </c:tx>
          <c:spPr>
            <a:ln w="28575" cap="rnd" cmpd="sng" algn="ctr">
              <a:solidFill>
                <a:schemeClr val="accent1">
                  <a:shade val="95000"/>
                  <a:satMod val="105000"/>
                </a:schemeClr>
              </a:solidFill>
              <a:prstDash val="solid"/>
              <a:round/>
            </a:ln>
            <a:effectLst/>
          </c:spPr>
          <c:marker>
            <c:spPr>
              <a:solidFill>
                <a:schemeClr val="accent1"/>
              </a:solidFill>
              <a:ln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numRef>
              <c:f>{0.0001,0.001,0.01,0.1,1,10}</c:f>
              <c:numCache>
                <c:formatCode>General</c:formatCode>
                <c:ptCount val="6"/>
                <c:pt idx="0">
                  <c:v>0.0001</c:v>
                </c:pt>
                <c:pt idx="1">
                  <c:v>0.001</c:v>
                </c:pt>
                <c:pt idx="2">
                  <c:v>0.01</c:v>
                </c:pt>
                <c:pt idx="3">
                  <c:v>0.1</c:v>
                </c:pt>
                <c:pt idx="4">
                  <c:v>1</c:v>
                </c:pt>
                <c:pt idx="5">
                  <c:v>10</c:v>
                </c:pt>
              </c:numCache>
            </c:numRef>
          </c:cat>
          <c:val>
            <c:numRef>
              <c:f>{20,13,7,5,3.5,3}</c:f>
              <c:numCache>
                <c:formatCode>General</c:formatCode>
                <c:ptCount val="6"/>
                <c:pt idx="0">
                  <c:v>20</c:v>
                </c:pt>
                <c:pt idx="1">
                  <c:v>13</c:v>
                </c:pt>
                <c:pt idx="2">
                  <c:v>7</c:v>
                </c:pt>
                <c:pt idx="3">
                  <c:v>5</c:v>
                </c:pt>
                <c:pt idx="4">
                  <c:v>3.5</c:v>
                </c:pt>
                <c:pt idx="5">
                  <c:v>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RTT=50ms</c:f>
              <c:strCache>
                <c:ptCount val="1"/>
                <c:pt idx="0">
                  <c:v>RTT=50ms</c:v>
                </c:pt>
              </c:strCache>
            </c:strRef>
          </c:tx>
          <c:spPr>
            <a:ln w="28575" cap="rnd" cmpd="sng" algn="ctr">
              <a:solidFill>
                <a:schemeClr val="accent1">
                  <a:tint val="65000"/>
                  <a:shade val="95000"/>
                  <a:satMod val="105000"/>
                </a:schemeClr>
              </a:solidFill>
              <a:prstDash val="solid"/>
              <a:round/>
            </a:ln>
            <a:effectLst/>
          </c:spPr>
          <c:marker>
            <c:spPr>
              <a:solidFill>
                <a:schemeClr val="accent1">
                  <a:tint val="65000"/>
                </a:schemeClr>
              </a:solidFill>
              <a:ln w="9525" cap="flat" cmpd="sng" algn="ctr">
                <a:solidFill>
                  <a:schemeClr val="accent1">
                    <a:tint val="65000"/>
                    <a:shade val="95000"/>
                    <a:satMod val="105000"/>
                  </a:schemeClr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numRef>
              <c:f>{0.0001,0.001,0.01,0.1,1,10}</c:f>
              <c:numCache>
                <c:formatCode>General</c:formatCode>
                <c:ptCount val="6"/>
                <c:pt idx="0">
                  <c:v>0.0001</c:v>
                </c:pt>
                <c:pt idx="1">
                  <c:v>0.001</c:v>
                </c:pt>
                <c:pt idx="2">
                  <c:v>0.01</c:v>
                </c:pt>
                <c:pt idx="3">
                  <c:v>0.1</c:v>
                </c:pt>
                <c:pt idx="4">
                  <c:v>1</c:v>
                </c:pt>
                <c:pt idx="5">
                  <c:v>10</c:v>
                </c:pt>
              </c:numCache>
            </c:numRef>
          </c:cat>
          <c:val>
            <c:numRef>
              <c:f>{8,5,3.5,3,3,3}</c:f>
              <c:numCache>
                <c:formatCode>General</c:formatCode>
                <c:ptCount val="6"/>
                <c:pt idx="0">
                  <c:v>8</c:v>
                </c:pt>
                <c:pt idx="1">
                  <c:v>5</c:v>
                </c:pt>
                <c:pt idx="2">
                  <c:v>3.5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456631440"/>
        <c:axId val="-456643408"/>
      </c:lineChart>
      <c:catAx>
        <c:axId val="-456631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456643408"/>
        <c:crosses val="autoZero"/>
        <c:auto val="1"/>
        <c:lblAlgn val="ctr"/>
        <c:lblOffset val="100"/>
        <c:noMultiLvlLbl val="0"/>
      </c:catAx>
      <c:valAx>
        <c:axId val="-456643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tint val="75000"/>
                  <a:shade val="95000"/>
                  <a:satMod val="10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456631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f3b17bd-a79f-49bf-bc44-cddf14de680e}"/>
      </c:ext>
    </c:extLst>
  </c:chart>
  <c:spPr>
    <a:noFill/>
    <a:ln w="0" cap="flat" cmpd="sng" algn="ctr">
      <a:noFill/>
      <a:prstDash val="solid"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2188460541421"/>
          <c:y val="0.031893318437869"/>
          <c:w val="0.788152887139107"/>
          <c:h val="0.69643933110231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seq</c:v>
                </c:pt>
              </c:strCache>
            </c:strRef>
          </c:tx>
          <c:spPr>
            <a:ln w="317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dLbls>
            <c:delete val="1"/>
          </c:dLbls>
          <c:xVal>
            <c:numRef>
              <c:f>Sheet1!$A$2:$A$215</c:f>
              <c:numCache>
                <c:formatCode>General</c:formatCode>
                <c:ptCount val="214"/>
                <c:pt idx="0">
                  <c:v>0.1</c:v>
                </c:pt>
                <c:pt idx="1">
                  <c:v>0.11</c:v>
                </c:pt>
                <c:pt idx="2">
                  <c:v>0.12</c:v>
                </c:pt>
                <c:pt idx="3">
                  <c:v>0.13</c:v>
                </c:pt>
                <c:pt idx="4">
                  <c:v>0.14</c:v>
                </c:pt>
                <c:pt idx="5">
                  <c:v>0.15</c:v>
                </c:pt>
                <c:pt idx="6">
                  <c:v>0.16</c:v>
                </c:pt>
                <c:pt idx="7">
                  <c:v>0.17</c:v>
                </c:pt>
                <c:pt idx="8">
                  <c:v>0.18</c:v>
                </c:pt>
                <c:pt idx="9">
                  <c:v>0.19</c:v>
                </c:pt>
                <c:pt idx="10">
                  <c:v>0.2</c:v>
                </c:pt>
                <c:pt idx="11">
                  <c:v>0.21</c:v>
                </c:pt>
                <c:pt idx="12">
                  <c:v>0.22</c:v>
                </c:pt>
                <c:pt idx="13">
                  <c:v>0.23</c:v>
                </c:pt>
                <c:pt idx="14">
                  <c:v>0.24</c:v>
                </c:pt>
                <c:pt idx="15">
                  <c:v>0.25</c:v>
                </c:pt>
                <c:pt idx="16">
                  <c:v>0.26</c:v>
                </c:pt>
                <c:pt idx="17">
                  <c:v>0.27</c:v>
                </c:pt>
                <c:pt idx="18">
                  <c:v>0.28</c:v>
                </c:pt>
                <c:pt idx="19">
                  <c:v>0.29</c:v>
                </c:pt>
                <c:pt idx="20">
                  <c:v>0.3</c:v>
                </c:pt>
                <c:pt idx="21">
                  <c:v>0.31</c:v>
                </c:pt>
                <c:pt idx="22">
                  <c:v>0.32</c:v>
                </c:pt>
                <c:pt idx="23">
                  <c:v>0.33</c:v>
                </c:pt>
                <c:pt idx="24">
                  <c:v>0.34</c:v>
                </c:pt>
                <c:pt idx="25">
                  <c:v>0.35</c:v>
                </c:pt>
                <c:pt idx="26">
                  <c:v>0.36</c:v>
                </c:pt>
                <c:pt idx="27">
                  <c:v>0.37</c:v>
                </c:pt>
                <c:pt idx="28">
                  <c:v>0.38</c:v>
                </c:pt>
                <c:pt idx="29">
                  <c:v>0.39</c:v>
                </c:pt>
                <c:pt idx="30">
                  <c:v>0.4</c:v>
                </c:pt>
                <c:pt idx="31">
                  <c:v>0.42</c:v>
                </c:pt>
                <c:pt idx="32">
                  <c:v>0.43</c:v>
                </c:pt>
                <c:pt idx="33">
                  <c:v>0.44</c:v>
                </c:pt>
                <c:pt idx="34">
                  <c:v>0.45</c:v>
                </c:pt>
                <c:pt idx="35">
                  <c:v>0.46</c:v>
                </c:pt>
                <c:pt idx="36">
                  <c:v>0.47</c:v>
                </c:pt>
                <c:pt idx="37">
                  <c:v>0.48</c:v>
                </c:pt>
                <c:pt idx="38">
                  <c:v>0.49</c:v>
                </c:pt>
                <c:pt idx="39">
                  <c:v>0.5</c:v>
                </c:pt>
                <c:pt idx="40">
                  <c:v>0.6</c:v>
                </c:pt>
                <c:pt idx="41">
                  <c:v>0.61</c:v>
                </c:pt>
                <c:pt idx="42">
                  <c:v>0.62</c:v>
                </c:pt>
                <c:pt idx="43">
                  <c:v>0.63</c:v>
                </c:pt>
                <c:pt idx="44">
                  <c:v>0.64</c:v>
                </c:pt>
                <c:pt idx="45">
                  <c:v>0.65</c:v>
                </c:pt>
                <c:pt idx="46">
                  <c:v>0.66</c:v>
                </c:pt>
                <c:pt idx="47">
                  <c:v>0.67</c:v>
                </c:pt>
                <c:pt idx="48">
                  <c:v>0.68</c:v>
                </c:pt>
                <c:pt idx="49">
                  <c:v>0.69</c:v>
                </c:pt>
                <c:pt idx="50">
                  <c:v>0.7</c:v>
                </c:pt>
                <c:pt idx="51">
                  <c:v>0.72</c:v>
                </c:pt>
                <c:pt idx="52">
                  <c:v>0.73</c:v>
                </c:pt>
                <c:pt idx="53">
                  <c:v>0.74</c:v>
                </c:pt>
                <c:pt idx="54">
                  <c:v>0.75</c:v>
                </c:pt>
                <c:pt idx="55">
                  <c:v>0.76</c:v>
                </c:pt>
                <c:pt idx="56">
                  <c:v>0.77</c:v>
                </c:pt>
                <c:pt idx="57">
                  <c:v>0.78</c:v>
                </c:pt>
                <c:pt idx="58">
                  <c:v>0.79</c:v>
                </c:pt>
                <c:pt idx="59">
                  <c:v>0.95</c:v>
                </c:pt>
                <c:pt idx="60">
                  <c:v>0.96</c:v>
                </c:pt>
                <c:pt idx="61">
                  <c:v>0.97</c:v>
                </c:pt>
                <c:pt idx="62">
                  <c:v>0.98</c:v>
                </c:pt>
                <c:pt idx="63">
                  <c:v>0.99</c:v>
                </c:pt>
                <c:pt idx="64">
                  <c:v>1</c:v>
                </c:pt>
                <c:pt idx="65">
                  <c:v>1.01</c:v>
                </c:pt>
                <c:pt idx="66">
                  <c:v>1.02</c:v>
                </c:pt>
                <c:pt idx="67">
                  <c:v>1.03</c:v>
                </c:pt>
                <c:pt idx="68">
                  <c:v>1.04</c:v>
                </c:pt>
                <c:pt idx="69">
                  <c:v>1.05</c:v>
                </c:pt>
                <c:pt idx="70">
                  <c:v>1.06</c:v>
                </c:pt>
                <c:pt idx="71">
                  <c:v>1.08</c:v>
                </c:pt>
                <c:pt idx="72">
                  <c:v>1.09</c:v>
                </c:pt>
                <c:pt idx="73">
                  <c:v>1.1</c:v>
                </c:pt>
                <c:pt idx="74">
                  <c:v>1.11</c:v>
                </c:pt>
                <c:pt idx="75">
                  <c:v>1.12</c:v>
                </c:pt>
                <c:pt idx="76">
                  <c:v>1.13</c:v>
                </c:pt>
                <c:pt idx="77">
                  <c:v>1.14</c:v>
                </c:pt>
                <c:pt idx="78">
                  <c:v>1.15</c:v>
                </c:pt>
                <c:pt idx="79">
                  <c:v>1.16</c:v>
                </c:pt>
                <c:pt idx="80">
                  <c:v>1.17</c:v>
                </c:pt>
                <c:pt idx="81">
                  <c:v>1.18</c:v>
                </c:pt>
                <c:pt idx="82">
                  <c:v>1.19</c:v>
                </c:pt>
                <c:pt idx="83">
                  <c:v>1.2</c:v>
                </c:pt>
                <c:pt idx="84">
                  <c:v>1.21</c:v>
                </c:pt>
                <c:pt idx="85">
                  <c:v>1.22</c:v>
                </c:pt>
                <c:pt idx="86">
                  <c:v>1.23</c:v>
                </c:pt>
                <c:pt idx="87">
                  <c:v>1.24</c:v>
                </c:pt>
                <c:pt idx="88">
                  <c:v>1.25</c:v>
                </c:pt>
                <c:pt idx="89">
                  <c:v>1.26</c:v>
                </c:pt>
                <c:pt idx="90">
                  <c:v>1.27</c:v>
                </c:pt>
                <c:pt idx="91">
                  <c:v>1.29</c:v>
                </c:pt>
                <c:pt idx="92">
                  <c:v>1.3</c:v>
                </c:pt>
                <c:pt idx="93">
                  <c:v>1.31</c:v>
                </c:pt>
                <c:pt idx="94">
                  <c:v>1.32</c:v>
                </c:pt>
                <c:pt idx="95">
                  <c:v>1.33</c:v>
                </c:pt>
                <c:pt idx="96">
                  <c:v>1.34</c:v>
                </c:pt>
                <c:pt idx="97">
                  <c:v>1.35</c:v>
                </c:pt>
                <c:pt idx="98">
                  <c:v>1.36</c:v>
                </c:pt>
                <c:pt idx="99">
                  <c:v>1.8</c:v>
                </c:pt>
                <c:pt idx="100">
                  <c:v>1.81</c:v>
                </c:pt>
                <c:pt idx="101">
                  <c:v>1.82</c:v>
                </c:pt>
                <c:pt idx="102">
                  <c:v>1.83</c:v>
                </c:pt>
                <c:pt idx="103">
                  <c:v>1.85</c:v>
                </c:pt>
                <c:pt idx="104">
                  <c:v>1.86</c:v>
                </c:pt>
                <c:pt idx="105">
                  <c:v>1.87</c:v>
                </c:pt>
                <c:pt idx="106">
                  <c:v>1.88</c:v>
                </c:pt>
                <c:pt idx="107">
                  <c:v>1.89</c:v>
                </c:pt>
                <c:pt idx="108">
                  <c:v>1.9</c:v>
                </c:pt>
                <c:pt idx="109">
                  <c:v>1.91</c:v>
                </c:pt>
                <c:pt idx="110">
                  <c:v>1.92</c:v>
                </c:pt>
                <c:pt idx="111">
                  <c:v>1.93</c:v>
                </c:pt>
                <c:pt idx="112">
                  <c:v>1.94</c:v>
                </c:pt>
                <c:pt idx="113">
                  <c:v>1.95</c:v>
                </c:pt>
                <c:pt idx="114">
                  <c:v>1.96</c:v>
                </c:pt>
                <c:pt idx="115">
                  <c:v>1.97</c:v>
                </c:pt>
                <c:pt idx="116">
                  <c:v>1.98</c:v>
                </c:pt>
                <c:pt idx="117">
                  <c:v>1.99</c:v>
                </c:pt>
                <c:pt idx="118">
                  <c:v>2</c:v>
                </c:pt>
                <c:pt idx="119">
                  <c:v>2.01</c:v>
                </c:pt>
                <c:pt idx="120">
                  <c:v>2.02</c:v>
                </c:pt>
                <c:pt idx="121">
                  <c:v>2.03</c:v>
                </c:pt>
                <c:pt idx="122">
                  <c:v>2.04</c:v>
                </c:pt>
                <c:pt idx="123">
                  <c:v>2.06</c:v>
                </c:pt>
                <c:pt idx="124">
                  <c:v>2.07</c:v>
                </c:pt>
                <c:pt idx="125">
                  <c:v>2.08</c:v>
                </c:pt>
                <c:pt idx="126">
                  <c:v>2.09</c:v>
                </c:pt>
                <c:pt idx="127">
                  <c:v>2.1</c:v>
                </c:pt>
                <c:pt idx="128">
                  <c:v>2.11</c:v>
                </c:pt>
                <c:pt idx="129">
                  <c:v>2.12</c:v>
                </c:pt>
                <c:pt idx="130">
                  <c:v>2.13</c:v>
                </c:pt>
                <c:pt idx="131">
                  <c:v>2.3</c:v>
                </c:pt>
                <c:pt idx="132">
                  <c:v>2.31</c:v>
                </c:pt>
                <c:pt idx="133">
                  <c:v>2.31</c:v>
                </c:pt>
                <c:pt idx="134">
                  <c:v>2.33</c:v>
                </c:pt>
                <c:pt idx="135">
                  <c:v>2.34</c:v>
                </c:pt>
                <c:pt idx="136">
                  <c:v>2.35</c:v>
                </c:pt>
                <c:pt idx="137">
                  <c:v>2.36</c:v>
                </c:pt>
                <c:pt idx="138">
                  <c:v>2.37</c:v>
                </c:pt>
                <c:pt idx="139">
                  <c:v>2.38</c:v>
                </c:pt>
                <c:pt idx="140">
                  <c:v>3.8</c:v>
                </c:pt>
                <c:pt idx="141">
                  <c:v>3.83</c:v>
                </c:pt>
                <c:pt idx="142">
                  <c:v>5.8</c:v>
                </c:pt>
                <c:pt idx="143">
                  <c:v>5.81</c:v>
                </c:pt>
                <c:pt idx="144">
                  <c:v>5.82</c:v>
                </c:pt>
                <c:pt idx="145">
                  <c:v>5.83</c:v>
                </c:pt>
                <c:pt idx="146">
                  <c:v>5.84</c:v>
                </c:pt>
                <c:pt idx="147">
                  <c:v>5.85</c:v>
                </c:pt>
                <c:pt idx="148">
                  <c:v>5.86</c:v>
                </c:pt>
                <c:pt idx="149">
                  <c:v>5.87</c:v>
                </c:pt>
                <c:pt idx="150">
                  <c:v>5.88</c:v>
                </c:pt>
                <c:pt idx="151">
                  <c:v>5.89</c:v>
                </c:pt>
                <c:pt idx="152">
                  <c:v>5.9</c:v>
                </c:pt>
                <c:pt idx="153">
                  <c:v>5.91</c:v>
                </c:pt>
                <c:pt idx="154">
                  <c:v>5.92</c:v>
                </c:pt>
                <c:pt idx="155">
                  <c:v>5.93</c:v>
                </c:pt>
                <c:pt idx="156">
                  <c:v>5.94</c:v>
                </c:pt>
                <c:pt idx="157">
                  <c:v>5.95</c:v>
                </c:pt>
                <c:pt idx="158">
                  <c:v>5.96</c:v>
                </c:pt>
                <c:pt idx="159">
                  <c:v>5.97</c:v>
                </c:pt>
                <c:pt idx="160">
                  <c:v>5.98</c:v>
                </c:pt>
                <c:pt idx="161">
                  <c:v>5.99</c:v>
                </c:pt>
                <c:pt idx="162">
                  <c:v>6</c:v>
                </c:pt>
                <c:pt idx="163">
                  <c:v>6.02</c:v>
                </c:pt>
                <c:pt idx="164">
                  <c:v>6.03</c:v>
                </c:pt>
                <c:pt idx="165">
                  <c:v>6.04</c:v>
                </c:pt>
                <c:pt idx="166">
                  <c:v>6.05</c:v>
                </c:pt>
                <c:pt idx="167">
                  <c:v>6.06</c:v>
                </c:pt>
                <c:pt idx="168">
                  <c:v>6.07</c:v>
                </c:pt>
                <c:pt idx="169">
                  <c:v>6.08</c:v>
                </c:pt>
                <c:pt idx="170">
                  <c:v>6.09</c:v>
                </c:pt>
                <c:pt idx="171">
                  <c:v>6.3</c:v>
                </c:pt>
                <c:pt idx="172">
                  <c:v>6.5</c:v>
                </c:pt>
                <c:pt idx="173">
                  <c:v>7</c:v>
                </c:pt>
                <c:pt idx="174">
                  <c:v>7.5</c:v>
                </c:pt>
                <c:pt idx="175">
                  <c:v>7.51</c:v>
                </c:pt>
                <c:pt idx="176">
                  <c:v>7.52</c:v>
                </c:pt>
                <c:pt idx="177">
                  <c:v>7.53</c:v>
                </c:pt>
                <c:pt idx="178">
                  <c:v>7.54</c:v>
                </c:pt>
                <c:pt idx="179">
                  <c:v>7.55</c:v>
                </c:pt>
                <c:pt idx="180">
                  <c:v>7.56</c:v>
                </c:pt>
                <c:pt idx="181">
                  <c:v>8.1</c:v>
                </c:pt>
                <c:pt idx="182">
                  <c:v>8.11</c:v>
                </c:pt>
                <c:pt idx="183">
                  <c:v>8.12</c:v>
                </c:pt>
                <c:pt idx="184">
                  <c:v>8.13</c:v>
                </c:pt>
                <c:pt idx="185">
                  <c:v>8.14</c:v>
                </c:pt>
                <c:pt idx="186">
                  <c:v>8.15</c:v>
                </c:pt>
                <c:pt idx="187">
                  <c:v>8.16</c:v>
                </c:pt>
                <c:pt idx="188">
                  <c:v>8.17</c:v>
                </c:pt>
                <c:pt idx="189">
                  <c:v>8.18</c:v>
                </c:pt>
                <c:pt idx="190">
                  <c:v>8.19</c:v>
                </c:pt>
                <c:pt idx="191">
                  <c:v>8.2</c:v>
                </c:pt>
                <c:pt idx="192">
                  <c:v>8.21</c:v>
                </c:pt>
                <c:pt idx="193">
                  <c:v>8.22</c:v>
                </c:pt>
                <c:pt idx="194">
                  <c:v>8.23</c:v>
                </c:pt>
                <c:pt idx="195">
                  <c:v>8.24</c:v>
                </c:pt>
                <c:pt idx="196">
                  <c:v>8.25</c:v>
                </c:pt>
                <c:pt idx="197">
                  <c:v>8.27</c:v>
                </c:pt>
                <c:pt idx="198">
                  <c:v>8.28</c:v>
                </c:pt>
                <c:pt idx="199">
                  <c:v>8.29</c:v>
                </c:pt>
                <c:pt idx="200">
                  <c:v>8.3</c:v>
                </c:pt>
                <c:pt idx="201">
                  <c:v>8.31</c:v>
                </c:pt>
                <c:pt idx="202">
                  <c:v>8.32</c:v>
                </c:pt>
                <c:pt idx="203">
                  <c:v>8.33</c:v>
                </c:pt>
                <c:pt idx="204">
                  <c:v>8.34</c:v>
                </c:pt>
                <c:pt idx="205">
                  <c:v>8.51</c:v>
                </c:pt>
                <c:pt idx="206">
                  <c:v>8.52</c:v>
                </c:pt>
                <c:pt idx="207">
                  <c:v>8.52</c:v>
                </c:pt>
                <c:pt idx="208">
                  <c:v>8.54</c:v>
                </c:pt>
                <c:pt idx="209">
                  <c:v>8.55</c:v>
                </c:pt>
                <c:pt idx="210">
                  <c:v>8.56</c:v>
                </c:pt>
                <c:pt idx="211">
                  <c:v>8.57</c:v>
                </c:pt>
                <c:pt idx="212">
                  <c:v>8.58</c:v>
                </c:pt>
                <c:pt idx="213">
                  <c:v>8.59</c:v>
                </c:pt>
              </c:numCache>
            </c:numRef>
          </c:xVal>
          <c:yVal>
            <c:numRef>
              <c:f>Sheet1!$B$2:$B$215</c:f>
              <c:numCache>
                <c:formatCode>0,"K"</c:formatCode>
                <c:ptCount val="214"/>
                <c:pt idx="0">
                  <c:v>1</c:v>
                </c:pt>
                <c:pt idx="1">
                  <c:v>1000</c:v>
                </c:pt>
                <c:pt idx="2">
                  <c:v>2000</c:v>
                </c:pt>
                <c:pt idx="3">
                  <c:v>4000</c:v>
                </c:pt>
                <c:pt idx="4">
                  <c:v>5000</c:v>
                </c:pt>
                <c:pt idx="5">
                  <c:v>6000</c:v>
                </c:pt>
                <c:pt idx="6">
                  <c:v>7000</c:v>
                </c:pt>
                <c:pt idx="7">
                  <c:v>8000</c:v>
                </c:pt>
                <c:pt idx="8">
                  <c:v>9000</c:v>
                </c:pt>
                <c:pt idx="9">
                  <c:v>10000</c:v>
                </c:pt>
                <c:pt idx="10">
                  <c:v>11000</c:v>
                </c:pt>
                <c:pt idx="11">
                  <c:v>12000</c:v>
                </c:pt>
                <c:pt idx="12">
                  <c:v>13000</c:v>
                </c:pt>
                <c:pt idx="13">
                  <c:v>14000</c:v>
                </c:pt>
                <c:pt idx="14">
                  <c:v>15000</c:v>
                </c:pt>
                <c:pt idx="15">
                  <c:v>16000</c:v>
                </c:pt>
                <c:pt idx="16">
                  <c:v>17000</c:v>
                </c:pt>
                <c:pt idx="17">
                  <c:v>18000</c:v>
                </c:pt>
                <c:pt idx="18">
                  <c:v>19000</c:v>
                </c:pt>
                <c:pt idx="19">
                  <c:v>20000</c:v>
                </c:pt>
                <c:pt idx="20">
                  <c:v>21000</c:v>
                </c:pt>
                <c:pt idx="21">
                  <c:v>22000</c:v>
                </c:pt>
                <c:pt idx="22">
                  <c:v>24000</c:v>
                </c:pt>
                <c:pt idx="23">
                  <c:v>25000</c:v>
                </c:pt>
                <c:pt idx="24">
                  <c:v>26000</c:v>
                </c:pt>
                <c:pt idx="25">
                  <c:v>27000</c:v>
                </c:pt>
                <c:pt idx="26">
                  <c:v>28000</c:v>
                </c:pt>
                <c:pt idx="27">
                  <c:v>29000</c:v>
                </c:pt>
                <c:pt idx="28">
                  <c:v>30000</c:v>
                </c:pt>
                <c:pt idx="29">
                  <c:v>31000</c:v>
                </c:pt>
                <c:pt idx="30">
                  <c:v>32000</c:v>
                </c:pt>
                <c:pt idx="31">
                  <c:v>33000</c:v>
                </c:pt>
                <c:pt idx="32">
                  <c:v>34000</c:v>
                </c:pt>
                <c:pt idx="33">
                  <c:v>35000</c:v>
                </c:pt>
                <c:pt idx="34">
                  <c:v>36000</c:v>
                </c:pt>
                <c:pt idx="35">
                  <c:v>37000</c:v>
                </c:pt>
                <c:pt idx="36">
                  <c:v>38000</c:v>
                </c:pt>
                <c:pt idx="37">
                  <c:v>39000</c:v>
                </c:pt>
                <c:pt idx="38">
                  <c:v>40000</c:v>
                </c:pt>
                <c:pt idx="39">
                  <c:v>41000</c:v>
                </c:pt>
                <c:pt idx="40">
                  <c:v>42000</c:v>
                </c:pt>
                <c:pt idx="41">
                  <c:v>44000</c:v>
                </c:pt>
                <c:pt idx="42">
                  <c:v>45000</c:v>
                </c:pt>
                <c:pt idx="43">
                  <c:v>46000</c:v>
                </c:pt>
                <c:pt idx="44">
                  <c:v>47000</c:v>
                </c:pt>
                <c:pt idx="45">
                  <c:v>48000</c:v>
                </c:pt>
                <c:pt idx="46">
                  <c:v>49000</c:v>
                </c:pt>
                <c:pt idx="47">
                  <c:v>50000</c:v>
                </c:pt>
                <c:pt idx="48">
                  <c:v>51000</c:v>
                </c:pt>
                <c:pt idx="49">
                  <c:v>52000</c:v>
                </c:pt>
                <c:pt idx="50">
                  <c:v>53000</c:v>
                </c:pt>
                <c:pt idx="51">
                  <c:v>54000</c:v>
                </c:pt>
                <c:pt idx="52">
                  <c:v>55000</c:v>
                </c:pt>
                <c:pt idx="53">
                  <c:v>56000</c:v>
                </c:pt>
                <c:pt idx="54">
                  <c:v>57000</c:v>
                </c:pt>
                <c:pt idx="55">
                  <c:v>58000</c:v>
                </c:pt>
                <c:pt idx="56">
                  <c:v>59000</c:v>
                </c:pt>
                <c:pt idx="57">
                  <c:v>60000</c:v>
                </c:pt>
                <c:pt idx="58">
                  <c:v>61000</c:v>
                </c:pt>
                <c:pt idx="59">
                  <c:v>62000</c:v>
                </c:pt>
                <c:pt idx="60">
                  <c:v>63000</c:v>
                </c:pt>
                <c:pt idx="61">
                  <c:v>64000</c:v>
                </c:pt>
                <c:pt idx="62">
                  <c:v>65000</c:v>
                </c:pt>
                <c:pt idx="63">
                  <c:v>66000</c:v>
                </c:pt>
                <c:pt idx="64">
                  <c:v>67000</c:v>
                </c:pt>
                <c:pt idx="65">
                  <c:v>68000</c:v>
                </c:pt>
                <c:pt idx="66">
                  <c:v>69000</c:v>
                </c:pt>
                <c:pt idx="67">
                  <c:v>70000</c:v>
                </c:pt>
                <c:pt idx="68">
                  <c:v>71000</c:v>
                </c:pt>
                <c:pt idx="69">
                  <c:v>72000</c:v>
                </c:pt>
                <c:pt idx="70">
                  <c:v>73000</c:v>
                </c:pt>
                <c:pt idx="71">
                  <c:v>74000</c:v>
                </c:pt>
                <c:pt idx="72">
                  <c:v>75000</c:v>
                </c:pt>
                <c:pt idx="73">
                  <c:v>76000</c:v>
                </c:pt>
                <c:pt idx="74">
                  <c:v>77000</c:v>
                </c:pt>
                <c:pt idx="75">
                  <c:v>78000</c:v>
                </c:pt>
                <c:pt idx="76">
                  <c:v>79000</c:v>
                </c:pt>
                <c:pt idx="77">
                  <c:v>80000</c:v>
                </c:pt>
                <c:pt idx="78">
                  <c:v>81000</c:v>
                </c:pt>
                <c:pt idx="79">
                  <c:v>82000</c:v>
                </c:pt>
                <c:pt idx="80">
                  <c:v>83000</c:v>
                </c:pt>
                <c:pt idx="81">
                  <c:v>84000</c:v>
                </c:pt>
                <c:pt idx="82">
                  <c:v>85000</c:v>
                </c:pt>
                <c:pt idx="83">
                  <c:v>86000</c:v>
                </c:pt>
                <c:pt idx="84">
                  <c:v>87000</c:v>
                </c:pt>
                <c:pt idx="85">
                  <c:v>88000</c:v>
                </c:pt>
                <c:pt idx="86">
                  <c:v>89000</c:v>
                </c:pt>
                <c:pt idx="87">
                  <c:v>90000</c:v>
                </c:pt>
                <c:pt idx="88">
                  <c:v>91000</c:v>
                </c:pt>
                <c:pt idx="89">
                  <c:v>92000</c:v>
                </c:pt>
                <c:pt idx="90">
                  <c:v>93000</c:v>
                </c:pt>
                <c:pt idx="91">
                  <c:v>94000</c:v>
                </c:pt>
                <c:pt idx="92">
                  <c:v>95000</c:v>
                </c:pt>
                <c:pt idx="93">
                  <c:v>96000</c:v>
                </c:pt>
                <c:pt idx="94">
                  <c:v>97000</c:v>
                </c:pt>
                <c:pt idx="95">
                  <c:v>98000</c:v>
                </c:pt>
                <c:pt idx="96">
                  <c:v>99000</c:v>
                </c:pt>
                <c:pt idx="97">
                  <c:v>100000</c:v>
                </c:pt>
                <c:pt idx="98">
                  <c:v>100050</c:v>
                </c:pt>
                <c:pt idx="99">
                  <c:v>101000</c:v>
                </c:pt>
                <c:pt idx="100">
                  <c:v>102000</c:v>
                </c:pt>
                <c:pt idx="101">
                  <c:v>103000</c:v>
                </c:pt>
                <c:pt idx="102">
                  <c:v>104000</c:v>
                </c:pt>
                <c:pt idx="103">
                  <c:v>105000</c:v>
                </c:pt>
                <c:pt idx="104">
                  <c:v>106000</c:v>
                </c:pt>
                <c:pt idx="105">
                  <c:v>107000</c:v>
                </c:pt>
                <c:pt idx="106">
                  <c:v>108000</c:v>
                </c:pt>
                <c:pt idx="107">
                  <c:v>109000</c:v>
                </c:pt>
                <c:pt idx="108">
                  <c:v>110000</c:v>
                </c:pt>
                <c:pt idx="109">
                  <c:v>111000</c:v>
                </c:pt>
                <c:pt idx="110">
                  <c:v>112000</c:v>
                </c:pt>
                <c:pt idx="111">
                  <c:v>113000</c:v>
                </c:pt>
                <c:pt idx="112">
                  <c:v>114000</c:v>
                </c:pt>
                <c:pt idx="113">
                  <c:v>115000</c:v>
                </c:pt>
                <c:pt idx="114">
                  <c:v>116000</c:v>
                </c:pt>
                <c:pt idx="115">
                  <c:v>117000</c:v>
                </c:pt>
                <c:pt idx="116">
                  <c:v>118000</c:v>
                </c:pt>
                <c:pt idx="117">
                  <c:v>119000</c:v>
                </c:pt>
                <c:pt idx="118">
                  <c:v>120000</c:v>
                </c:pt>
                <c:pt idx="119">
                  <c:v>121000</c:v>
                </c:pt>
                <c:pt idx="120">
                  <c:v>122000</c:v>
                </c:pt>
                <c:pt idx="121">
                  <c:v>123000</c:v>
                </c:pt>
                <c:pt idx="122">
                  <c:v>124000</c:v>
                </c:pt>
                <c:pt idx="123">
                  <c:v>125000</c:v>
                </c:pt>
                <c:pt idx="124">
                  <c:v>126000</c:v>
                </c:pt>
                <c:pt idx="125">
                  <c:v>127000</c:v>
                </c:pt>
                <c:pt idx="126">
                  <c:v>128000</c:v>
                </c:pt>
                <c:pt idx="127">
                  <c:v>129000</c:v>
                </c:pt>
                <c:pt idx="128">
                  <c:v>130000</c:v>
                </c:pt>
                <c:pt idx="129">
                  <c:v>131000</c:v>
                </c:pt>
                <c:pt idx="130">
                  <c:v>132000</c:v>
                </c:pt>
                <c:pt idx="131">
                  <c:v>133000</c:v>
                </c:pt>
                <c:pt idx="132">
                  <c:v>134000</c:v>
                </c:pt>
                <c:pt idx="133">
                  <c:v>135000</c:v>
                </c:pt>
                <c:pt idx="134">
                  <c:v>136000</c:v>
                </c:pt>
                <c:pt idx="135">
                  <c:v>137000</c:v>
                </c:pt>
                <c:pt idx="136">
                  <c:v>138000</c:v>
                </c:pt>
                <c:pt idx="137">
                  <c:v>139000</c:v>
                </c:pt>
                <c:pt idx="138">
                  <c:v>140000</c:v>
                </c:pt>
                <c:pt idx="139">
                  <c:v>141000</c:v>
                </c:pt>
                <c:pt idx="141">
                  <c:v>142000</c:v>
                </c:pt>
                <c:pt idx="142">
                  <c:v>143000</c:v>
                </c:pt>
                <c:pt idx="143">
                  <c:v>144000</c:v>
                </c:pt>
                <c:pt idx="144">
                  <c:v>145000</c:v>
                </c:pt>
                <c:pt idx="145">
                  <c:v>146000</c:v>
                </c:pt>
                <c:pt idx="146">
                  <c:v>147000</c:v>
                </c:pt>
                <c:pt idx="147">
                  <c:v>148000</c:v>
                </c:pt>
                <c:pt idx="148">
                  <c:v>149000</c:v>
                </c:pt>
                <c:pt idx="149">
                  <c:v>150000</c:v>
                </c:pt>
                <c:pt idx="150">
                  <c:v>151000</c:v>
                </c:pt>
                <c:pt idx="151">
                  <c:v>152000</c:v>
                </c:pt>
                <c:pt idx="152">
                  <c:v>153000</c:v>
                </c:pt>
                <c:pt idx="153">
                  <c:v>154000</c:v>
                </c:pt>
                <c:pt idx="154">
                  <c:v>155000</c:v>
                </c:pt>
                <c:pt idx="155">
                  <c:v>156000</c:v>
                </c:pt>
                <c:pt idx="156">
                  <c:v>157000</c:v>
                </c:pt>
                <c:pt idx="157">
                  <c:v>158000</c:v>
                </c:pt>
                <c:pt idx="158">
                  <c:v>159000</c:v>
                </c:pt>
                <c:pt idx="159">
                  <c:v>160000</c:v>
                </c:pt>
                <c:pt idx="160">
                  <c:v>161000</c:v>
                </c:pt>
                <c:pt idx="161">
                  <c:v>162000</c:v>
                </c:pt>
                <c:pt idx="162">
                  <c:v>163000</c:v>
                </c:pt>
                <c:pt idx="163">
                  <c:v>164000</c:v>
                </c:pt>
                <c:pt idx="164">
                  <c:v>165000</c:v>
                </c:pt>
                <c:pt idx="165">
                  <c:v>166000</c:v>
                </c:pt>
                <c:pt idx="166">
                  <c:v>167000</c:v>
                </c:pt>
                <c:pt idx="167">
                  <c:v>168000</c:v>
                </c:pt>
                <c:pt idx="168">
                  <c:v>169000</c:v>
                </c:pt>
                <c:pt idx="169">
                  <c:v>170000</c:v>
                </c:pt>
                <c:pt idx="170">
                  <c:v>171000</c:v>
                </c:pt>
                <c:pt idx="171">
                  <c:v>172000</c:v>
                </c:pt>
                <c:pt idx="172">
                  <c:v>173000</c:v>
                </c:pt>
                <c:pt idx="173">
                  <c:v>174000</c:v>
                </c:pt>
                <c:pt idx="174">
                  <c:v>175000</c:v>
                </c:pt>
                <c:pt idx="175">
                  <c:v>176000</c:v>
                </c:pt>
                <c:pt idx="176">
                  <c:v>177000</c:v>
                </c:pt>
                <c:pt idx="177">
                  <c:v>178000</c:v>
                </c:pt>
                <c:pt idx="178">
                  <c:v>179000</c:v>
                </c:pt>
                <c:pt idx="179">
                  <c:v>180000</c:v>
                </c:pt>
                <c:pt idx="180">
                  <c:v>181000</c:v>
                </c:pt>
                <c:pt idx="181">
                  <c:v>182000</c:v>
                </c:pt>
                <c:pt idx="182">
                  <c:v>183000</c:v>
                </c:pt>
                <c:pt idx="183">
                  <c:v>184000</c:v>
                </c:pt>
                <c:pt idx="184">
                  <c:v>185000</c:v>
                </c:pt>
                <c:pt idx="185">
                  <c:v>186000</c:v>
                </c:pt>
                <c:pt idx="186">
                  <c:v>187000</c:v>
                </c:pt>
                <c:pt idx="187">
                  <c:v>188000</c:v>
                </c:pt>
                <c:pt idx="188">
                  <c:v>189000</c:v>
                </c:pt>
                <c:pt idx="189">
                  <c:v>190000</c:v>
                </c:pt>
                <c:pt idx="190">
                  <c:v>191000</c:v>
                </c:pt>
                <c:pt idx="191">
                  <c:v>192000</c:v>
                </c:pt>
                <c:pt idx="192">
                  <c:v>193000</c:v>
                </c:pt>
                <c:pt idx="193">
                  <c:v>194000</c:v>
                </c:pt>
                <c:pt idx="194">
                  <c:v>195000</c:v>
                </c:pt>
                <c:pt idx="195">
                  <c:v>196000</c:v>
                </c:pt>
                <c:pt idx="196">
                  <c:v>197000</c:v>
                </c:pt>
                <c:pt idx="197">
                  <c:v>198000</c:v>
                </c:pt>
                <c:pt idx="198">
                  <c:v>199000</c:v>
                </c:pt>
                <c:pt idx="199">
                  <c:v>200000</c:v>
                </c:pt>
                <c:pt idx="200">
                  <c:v>201000</c:v>
                </c:pt>
                <c:pt idx="201">
                  <c:v>202000</c:v>
                </c:pt>
                <c:pt idx="202">
                  <c:v>203000</c:v>
                </c:pt>
                <c:pt idx="203">
                  <c:v>204000</c:v>
                </c:pt>
                <c:pt idx="204">
                  <c:v>205000</c:v>
                </c:pt>
                <c:pt idx="205">
                  <c:v>206000</c:v>
                </c:pt>
                <c:pt idx="206">
                  <c:v>207000</c:v>
                </c:pt>
                <c:pt idx="207">
                  <c:v>208000</c:v>
                </c:pt>
                <c:pt idx="208">
                  <c:v>209000</c:v>
                </c:pt>
                <c:pt idx="209">
                  <c:v>210000</c:v>
                </c:pt>
                <c:pt idx="210">
                  <c:v>211000</c:v>
                </c:pt>
                <c:pt idx="211">
                  <c:v>212000</c:v>
                </c:pt>
                <c:pt idx="212">
                  <c:v>213000</c:v>
                </c:pt>
                <c:pt idx="213">
                  <c:v>214000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ack</c:v>
                </c:pt>
              </c:strCache>
            </c:strRef>
          </c:tx>
          <c:spPr>
            <a:ln w="317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dLbls>
            <c:delete val="1"/>
          </c:dLbls>
          <c:xVal>
            <c:numRef>
              <c:f>Sheet1!$A$2:$A$215</c:f>
              <c:numCache>
                <c:formatCode>General</c:formatCode>
                <c:ptCount val="214"/>
                <c:pt idx="0">
                  <c:v>0.1</c:v>
                </c:pt>
                <c:pt idx="1">
                  <c:v>0.11</c:v>
                </c:pt>
                <c:pt idx="2">
                  <c:v>0.12</c:v>
                </c:pt>
                <c:pt idx="3">
                  <c:v>0.13</c:v>
                </c:pt>
                <c:pt idx="4">
                  <c:v>0.14</c:v>
                </c:pt>
                <c:pt idx="5">
                  <c:v>0.15</c:v>
                </c:pt>
                <c:pt idx="6">
                  <c:v>0.16</c:v>
                </c:pt>
                <c:pt idx="7">
                  <c:v>0.17</c:v>
                </c:pt>
                <c:pt idx="8">
                  <c:v>0.18</c:v>
                </c:pt>
                <c:pt idx="9">
                  <c:v>0.19</c:v>
                </c:pt>
                <c:pt idx="10">
                  <c:v>0.2</c:v>
                </c:pt>
                <c:pt idx="11">
                  <c:v>0.21</c:v>
                </c:pt>
                <c:pt idx="12">
                  <c:v>0.22</c:v>
                </c:pt>
                <c:pt idx="13">
                  <c:v>0.23</c:v>
                </c:pt>
                <c:pt idx="14">
                  <c:v>0.24</c:v>
                </c:pt>
                <c:pt idx="15">
                  <c:v>0.25</c:v>
                </c:pt>
                <c:pt idx="16">
                  <c:v>0.26</c:v>
                </c:pt>
                <c:pt idx="17">
                  <c:v>0.27</c:v>
                </c:pt>
                <c:pt idx="18">
                  <c:v>0.28</c:v>
                </c:pt>
                <c:pt idx="19">
                  <c:v>0.29</c:v>
                </c:pt>
                <c:pt idx="20">
                  <c:v>0.3</c:v>
                </c:pt>
                <c:pt idx="21">
                  <c:v>0.31</c:v>
                </c:pt>
                <c:pt idx="22">
                  <c:v>0.32</c:v>
                </c:pt>
                <c:pt idx="23">
                  <c:v>0.33</c:v>
                </c:pt>
                <c:pt idx="24">
                  <c:v>0.34</c:v>
                </c:pt>
                <c:pt idx="25">
                  <c:v>0.35</c:v>
                </c:pt>
                <c:pt idx="26">
                  <c:v>0.36</c:v>
                </c:pt>
                <c:pt idx="27">
                  <c:v>0.37</c:v>
                </c:pt>
                <c:pt idx="28">
                  <c:v>0.38</c:v>
                </c:pt>
                <c:pt idx="29">
                  <c:v>0.39</c:v>
                </c:pt>
                <c:pt idx="30">
                  <c:v>0.4</c:v>
                </c:pt>
                <c:pt idx="31">
                  <c:v>0.42</c:v>
                </c:pt>
                <c:pt idx="32">
                  <c:v>0.43</c:v>
                </c:pt>
                <c:pt idx="33">
                  <c:v>0.44</c:v>
                </c:pt>
                <c:pt idx="34">
                  <c:v>0.45</c:v>
                </c:pt>
                <c:pt idx="35">
                  <c:v>0.46</c:v>
                </c:pt>
                <c:pt idx="36">
                  <c:v>0.47</c:v>
                </c:pt>
                <c:pt idx="37">
                  <c:v>0.48</c:v>
                </c:pt>
                <c:pt idx="38">
                  <c:v>0.49</c:v>
                </c:pt>
                <c:pt idx="39">
                  <c:v>0.5</c:v>
                </c:pt>
                <c:pt idx="40">
                  <c:v>0.6</c:v>
                </c:pt>
                <c:pt idx="41">
                  <c:v>0.61</c:v>
                </c:pt>
                <c:pt idx="42">
                  <c:v>0.62</c:v>
                </c:pt>
                <c:pt idx="43">
                  <c:v>0.63</c:v>
                </c:pt>
                <c:pt idx="44">
                  <c:v>0.64</c:v>
                </c:pt>
                <c:pt idx="45">
                  <c:v>0.65</c:v>
                </c:pt>
                <c:pt idx="46">
                  <c:v>0.66</c:v>
                </c:pt>
                <c:pt idx="47">
                  <c:v>0.67</c:v>
                </c:pt>
                <c:pt idx="48">
                  <c:v>0.68</c:v>
                </c:pt>
                <c:pt idx="49">
                  <c:v>0.69</c:v>
                </c:pt>
                <c:pt idx="50">
                  <c:v>0.7</c:v>
                </c:pt>
                <c:pt idx="51">
                  <c:v>0.72</c:v>
                </c:pt>
                <c:pt idx="52">
                  <c:v>0.73</c:v>
                </c:pt>
                <c:pt idx="53">
                  <c:v>0.74</c:v>
                </c:pt>
                <c:pt idx="54">
                  <c:v>0.75</c:v>
                </c:pt>
                <c:pt idx="55">
                  <c:v>0.76</c:v>
                </c:pt>
                <c:pt idx="56">
                  <c:v>0.77</c:v>
                </c:pt>
                <c:pt idx="57">
                  <c:v>0.78</c:v>
                </c:pt>
                <c:pt idx="58">
                  <c:v>0.79</c:v>
                </c:pt>
                <c:pt idx="59">
                  <c:v>0.95</c:v>
                </c:pt>
                <c:pt idx="60">
                  <c:v>0.96</c:v>
                </c:pt>
                <c:pt idx="61">
                  <c:v>0.97</c:v>
                </c:pt>
                <c:pt idx="62">
                  <c:v>0.98</c:v>
                </c:pt>
                <c:pt idx="63">
                  <c:v>0.99</c:v>
                </c:pt>
                <c:pt idx="64">
                  <c:v>1</c:v>
                </c:pt>
                <c:pt idx="65">
                  <c:v>1.01</c:v>
                </c:pt>
                <c:pt idx="66">
                  <c:v>1.02</c:v>
                </c:pt>
                <c:pt idx="67">
                  <c:v>1.03</c:v>
                </c:pt>
                <c:pt idx="68">
                  <c:v>1.04</c:v>
                </c:pt>
                <c:pt idx="69">
                  <c:v>1.05</c:v>
                </c:pt>
                <c:pt idx="70">
                  <c:v>1.06</c:v>
                </c:pt>
                <c:pt idx="71">
                  <c:v>1.08</c:v>
                </c:pt>
                <c:pt idx="72">
                  <c:v>1.09</c:v>
                </c:pt>
                <c:pt idx="73">
                  <c:v>1.1</c:v>
                </c:pt>
                <c:pt idx="74">
                  <c:v>1.11</c:v>
                </c:pt>
                <c:pt idx="75">
                  <c:v>1.12</c:v>
                </c:pt>
                <c:pt idx="76">
                  <c:v>1.13</c:v>
                </c:pt>
                <c:pt idx="77">
                  <c:v>1.14</c:v>
                </c:pt>
                <c:pt idx="78">
                  <c:v>1.15</c:v>
                </c:pt>
                <c:pt idx="79">
                  <c:v>1.16</c:v>
                </c:pt>
                <c:pt idx="80">
                  <c:v>1.17</c:v>
                </c:pt>
                <c:pt idx="81">
                  <c:v>1.18</c:v>
                </c:pt>
                <c:pt idx="82">
                  <c:v>1.19</c:v>
                </c:pt>
                <c:pt idx="83">
                  <c:v>1.2</c:v>
                </c:pt>
                <c:pt idx="84">
                  <c:v>1.21</c:v>
                </c:pt>
                <c:pt idx="85">
                  <c:v>1.22</c:v>
                </c:pt>
                <c:pt idx="86">
                  <c:v>1.23</c:v>
                </c:pt>
                <c:pt idx="87">
                  <c:v>1.24</c:v>
                </c:pt>
                <c:pt idx="88">
                  <c:v>1.25</c:v>
                </c:pt>
                <c:pt idx="89">
                  <c:v>1.26</c:v>
                </c:pt>
                <c:pt idx="90">
                  <c:v>1.27</c:v>
                </c:pt>
                <c:pt idx="91">
                  <c:v>1.29</c:v>
                </c:pt>
                <c:pt idx="92">
                  <c:v>1.3</c:v>
                </c:pt>
                <c:pt idx="93">
                  <c:v>1.31</c:v>
                </c:pt>
                <c:pt idx="94">
                  <c:v>1.32</c:v>
                </c:pt>
                <c:pt idx="95">
                  <c:v>1.33</c:v>
                </c:pt>
                <c:pt idx="96">
                  <c:v>1.34</c:v>
                </c:pt>
                <c:pt idx="97">
                  <c:v>1.35</c:v>
                </c:pt>
                <c:pt idx="98">
                  <c:v>1.36</c:v>
                </c:pt>
                <c:pt idx="99">
                  <c:v>1.8</c:v>
                </c:pt>
                <c:pt idx="100">
                  <c:v>1.81</c:v>
                </c:pt>
                <c:pt idx="101">
                  <c:v>1.82</c:v>
                </c:pt>
                <c:pt idx="102">
                  <c:v>1.83</c:v>
                </c:pt>
                <c:pt idx="103">
                  <c:v>1.85</c:v>
                </c:pt>
                <c:pt idx="104">
                  <c:v>1.86</c:v>
                </c:pt>
                <c:pt idx="105">
                  <c:v>1.87</c:v>
                </c:pt>
                <c:pt idx="106">
                  <c:v>1.88</c:v>
                </c:pt>
                <c:pt idx="107">
                  <c:v>1.89</c:v>
                </c:pt>
                <c:pt idx="108">
                  <c:v>1.9</c:v>
                </c:pt>
                <c:pt idx="109">
                  <c:v>1.91</c:v>
                </c:pt>
                <c:pt idx="110">
                  <c:v>1.92</c:v>
                </c:pt>
                <c:pt idx="111">
                  <c:v>1.93</c:v>
                </c:pt>
                <c:pt idx="112">
                  <c:v>1.94</c:v>
                </c:pt>
                <c:pt idx="113">
                  <c:v>1.95</c:v>
                </c:pt>
                <c:pt idx="114">
                  <c:v>1.96</c:v>
                </c:pt>
                <c:pt idx="115">
                  <c:v>1.97</c:v>
                </c:pt>
                <c:pt idx="116">
                  <c:v>1.98</c:v>
                </c:pt>
                <c:pt idx="117">
                  <c:v>1.99</c:v>
                </c:pt>
                <c:pt idx="118">
                  <c:v>2</c:v>
                </c:pt>
                <c:pt idx="119">
                  <c:v>2.01</c:v>
                </c:pt>
                <c:pt idx="120">
                  <c:v>2.02</c:v>
                </c:pt>
                <c:pt idx="121">
                  <c:v>2.03</c:v>
                </c:pt>
                <c:pt idx="122">
                  <c:v>2.04</c:v>
                </c:pt>
                <c:pt idx="123">
                  <c:v>2.06</c:v>
                </c:pt>
                <c:pt idx="124">
                  <c:v>2.07</c:v>
                </c:pt>
                <c:pt idx="125">
                  <c:v>2.08</c:v>
                </c:pt>
                <c:pt idx="126">
                  <c:v>2.09</c:v>
                </c:pt>
                <c:pt idx="127">
                  <c:v>2.1</c:v>
                </c:pt>
                <c:pt idx="128">
                  <c:v>2.11</c:v>
                </c:pt>
                <c:pt idx="129">
                  <c:v>2.12</c:v>
                </c:pt>
                <c:pt idx="130">
                  <c:v>2.13</c:v>
                </c:pt>
                <c:pt idx="131">
                  <c:v>2.3</c:v>
                </c:pt>
                <c:pt idx="132">
                  <c:v>2.31</c:v>
                </c:pt>
                <c:pt idx="133">
                  <c:v>2.31</c:v>
                </c:pt>
                <c:pt idx="134">
                  <c:v>2.33</c:v>
                </c:pt>
                <c:pt idx="135">
                  <c:v>2.34</c:v>
                </c:pt>
                <c:pt idx="136">
                  <c:v>2.35</c:v>
                </c:pt>
                <c:pt idx="137">
                  <c:v>2.36</c:v>
                </c:pt>
                <c:pt idx="138">
                  <c:v>2.37</c:v>
                </c:pt>
                <c:pt idx="139">
                  <c:v>2.38</c:v>
                </c:pt>
                <c:pt idx="140">
                  <c:v>3.8</c:v>
                </c:pt>
                <c:pt idx="141">
                  <c:v>3.83</c:v>
                </c:pt>
                <c:pt idx="142">
                  <c:v>5.8</c:v>
                </c:pt>
                <c:pt idx="143">
                  <c:v>5.81</c:v>
                </c:pt>
                <c:pt idx="144">
                  <c:v>5.82</c:v>
                </c:pt>
                <c:pt idx="145">
                  <c:v>5.83</c:v>
                </c:pt>
                <c:pt idx="146">
                  <c:v>5.84</c:v>
                </c:pt>
                <c:pt idx="147">
                  <c:v>5.85</c:v>
                </c:pt>
                <c:pt idx="148">
                  <c:v>5.86</c:v>
                </c:pt>
                <c:pt idx="149">
                  <c:v>5.87</c:v>
                </c:pt>
                <c:pt idx="150">
                  <c:v>5.88</c:v>
                </c:pt>
                <c:pt idx="151">
                  <c:v>5.89</c:v>
                </c:pt>
                <c:pt idx="152">
                  <c:v>5.9</c:v>
                </c:pt>
                <c:pt idx="153">
                  <c:v>5.91</c:v>
                </c:pt>
                <c:pt idx="154">
                  <c:v>5.92</c:v>
                </c:pt>
                <c:pt idx="155">
                  <c:v>5.93</c:v>
                </c:pt>
                <c:pt idx="156">
                  <c:v>5.94</c:v>
                </c:pt>
                <c:pt idx="157">
                  <c:v>5.95</c:v>
                </c:pt>
                <c:pt idx="158">
                  <c:v>5.96</c:v>
                </c:pt>
                <c:pt idx="159">
                  <c:v>5.97</c:v>
                </c:pt>
                <c:pt idx="160">
                  <c:v>5.98</c:v>
                </c:pt>
                <c:pt idx="161">
                  <c:v>5.99</c:v>
                </c:pt>
                <c:pt idx="162">
                  <c:v>6</c:v>
                </c:pt>
                <c:pt idx="163">
                  <c:v>6.02</c:v>
                </c:pt>
                <c:pt idx="164">
                  <c:v>6.03</c:v>
                </c:pt>
                <c:pt idx="165">
                  <c:v>6.04</c:v>
                </c:pt>
                <c:pt idx="166">
                  <c:v>6.05</c:v>
                </c:pt>
                <c:pt idx="167">
                  <c:v>6.06</c:v>
                </c:pt>
                <c:pt idx="168">
                  <c:v>6.07</c:v>
                </c:pt>
                <c:pt idx="169">
                  <c:v>6.08</c:v>
                </c:pt>
                <c:pt idx="170">
                  <c:v>6.09</c:v>
                </c:pt>
                <c:pt idx="171">
                  <c:v>6.3</c:v>
                </c:pt>
                <c:pt idx="172">
                  <c:v>6.5</c:v>
                </c:pt>
                <c:pt idx="173">
                  <c:v>7</c:v>
                </c:pt>
                <c:pt idx="174">
                  <c:v>7.5</c:v>
                </c:pt>
                <c:pt idx="175">
                  <c:v>7.51</c:v>
                </c:pt>
                <c:pt idx="176">
                  <c:v>7.52</c:v>
                </c:pt>
                <c:pt idx="177">
                  <c:v>7.53</c:v>
                </c:pt>
                <c:pt idx="178">
                  <c:v>7.54</c:v>
                </c:pt>
                <c:pt idx="179">
                  <c:v>7.55</c:v>
                </c:pt>
                <c:pt idx="180">
                  <c:v>7.56</c:v>
                </c:pt>
                <c:pt idx="181">
                  <c:v>8.1</c:v>
                </c:pt>
                <c:pt idx="182">
                  <c:v>8.11</c:v>
                </c:pt>
                <c:pt idx="183">
                  <c:v>8.12</c:v>
                </c:pt>
                <c:pt idx="184">
                  <c:v>8.13</c:v>
                </c:pt>
                <c:pt idx="185">
                  <c:v>8.14</c:v>
                </c:pt>
                <c:pt idx="186">
                  <c:v>8.15</c:v>
                </c:pt>
                <c:pt idx="187">
                  <c:v>8.16</c:v>
                </c:pt>
                <c:pt idx="188">
                  <c:v>8.17</c:v>
                </c:pt>
                <c:pt idx="189">
                  <c:v>8.18</c:v>
                </c:pt>
                <c:pt idx="190">
                  <c:v>8.19</c:v>
                </c:pt>
                <c:pt idx="191">
                  <c:v>8.2</c:v>
                </c:pt>
                <c:pt idx="192">
                  <c:v>8.21</c:v>
                </c:pt>
                <c:pt idx="193">
                  <c:v>8.22</c:v>
                </c:pt>
                <c:pt idx="194">
                  <c:v>8.23</c:v>
                </c:pt>
                <c:pt idx="195">
                  <c:v>8.24</c:v>
                </c:pt>
                <c:pt idx="196">
                  <c:v>8.25</c:v>
                </c:pt>
                <c:pt idx="197">
                  <c:v>8.27</c:v>
                </c:pt>
                <c:pt idx="198">
                  <c:v>8.28</c:v>
                </c:pt>
                <c:pt idx="199">
                  <c:v>8.29</c:v>
                </c:pt>
                <c:pt idx="200">
                  <c:v>8.3</c:v>
                </c:pt>
                <c:pt idx="201">
                  <c:v>8.31</c:v>
                </c:pt>
                <c:pt idx="202">
                  <c:v>8.32</c:v>
                </c:pt>
                <c:pt idx="203">
                  <c:v>8.33</c:v>
                </c:pt>
                <c:pt idx="204">
                  <c:v>8.34</c:v>
                </c:pt>
                <c:pt idx="205">
                  <c:v>8.51</c:v>
                </c:pt>
                <c:pt idx="206">
                  <c:v>8.52</c:v>
                </c:pt>
                <c:pt idx="207">
                  <c:v>8.52</c:v>
                </c:pt>
                <c:pt idx="208">
                  <c:v>8.54</c:v>
                </c:pt>
                <c:pt idx="209">
                  <c:v>8.55</c:v>
                </c:pt>
                <c:pt idx="210">
                  <c:v>8.56</c:v>
                </c:pt>
                <c:pt idx="211">
                  <c:v>8.57</c:v>
                </c:pt>
                <c:pt idx="212">
                  <c:v>8.58</c:v>
                </c:pt>
                <c:pt idx="213">
                  <c:v>8.59</c:v>
                </c:pt>
              </c:numCache>
            </c:numRef>
          </c:xVal>
          <c:yVal>
            <c:numRef>
              <c:f>Sheet1!$C$2:$C$215</c:f>
              <c:numCache>
                <c:formatCode>0,"K"</c:formatCode>
                <c:ptCount val="214"/>
                <c:pt idx="0">
                  <c:v>1</c:v>
                </c:pt>
                <c:pt idx="1">
                  <c:v>1</c:v>
                </c:pt>
                <c:pt idx="2">
                  <c:v>1000</c:v>
                </c:pt>
                <c:pt idx="3">
                  <c:v>3000</c:v>
                </c:pt>
                <c:pt idx="4">
                  <c:v>4000</c:v>
                </c:pt>
                <c:pt idx="5">
                  <c:v>5000</c:v>
                </c:pt>
                <c:pt idx="6">
                  <c:v>6000</c:v>
                </c:pt>
                <c:pt idx="7">
                  <c:v>7000</c:v>
                </c:pt>
                <c:pt idx="8">
                  <c:v>8000</c:v>
                </c:pt>
                <c:pt idx="9">
                  <c:v>9000</c:v>
                </c:pt>
                <c:pt idx="10">
                  <c:v>10000</c:v>
                </c:pt>
                <c:pt idx="11">
                  <c:v>11000</c:v>
                </c:pt>
                <c:pt idx="12">
                  <c:v>12000</c:v>
                </c:pt>
                <c:pt idx="13">
                  <c:v>13000</c:v>
                </c:pt>
                <c:pt idx="14">
                  <c:v>14000</c:v>
                </c:pt>
                <c:pt idx="15">
                  <c:v>15000</c:v>
                </c:pt>
                <c:pt idx="16">
                  <c:v>16000</c:v>
                </c:pt>
                <c:pt idx="17">
                  <c:v>17000</c:v>
                </c:pt>
                <c:pt idx="18">
                  <c:v>18000</c:v>
                </c:pt>
                <c:pt idx="19">
                  <c:v>19000</c:v>
                </c:pt>
                <c:pt idx="20">
                  <c:v>20000</c:v>
                </c:pt>
                <c:pt idx="41">
                  <c:v>42000</c:v>
                </c:pt>
                <c:pt idx="42">
                  <c:v>43000</c:v>
                </c:pt>
                <c:pt idx="43">
                  <c:v>44000</c:v>
                </c:pt>
                <c:pt idx="44">
                  <c:v>45000</c:v>
                </c:pt>
                <c:pt idx="45">
                  <c:v>46000</c:v>
                </c:pt>
                <c:pt idx="46">
                  <c:v>47000</c:v>
                </c:pt>
                <c:pt idx="47">
                  <c:v>48000</c:v>
                </c:pt>
                <c:pt idx="48">
                  <c:v>49000</c:v>
                </c:pt>
                <c:pt idx="49">
                  <c:v>50000</c:v>
                </c:pt>
                <c:pt idx="50">
                  <c:v>51000</c:v>
                </c:pt>
                <c:pt idx="51">
                  <c:v>52000</c:v>
                </c:pt>
                <c:pt idx="52">
                  <c:v>53000</c:v>
                </c:pt>
                <c:pt idx="53">
                  <c:v>54000</c:v>
                </c:pt>
                <c:pt idx="54">
                  <c:v>55000</c:v>
                </c:pt>
                <c:pt idx="55">
                  <c:v>56000</c:v>
                </c:pt>
                <c:pt idx="56">
                  <c:v>57000</c:v>
                </c:pt>
                <c:pt idx="57">
                  <c:v>58000</c:v>
                </c:pt>
                <c:pt idx="58">
                  <c:v>59000</c:v>
                </c:pt>
                <c:pt idx="59">
                  <c:v>60000</c:v>
                </c:pt>
                <c:pt idx="60">
                  <c:v>61000</c:v>
                </c:pt>
                <c:pt idx="62">
                  <c:v>62000</c:v>
                </c:pt>
                <c:pt idx="63">
                  <c:v>63000</c:v>
                </c:pt>
                <c:pt idx="64">
                  <c:v>64000</c:v>
                </c:pt>
                <c:pt idx="65">
                  <c:v>65000</c:v>
                </c:pt>
                <c:pt idx="66">
                  <c:v>66000</c:v>
                </c:pt>
                <c:pt idx="67">
                  <c:v>67000</c:v>
                </c:pt>
                <c:pt idx="68">
                  <c:v>68000</c:v>
                </c:pt>
                <c:pt idx="69">
                  <c:v>69000</c:v>
                </c:pt>
                <c:pt idx="70">
                  <c:v>70000</c:v>
                </c:pt>
                <c:pt idx="71">
                  <c:v>71000</c:v>
                </c:pt>
                <c:pt idx="72">
                  <c:v>72000</c:v>
                </c:pt>
                <c:pt idx="73">
                  <c:v>73000</c:v>
                </c:pt>
                <c:pt idx="74">
                  <c:v>74000</c:v>
                </c:pt>
                <c:pt idx="75">
                  <c:v>75000</c:v>
                </c:pt>
                <c:pt idx="76">
                  <c:v>76000</c:v>
                </c:pt>
                <c:pt idx="77">
                  <c:v>77000</c:v>
                </c:pt>
                <c:pt idx="78">
                  <c:v>78000</c:v>
                </c:pt>
                <c:pt idx="79">
                  <c:v>79000</c:v>
                </c:pt>
                <c:pt idx="80">
                  <c:v>80000</c:v>
                </c:pt>
                <c:pt idx="81">
                  <c:v>81000</c:v>
                </c:pt>
                <c:pt idx="82">
                  <c:v>82000</c:v>
                </c:pt>
                <c:pt idx="83">
                  <c:v>83000</c:v>
                </c:pt>
                <c:pt idx="84">
                  <c:v>84000</c:v>
                </c:pt>
                <c:pt idx="85">
                  <c:v>85000</c:v>
                </c:pt>
                <c:pt idx="86">
                  <c:v>86000</c:v>
                </c:pt>
                <c:pt idx="87">
                  <c:v>87000</c:v>
                </c:pt>
                <c:pt idx="88">
                  <c:v>88000</c:v>
                </c:pt>
                <c:pt idx="89">
                  <c:v>89000</c:v>
                </c:pt>
                <c:pt idx="90">
                  <c:v>90000</c:v>
                </c:pt>
                <c:pt idx="91">
                  <c:v>91000</c:v>
                </c:pt>
                <c:pt idx="92">
                  <c:v>92000</c:v>
                </c:pt>
                <c:pt idx="93">
                  <c:v>93000</c:v>
                </c:pt>
                <c:pt idx="94">
                  <c:v>94000</c:v>
                </c:pt>
                <c:pt idx="95">
                  <c:v>95000</c:v>
                </c:pt>
                <c:pt idx="96">
                  <c:v>96000</c:v>
                </c:pt>
                <c:pt idx="97">
                  <c:v>97000</c:v>
                </c:pt>
                <c:pt idx="98">
                  <c:v>98000</c:v>
                </c:pt>
                <c:pt idx="99">
                  <c:v>99000</c:v>
                </c:pt>
                <c:pt idx="100">
                  <c:v>100000</c:v>
                </c:pt>
                <c:pt idx="101">
                  <c:v>101000</c:v>
                </c:pt>
                <c:pt idx="102">
                  <c:v>102000</c:v>
                </c:pt>
                <c:pt idx="103">
                  <c:v>103000</c:v>
                </c:pt>
                <c:pt idx="104">
                  <c:v>104000</c:v>
                </c:pt>
                <c:pt idx="105">
                  <c:v>105000</c:v>
                </c:pt>
                <c:pt idx="106">
                  <c:v>106000</c:v>
                </c:pt>
                <c:pt idx="107">
                  <c:v>107000</c:v>
                </c:pt>
                <c:pt idx="108">
                  <c:v>108000</c:v>
                </c:pt>
                <c:pt idx="109">
                  <c:v>109000</c:v>
                </c:pt>
                <c:pt idx="110">
                  <c:v>110000</c:v>
                </c:pt>
                <c:pt idx="111">
                  <c:v>111000</c:v>
                </c:pt>
                <c:pt idx="112">
                  <c:v>112000</c:v>
                </c:pt>
                <c:pt idx="113">
                  <c:v>113000</c:v>
                </c:pt>
                <c:pt idx="114">
                  <c:v>114000</c:v>
                </c:pt>
                <c:pt idx="115">
                  <c:v>115000</c:v>
                </c:pt>
                <c:pt idx="116">
                  <c:v>116000</c:v>
                </c:pt>
                <c:pt idx="117">
                  <c:v>117000</c:v>
                </c:pt>
                <c:pt idx="118">
                  <c:v>118000</c:v>
                </c:pt>
                <c:pt idx="119">
                  <c:v>119000</c:v>
                </c:pt>
                <c:pt idx="120">
                  <c:v>120000</c:v>
                </c:pt>
                <c:pt idx="121">
                  <c:v>121000</c:v>
                </c:pt>
                <c:pt idx="122">
                  <c:v>122000</c:v>
                </c:pt>
                <c:pt idx="123">
                  <c:v>123000</c:v>
                </c:pt>
                <c:pt idx="124">
                  <c:v>124000</c:v>
                </c:pt>
                <c:pt idx="125">
                  <c:v>125000</c:v>
                </c:pt>
                <c:pt idx="126">
                  <c:v>126000</c:v>
                </c:pt>
                <c:pt idx="127">
                  <c:v>127000</c:v>
                </c:pt>
                <c:pt idx="128">
                  <c:v>128000</c:v>
                </c:pt>
                <c:pt idx="129">
                  <c:v>129000</c:v>
                </c:pt>
                <c:pt idx="130">
                  <c:v>130000</c:v>
                </c:pt>
                <c:pt idx="131">
                  <c:v>131000</c:v>
                </c:pt>
                <c:pt idx="138">
                  <c:v>132000</c:v>
                </c:pt>
                <c:pt idx="139">
                  <c:v>133000</c:v>
                </c:pt>
                <c:pt idx="140">
                  <c:v>134000</c:v>
                </c:pt>
                <c:pt idx="142">
                  <c:v>140000</c:v>
                </c:pt>
                <c:pt idx="143">
                  <c:v>141000</c:v>
                </c:pt>
                <c:pt idx="144">
                  <c:v>142000</c:v>
                </c:pt>
                <c:pt idx="145">
                  <c:v>143000</c:v>
                </c:pt>
                <c:pt idx="146">
                  <c:v>144000</c:v>
                </c:pt>
                <c:pt idx="147">
                  <c:v>145000</c:v>
                </c:pt>
                <c:pt idx="148">
                  <c:v>146000</c:v>
                </c:pt>
                <c:pt idx="149">
                  <c:v>147000</c:v>
                </c:pt>
                <c:pt idx="150">
                  <c:v>148000</c:v>
                </c:pt>
                <c:pt idx="151">
                  <c:v>149000</c:v>
                </c:pt>
                <c:pt idx="152">
                  <c:v>150000</c:v>
                </c:pt>
                <c:pt idx="153">
                  <c:v>151000</c:v>
                </c:pt>
                <c:pt idx="154">
                  <c:v>152000</c:v>
                </c:pt>
                <c:pt idx="155">
                  <c:v>153000</c:v>
                </c:pt>
                <c:pt idx="156">
                  <c:v>154000</c:v>
                </c:pt>
                <c:pt idx="157">
                  <c:v>155000</c:v>
                </c:pt>
                <c:pt idx="158">
                  <c:v>156000</c:v>
                </c:pt>
                <c:pt idx="159">
                  <c:v>157000</c:v>
                </c:pt>
                <c:pt idx="160">
                  <c:v>158000</c:v>
                </c:pt>
                <c:pt idx="161">
                  <c:v>159000</c:v>
                </c:pt>
                <c:pt idx="162">
                  <c:v>160000</c:v>
                </c:pt>
                <c:pt idx="163">
                  <c:v>161000</c:v>
                </c:pt>
                <c:pt idx="164">
                  <c:v>162000</c:v>
                </c:pt>
                <c:pt idx="165">
                  <c:v>163000</c:v>
                </c:pt>
                <c:pt idx="166">
                  <c:v>164000</c:v>
                </c:pt>
                <c:pt idx="167">
                  <c:v>165000</c:v>
                </c:pt>
                <c:pt idx="168">
                  <c:v>166000</c:v>
                </c:pt>
                <c:pt idx="169">
                  <c:v>167000</c:v>
                </c:pt>
                <c:pt idx="170">
                  <c:v>168000</c:v>
                </c:pt>
                <c:pt idx="171">
                  <c:v>169000</c:v>
                </c:pt>
                <c:pt idx="172">
                  <c:v>170000</c:v>
                </c:pt>
                <c:pt idx="173">
                  <c:v>171000</c:v>
                </c:pt>
                <c:pt idx="174">
                  <c:v>172000</c:v>
                </c:pt>
                <c:pt idx="175">
                  <c:v>173000</c:v>
                </c:pt>
                <c:pt idx="176">
                  <c:v>174000</c:v>
                </c:pt>
                <c:pt idx="177">
                  <c:v>175000</c:v>
                </c:pt>
                <c:pt idx="178">
                  <c:v>176000</c:v>
                </c:pt>
                <c:pt idx="181">
                  <c:v>177000</c:v>
                </c:pt>
                <c:pt idx="182">
                  <c:v>181000</c:v>
                </c:pt>
                <c:pt idx="183">
                  <c:v>182000</c:v>
                </c:pt>
                <c:pt idx="184">
                  <c:v>183000</c:v>
                </c:pt>
                <c:pt idx="185">
                  <c:v>184000</c:v>
                </c:pt>
                <c:pt idx="186">
                  <c:v>185000</c:v>
                </c:pt>
                <c:pt idx="187">
                  <c:v>186000</c:v>
                </c:pt>
                <c:pt idx="188">
                  <c:v>187000</c:v>
                </c:pt>
                <c:pt idx="189">
                  <c:v>188000</c:v>
                </c:pt>
                <c:pt idx="190">
                  <c:v>189000</c:v>
                </c:pt>
                <c:pt idx="191">
                  <c:v>190000</c:v>
                </c:pt>
                <c:pt idx="192">
                  <c:v>191000</c:v>
                </c:pt>
                <c:pt idx="193">
                  <c:v>192000</c:v>
                </c:pt>
                <c:pt idx="194">
                  <c:v>193000</c:v>
                </c:pt>
                <c:pt idx="195">
                  <c:v>194000</c:v>
                </c:pt>
                <c:pt idx="196">
                  <c:v>195000</c:v>
                </c:pt>
                <c:pt idx="197">
                  <c:v>196000</c:v>
                </c:pt>
                <c:pt idx="198">
                  <c:v>197000</c:v>
                </c:pt>
                <c:pt idx="199">
                  <c:v>198000</c:v>
                </c:pt>
                <c:pt idx="200">
                  <c:v>199000</c:v>
                </c:pt>
                <c:pt idx="201">
                  <c:v>200000</c:v>
                </c:pt>
                <c:pt idx="202">
                  <c:v>201000</c:v>
                </c:pt>
                <c:pt idx="203">
                  <c:v>202000</c:v>
                </c:pt>
                <c:pt idx="204">
                  <c:v>203000</c:v>
                </c:pt>
                <c:pt idx="205">
                  <c:v>204000</c:v>
                </c:pt>
                <c:pt idx="206">
                  <c:v>205000</c:v>
                </c:pt>
                <c:pt idx="207">
                  <c:v>206000</c:v>
                </c:pt>
                <c:pt idx="208">
                  <c:v>207000</c:v>
                </c:pt>
                <c:pt idx="209">
                  <c:v>208000</c:v>
                </c:pt>
                <c:pt idx="210">
                  <c:v>209000</c:v>
                </c:pt>
                <c:pt idx="211">
                  <c:v>210000</c:v>
                </c:pt>
                <c:pt idx="212">
                  <c:v>211000</c:v>
                </c:pt>
                <c:pt idx="213">
                  <c:v>212000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456638512"/>
        <c:axId val="-456640688"/>
      </c:scatterChart>
      <c:valAx>
        <c:axId val="-456638512"/>
        <c:scaling>
          <c:orientation val="minMax"/>
          <c:max val="9"/>
          <c:min val="0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黑体" panose="02010609060101010101" pitchFamily="49" charset="-122"/>
                    <a:cs typeface="+mn-cs"/>
                  </a:defRPr>
                </a:pPr>
                <a:r>
                  <a:rPr lang="zh-CN" sz="1400" dirty="0"/>
                  <a:t>时间</a:t>
                </a:r>
                <a:r>
                  <a:rPr lang="en-US" sz="1400" dirty="0"/>
                  <a:t>(s)</a:t>
                </a:r>
                <a:endParaRPr lang="en-US" sz="1400" dirty="0"/>
              </a:p>
            </c:rich>
          </c:tx>
          <c:layout>
            <c:manualLayout>
              <c:xMode val="edge"/>
              <c:yMode val="edge"/>
              <c:x val="0.868601136356369"/>
              <c:y val="0.845987497531833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25400" cap="flat" cmpd="sng" algn="ctr">
            <a:solidFill>
              <a:srgbClr val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defRPr>
            </a:pPr>
          </a:p>
        </c:txPr>
        <c:crossAx val="-456640688"/>
        <c:crosses val="autoZero"/>
        <c:crossBetween val="midCat"/>
      </c:valAx>
      <c:valAx>
        <c:axId val="-456640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黑体" panose="02010609060101010101" pitchFamily="49" charset="-122"/>
                    <a:cs typeface="+mn-cs"/>
                  </a:defRPr>
                </a:pPr>
                <a:r>
                  <a:rPr lang="zh-CN" sz="1400"/>
                  <a:t>序列号</a:t>
                </a:r>
                <a:endParaRPr lang="en-US" sz="1400"/>
              </a:p>
            </c:rich>
          </c:tx>
          <c:layout>
            <c:manualLayout>
              <c:xMode val="edge"/>
              <c:yMode val="edge"/>
              <c:x val="0.0109578829025102"/>
              <c:y val="0.206247088654361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0,&quot;K&quot;" sourceLinked="1"/>
        <c:majorTickMark val="none"/>
        <c:minorTickMark val="none"/>
        <c:tickLblPos val="nextTo"/>
        <c:spPr>
          <a:noFill/>
          <a:ln w="25400" cap="flat" cmpd="sng" algn="ctr">
            <a:solidFill>
              <a:srgbClr val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defRPr>
            </a:pPr>
          </a:p>
        </c:txPr>
        <c:crossAx val="-456638512"/>
        <c:crosses val="autoZero"/>
        <c:crossBetween val="midCat"/>
      </c:valAx>
      <c:spPr>
        <a:noFill/>
        <a:ln w="25400">
          <a:solidFill>
            <a:srgbClr val="000000"/>
          </a:solidFill>
        </a:ln>
        <a:effectLst/>
      </c:spPr>
    </c:plotArea>
    <c:legend>
      <c:legendPos val="b"/>
      <c:layout>
        <c:manualLayout>
          <c:xMode val="edge"/>
          <c:yMode val="edge"/>
          <c:x val="0.191981631670555"/>
          <c:y val="0.0495122455529632"/>
          <c:w val="0.336300656348429"/>
          <c:h val="0.08309966462525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黑体" panose="02010609060101010101" pitchFamily="49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1f71deb-b472-4e06-a6b7-562655c0e1c3}"/>
      </c:ext>
    </c:extLst>
  </c:chart>
  <c:spPr>
    <a:noFill/>
    <a:ln>
      <a:noFill/>
    </a:ln>
    <a:effectLst/>
  </c:spPr>
  <c:txPr>
    <a:bodyPr/>
    <a:lstStyle/>
    <a:p>
      <a:pPr>
        <a:defRPr lang="zh-CN" sz="800" baseline="0">
          <a:latin typeface="Calibri" panose="020F0502020204030204" pitchFamily="34" charset="0"/>
          <a:ea typeface="黑体" panose="02010609060101010101" pitchFamily="49" charset="-122"/>
        </a:defRPr>
      </a:pPr>
    </a:p>
  </c:txPr>
  <c:externalData r:id="rId1">
    <c:autoUpdate val="0"/>
  </c:externalData>
  <c:userShapes r:id="rId2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0.39333</cdr:x>
      <cdr:y>0.5</cdr:y>
    </cdr:from>
    <cdr:to>
      <cdr:x>0.56265</cdr:x>
      <cdr:y>0.57247</cdr:y>
    </cdr:to>
    <cdr:sp>
      <cdr:nvSpPr>
        <cdr:cNvPr id="2" name="矩形 1"/>
        <cdr:cNvSpPr/>
      </cdr:nvSpPr>
      <cdr:spPr xmlns:a="http://schemas.openxmlformats.org/drawingml/2006/main">
        <a:xfrm xmlns:a="http://schemas.openxmlformats.org/drawingml/2006/main">
          <a:off x="2124236" y="1944216"/>
          <a:ext cx="914400" cy="281781"/>
        </a:xfrm>
        <a:prstGeom xmlns:a="http://schemas.openxmlformats.org/drawingml/2006/main" prst="rect">
          <a:avLst/>
        </a:prstGeom>
      </cdr:spPr>
      <cdr:txBody xmlns:a="http://schemas.openxmlformats.org/drawingml/2006/main">
        <a:bodyPr vertOverflow="clip" vert="horz" wrap="none" lIns="45720" tIns="45720" rIns="45720" bIns="45720" rtlCol="0" anchor="t" anchorCtr="0">
          <a:normAutofit/>
        </a:bodyPr>
        <a:lstStyle/>
        <a:p>
          <a:endParaRPr lang="en-US" sz="110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C19034-ABE1-4D5D-AD6C-0DBC929EAC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solidFill>
                <a:srgbClr val="0070C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网络不规则的，异构的，难以很好模型化；发展快。</a:t>
            </a:r>
            <a:endParaRPr lang="en-US" altLang="zh-CN" dirty="0"/>
          </a:p>
          <a:p>
            <a:r>
              <a:rPr lang="en-US" altLang="zh-CN" dirty="0"/>
              <a:t>TCP</a:t>
            </a:r>
            <a:r>
              <a:rPr lang="zh-CN" altLang="en-US" baseline="0" dirty="0"/>
              <a:t> </a:t>
            </a:r>
            <a:r>
              <a:rPr lang="en-US" altLang="zh-CN" baseline="0" dirty="0"/>
              <a:t>, 1988</a:t>
            </a:r>
            <a:r>
              <a:rPr lang="zh-CN" altLang="en-US" baseline="0" dirty="0"/>
              <a:t>年拥塞崩溃，</a:t>
            </a:r>
            <a:r>
              <a:rPr lang="en-US" altLang="zh-CN" baseline="0" dirty="0"/>
              <a:t>32Kbps -&gt; 4bps</a:t>
            </a:r>
            <a:r>
              <a:rPr lang="zh-CN" altLang="en-US" baseline="0" dirty="0"/>
              <a:t>，新的算法，成功，然后各种理论模型</a:t>
            </a:r>
            <a:endParaRPr lang="en-US" altLang="zh-CN" baseline="0" dirty="0"/>
          </a:p>
          <a:p>
            <a:r>
              <a:rPr lang="zh-CN" altLang="en-US" baseline="0" dirty="0"/>
              <a:t>现在网络发展快，理论、标准更加跟不上。</a:t>
            </a:r>
            <a:r>
              <a:rPr lang="en-US" altLang="zh-CN" baseline="0" dirty="0"/>
              <a:t>Google</a:t>
            </a:r>
            <a:r>
              <a:rPr lang="zh-CN" altLang="en-US" baseline="0" dirty="0"/>
              <a:t>，先系统，然后部署应用，再标准化</a:t>
            </a:r>
            <a:endParaRPr lang="en-US" altLang="zh-CN" baseline="0" dirty="0"/>
          </a:p>
          <a:p>
            <a:endParaRPr lang="en-US" altLang="zh-CN" baseline="0" dirty="0"/>
          </a:p>
          <a:p>
            <a:endParaRPr lang="en-US" altLang="zh-CN" baseline="0" dirty="0"/>
          </a:p>
          <a:p>
            <a:r>
              <a:rPr lang="zh-CN" altLang="en-US" baseline="0" dirty="0"/>
              <a:t>测量还可以指导网络优化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这个问题很大，后面会展开说，现在只看固定还是变动。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网络移动性问题是现网的最根本问题之一：移动、网间切换。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网络安全是现网体系结构的最根本问题之一。这里的安全指的是</a:t>
            </a:r>
            <a:r>
              <a:rPr lang="en-US" altLang="zh-CN" dirty="0"/>
              <a:t>DDoS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假设是分组交换网络：可靠性高、复用性高；会话性能差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这种分离是现有体系结构能够成功的最主要原因。</a:t>
            </a:r>
            <a:endParaRPr lang="en-US" altLang="zh-CN" dirty="0"/>
          </a:p>
          <a:p>
            <a:r>
              <a:rPr lang="zh-CN" altLang="en-US" dirty="0"/>
              <a:t>保证了</a:t>
            </a:r>
            <a:r>
              <a:rPr lang="en-US" altLang="zh-CN" dirty="0"/>
              <a:t>IP</a:t>
            </a:r>
            <a:r>
              <a:rPr lang="zh-CN" altLang="en-US" dirty="0"/>
              <a:t>层只提供最基本的功能。（也和当时的硬件水平有关系）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组网中可能不止一个交换机，可能有环路；</a:t>
            </a:r>
            <a:endParaRPr lang="en-US" altLang="zh-CN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交换机搭建一个网，路由器连接不同的网</a:t>
            </a:r>
            <a:endParaRPr lang="en-US" altLang="zh-CN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有三个层次：</a:t>
            </a:r>
            <a:endParaRPr lang="en-US" altLang="zh-CN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直连网络、</a:t>
            </a:r>
            <a:endParaRPr lang="en-US" altLang="zh-CN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自治域系统内的网络互联</a:t>
            </a:r>
            <a:endParaRPr lang="en-US" altLang="zh-CN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域间的网络互连</a:t>
            </a:r>
            <a:endParaRPr lang="en-US" altLang="zh-CN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后两者的区别在于：域内是自治的，可以统一管理，以性能为目标；域间，更多以经济因素为目标指导互连</a:t>
            </a:r>
            <a:r>
              <a:rPr lang="en-US" altLang="zh-CN" dirty="0"/>
              <a:t>/</a:t>
            </a:r>
            <a:r>
              <a:rPr lang="zh-CN" altLang="en-US" dirty="0"/>
              <a:t>路由。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注意，该表只是示例，应该保存</a:t>
            </a:r>
            <a:r>
              <a:rPr lang="en-US" altLang="zh-CN" dirty="0"/>
              <a:t>MAC</a:t>
            </a:r>
            <a:r>
              <a:rPr lang="zh-CN" altLang="en-US" dirty="0"/>
              <a:t>地址到端口的映射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注意，转发表也构成一个树。但不同于</a:t>
            </a:r>
            <a:r>
              <a:rPr lang="en-US" altLang="zh-CN" dirty="0"/>
              <a:t>MST</a:t>
            </a:r>
            <a:r>
              <a:rPr lang="zh-CN" altLang="en-US" dirty="0"/>
              <a:t>。一般域内基于性能的最短路径，域间基于策略。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转发表中，</a:t>
            </a:r>
            <a:r>
              <a:rPr lang="en-US" altLang="zh-CN" dirty="0"/>
              <a:t>A-E</a:t>
            </a:r>
            <a:r>
              <a:rPr lang="zh-CN" altLang="en-US" dirty="0"/>
              <a:t>不是指节点，而</a:t>
            </a:r>
            <a:r>
              <a:rPr lang="en-US" altLang="zh-CN" dirty="0"/>
              <a:t>IP</a:t>
            </a:r>
            <a:r>
              <a:rPr lang="zh-CN" altLang="en-US" dirty="0"/>
              <a:t>地址，一个路由器节点会有多个</a:t>
            </a:r>
            <a:r>
              <a:rPr lang="en-US" altLang="zh-CN" dirty="0"/>
              <a:t>IP</a:t>
            </a:r>
            <a:r>
              <a:rPr lang="zh-CN" altLang="en-US" dirty="0"/>
              <a:t>地址。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在拥塞崩溃后，设计的现代</a:t>
            </a:r>
            <a:r>
              <a:rPr lang="en-US" altLang="zh-CN" dirty="0"/>
              <a:t>TCP</a:t>
            </a:r>
            <a:r>
              <a:rPr lang="zh-CN" altLang="en-US" dirty="0"/>
              <a:t>，其核心一直没变，后面一直在修补。但不能满足很多现代应用的需求。因此，提出了</a:t>
            </a:r>
            <a:r>
              <a:rPr lang="en-US" altLang="zh-CN" dirty="0"/>
              <a:t>UDT</a:t>
            </a:r>
            <a:r>
              <a:rPr lang="zh-CN" altLang="en-US" dirty="0"/>
              <a:t>、</a:t>
            </a:r>
            <a:r>
              <a:rPr lang="en-US" altLang="zh-CN" dirty="0"/>
              <a:t>QUIC</a:t>
            </a:r>
            <a:r>
              <a:rPr lang="zh-CN" altLang="en-US" dirty="0"/>
              <a:t>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指的是第三种，前两种都可以通过升级网络系统来解决。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DDoS</a:t>
            </a:r>
            <a:r>
              <a:rPr lang="zh-CN" altLang="en-US" dirty="0"/>
              <a:t>问题的核心，难以区分正常用户和恶意流量；解决办法，在不影响正常用户的前提下，或堵，或疏。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比如说，为了延迟，使用</a:t>
            </a:r>
            <a:r>
              <a:rPr lang="en-US" altLang="zh-CN" dirty="0"/>
              <a:t>http</a:t>
            </a:r>
            <a:r>
              <a:rPr lang="zh-CN" altLang="en-US" dirty="0"/>
              <a:t>，而不用更安全的</a:t>
            </a:r>
            <a:r>
              <a:rPr lang="en-US" altLang="zh-CN" dirty="0"/>
              <a:t>https</a:t>
            </a:r>
            <a:endParaRPr lang="en-US" altLang="zh-CN" dirty="0"/>
          </a:p>
          <a:p>
            <a:r>
              <a:rPr lang="zh-CN" altLang="en-US" dirty="0"/>
              <a:t>此处的延迟，指的是结果返回时间。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05</a:t>
            </a:r>
            <a:r>
              <a:rPr lang="zh-CN" altLang="en-US" dirty="0"/>
              <a:t>年之前，研究</a:t>
            </a:r>
            <a:r>
              <a:rPr lang="en-US" altLang="zh-CN" dirty="0" err="1"/>
              <a:t>QoS</a:t>
            </a:r>
            <a:r>
              <a:rPr lang="zh-CN" altLang="en-US" dirty="0"/>
              <a:t>的很多</a:t>
            </a:r>
            <a:endParaRPr lang="en-US" altLang="zh-CN" dirty="0"/>
          </a:p>
          <a:p>
            <a:r>
              <a:rPr lang="en-US" altLang="zh-CN" dirty="0"/>
              <a:t>05</a:t>
            </a:r>
            <a:r>
              <a:rPr lang="zh-CN" altLang="en-US" dirty="0"/>
              <a:t>年</a:t>
            </a:r>
            <a:r>
              <a:rPr lang="en-US" altLang="zh-CN" dirty="0"/>
              <a:t>-12</a:t>
            </a:r>
            <a:r>
              <a:rPr lang="zh-CN" altLang="en-US" dirty="0"/>
              <a:t>年，研究传输性能的很多</a:t>
            </a:r>
            <a:endParaRPr lang="en-US" altLang="zh-CN" dirty="0"/>
          </a:p>
          <a:p>
            <a:r>
              <a:rPr lang="en-US" altLang="zh-CN" dirty="0"/>
              <a:t>12</a:t>
            </a:r>
            <a:r>
              <a:rPr lang="zh-CN" altLang="en-US" dirty="0"/>
              <a:t>年</a:t>
            </a:r>
            <a:r>
              <a:rPr lang="en-US" altLang="zh-CN" dirty="0"/>
              <a:t>-22</a:t>
            </a:r>
            <a:r>
              <a:rPr lang="zh-CN" altLang="en-US" dirty="0"/>
              <a:t>年，研究</a:t>
            </a:r>
            <a:r>
              <a:rPr lang="en-US" altLang="zh-CN" dirty="0" err="1"/>
              <a:t>QoE</a:t>
            </a:r>
            <a:r>
              <a:rPr lang="zh-CN" altLang="en-US" dirty="0"/>
              <a:t>的很多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、建立起</a:t>
            </a:r>
            <a:r>
              <a:rPr lang="en-US" altLang="zh-CN" dirty="0" err="1"/>
              <a:t>QoE</a:t>
            </a:r>
            <a:r>
              <a:rPr lang="en-US" altLang="zh-CN" dirty="0"/>
              <a:t> -&gt; </a:t>
            </a:r>
            <a:r>
              <a:rPr lang="en-US" altLang="zh-CN" dirty="0" err="1"/>
              <a:t>QoS</a:t>
            </a:r>
            <a:r>
              <a:rPr lang="zh-CN" altLang="en-US" dirty="0"/>
              <a:t>的映射关系（测量）；</a:t>
            </a:r>
            <a:r>
              <a:rPr lang="en-US" altLang="zh-CN" dirty="0"/>
              <a:t>2</a:t>
            </a:r>
            <a:r>
              <a:rPr lang="zh-CN" altLang="en-US" dirty="0"/>
              <a:t>、在传输性能中，表达</a:t>
            </a:r>
            <a:r>
              <a:rPr lang="en-US" altLang="zh-CN" dirty="0" err="1"/>
              <a:t>QoE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带宽与延迟的例子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不同层之间的数据包通过</a:t>
            </a:r>
            <a:r>
              <a:rPr lang="en-US" altLang="zh-CN" dirty="0"/>
              <a:t>buffer</a:t>
            </a:r>
            <a:r>
              <a:rPr lang="zh-CN" altLang="en-US" dirty="0"/>
              <a:t>来传递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当负载较小时，不会有多大延迟；延迟随着负载增大而增加。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超过</a:t>
            </a:r>
            <a:r>
              <a:rPr lang="en-US" altLang="zh-CN" dirty="0" err="1"/>
              <a:t>BDP+BufSize</a:t>
            </a:r>
            <a:r>
              <a:rPr lang="zh-CN" altLang="en-US" dirty="0"/>
              <a:t>后，会造成网络拥塞崩溃</a:t>
            </a:r>
            <a:endParaRPr lang="en-US" altLang="zh-CN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aseline="0" dirty="0"/>
              <a:t>现有的</a:t>
            </a:r>
            <a:r>
              <a:rPr lang="en-US" altLang="zh-CN" baseline="0" dirty="0"/>
              <a:t>TCP</a:t>
            </a:r>
            <a:r>
              <a:rPr lang="zh-CN" altLang="en-US" baseline="0" dirty="0"/>
              <a:t>机制倾向于向右滑动。</a:t>
            </a:r>
            <a:endParaRPr lang="en-US" altLang="zh-CN" baseline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aseline="0" dirty="0"/>
              <a:t>为什么</a:t>
            </a:r>
            <a:r>
              <a:rPr lang="en-US" altLang="zh-CN" baseline="0" dirty="0" err="1"/>
              <a:t>BufBloat</a:t>
            </a:r>
            <a:r>
              <a:rPr lang="zh-CN" altLang="en-US" baseline="0" dirty="0"/>
              <a:t>问题最近才出现？ </a:t>
            </a:r>
            <a:r>
              <a:rPr lang="en-US" altLang="zh-CN" baseline="0" dirty="0"/>
              <a:t>-&gt; </a:t>
            </a:r>
            <a:r>
              <a:rPr lang="zh-CN" altLang="en-US" baseline="0" dirty="0"/>
              <a:t>近些年</a:t>
            </a:r>
            <a:r>
              <a:rPr lang="en-US" altLang="zh-CN" baseline="0" dirty="0"/>
              <a:t>Buffer</a:t>
            </a:r>
            <a:r>
              <a:rPr lang="zh-CN" altLang="en-US" baseline="0" dirty="0"/>
              <a:t>越来越大。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如何改进？</a:t>
            </a:r>
            <a:endParaRPr lang="en-US" altLang="zh-CN" dirty="0"/>
          </a:p>
          <a:p>
            <a:r>
              <a:rPr lang="zh-CN" altLang="en-US" dirty="0"/>
              <a:t>不要想当然：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DNS</a:t>
            </a:r>
            <a:r>
              <a:rPr lang="zh-CN" altLang="en-US" dirty="0"/>
              <a:t>可以融入到路由中；</a:t>
            </a:r>
            <a:r>
              <a:rPr lang="en-US" altLang="zh-CN" dirty="0"/>
              <a:t>2</a:t>
            </a:r>
            <a:r>
              <a:rPr lang="zh-CN" altLang="en-US" dirty="0"/>
              <a:t>、三次握手时就可以传数据；</a:t>
            </a:r>
            <a:r>
              <a:rPr lang="en-US" altLang="zh-CN" dirty="0"/>
              <a:t>3</a:t>
            </a:r>
            <a:r>
              <a:rPr lang="zh-CN" altLang="en-US" dirty="0"/>
              <a:t>、减少发送延迟；</a:t>
            </a:r>
            <a:r>
              <a:rPr lang="en-US" altLang="zh-CN" dirty="0"/>
              <a:t>4</a:t>
            </a:r>
            <a:r>
              <a:rPr lang="zh-CN" altLang="en-US" dirty="0"/>
              <a:t>、端到端时延可控。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本实验为</a:t>
            </a:r>
            <a:r>
              <a:rPr lang="en-US" altLang="zh-CN"/>
              <a:t>baidu</a:t>
            </a:r>
            <a:r>
              <a:rPr lang="zh-CN" altLang="en-US"/>
              <a:t>页面的获取过程，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问题：是否可以不在</a:t>
            </a:r>
            <a:r>
              <a:rPr lang="en-US" altLang="zh-CN"/>
              <a:t>mininet</a:t>
            </a:r>
            <a:r>
              <a:rPr lang="zh-CN" altLang="en-US"/>
              <a:t>环境下完成呢？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hidden">
          <a:xfrm>
            <a:off x="0" y="0"/>
            <a:ext cx="3505200" cy="6858000"/>
          </a:xfrm>
          <a:prstGeom prst="rect">
            <a:avLst/>
          </a:prstGeom>
          <a:gradFill rotWithShape="0">
            <a:gsLst>
              <a:gs pos="0">
                <a:srgbClr val="CCEC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1187454" y="1706566"/>
            <a:ext cx="574675" cy="6429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6" name="Rectangle 26"/>
          <p:cNvSpPr>
            <a:spLocks noChangeArrowheads="1"/>
          </p:cNvSpPr>
          <p:nvPr/>
        </p:nvSpPr>
        <p:spPr bwMode="auto">
          <a:xfrm>
            <a:off x="573090" y="3582988"/>
            <a:ext cx="576262" cy="64135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7" name="Picture 21" descr="logo－t-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1" y="1700213"/>
            <a:ext cx="7956550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7"/>
          <p:cNvSpPr>
            <a:spLocks noChangeArrowheads="1"/>
          </p:cNvSpPr>
          <p:nvPr/>
        </p:nvSpPr>
        <p:spPr bwMode="auto">
          <a:xfrm>
            <a:off x="1187450" y="1690690"/>
            <a:ext cx="1103313" cy="642937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9" name="Rectangle 28"/>
          <p:cNvSpPr>
            <a:spLocks noChangeArrowheads="1"/>
          </p:cNvSpPr>
          <p:nvPr/>
        </p:nvSpPr>
        <p:spPr bwMode="auto">
          <a:xfrm>
            <a:off x="2281242" y="1066800"/>
            <a:ext cx="585787" cy="6350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Rectangle 29"/>
          <p:cNvSpPr>
            <a:spLocks noChangeArrowheads="1"/>
          </p:cNvSpPr>
          <p:nvPr/>
        </p:nvSpPr>
        <p:spPr bwMode="auto">
          <a:xfrm>
            <a:off x="1141413" y="3582988"/>
            <a:ext cx="584200" cy="641350"/>
          </a:xfrm>
          <a:prstGeom prst="rect">
            <a:avLst/>
          </a:prstGeom>
          <a:solidFill>
            <a:srgbClr val="00196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0"/>
          <p:cNvSpPr>
            <a:spLocks noChangeArrowheads="1"/>
          </p:cNvSpPr>
          <p:nvPr/>
        </p:nvSpPr>
        <p:spPr bwMode="auto">
          <a:xfrm>
            <a:off x="2281242" y="1690690"/>
            <a:ext cx="585787" cy="642937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2" name="Rectangle 31"/>
          <p:cNvSpPr>
            <a:spLocks noChangeArrowheads="1"/>
          </p:cNvSpPr>
          <p:nvPr/>
        </p:nvSpPr>
        <p:spPr bwMode="auto">
          <a:xfrm>
            <a:off x="1141413" y="2324108"/>
            <a:ext cx="584200" cy="63341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3" name="Rectangle 32"/>
          <p:cNvSpPr>
            <a:spLocks noChangeArrowheads="1"/>
          </p:cNvSpPr>
          <p:nvPr/>
        </p:nvSpPr>
        <p:spPr bwMode="auto">
          <a:xfrm>
            <a:off x="1716092" y="2324108"/>
            <a:ext cx="574675" cy="63341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4" name="Rectangle 34"/>
          <p:cNvSpPr>
            <a:spLocks noChangeArrowheads="1"/>
          </p:cNvSpPr>
          <p:nvPr/>
        </p:nvSpPr>
        <p:spPr bwMode="auto">
          <a:xfrm>
            <a:off x="1141413" y="2947996"/>
            <a:ext cx="584200" cy="64452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15" name="图片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9" y="6289675"/>
            <a:ext cx="229076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28"/>
          <p:cNvGrpSpPr/>
          <p:nvPr/>
        </p:nvGrpSpPr>
        <p:grpSpPr bwMode="auto">
          <a:xfrm>
            <a:off x="339725" y="6335713"/>
            <a:ext cx="1951038" cy="412750"/>
            <a:chOff x="317485" y="6328079"/>
            <a:chExt cx="1950259" cy="413289"/>
          </a:xfrm>
        </p:grpSpPr>
        <p:grpSp>
          <p:nvGrpSpPr>
            <p:cNvPr id="17" name="Group 19"/>
            <p:cNvGrpSpPr/>
            <p:nvPr userDrawn="1"/>
          </p:nvGrpSpPr>
          <p:grpSpPr bwMode="auto">
            <a:xfrm>
              <a:off x="317485" y="6328079"/>
              <a:ext cx="504751" cy="413289"/>
              <a:chOff x="249" y="414"/>
              <a:chExt cx="681" cy="586"/>
            </a:xfrm>
          </p:grpSpPr>
          <p:pic>
            <p:nvPicPr>
              <p:cNvPr id="20" name="Picture 20" descr="logo－b"/>
              <p:cNvPicPr>
                <a:picLocks noChangeAspect="1" noChangeArrowheads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436"/>
                <a:ext cx="681" cy="5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" name="Picture 21" descr="logo"/>
              <p:cNvPicPr>
                <a:picLocks noChangeAspect="1" noChangeArrowheads="1"/>
              </p:cNvPicPr>
              <p:nvPr userDrawn="1"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414"/>
                <a:ext cx="681" cy="5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8" name="Picture 22" descr="logo－zi"/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082" y="6386484"/>
              <a:ext cx="974503" cy="2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23" descr="logo－Y-H-1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5831" y="6616168"/>
              <a:ext cx="1331913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6990080" y="45085"/>
            <a:ext cx="215392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600" dirty="0">
                <a:solidFill>
                  <a:srgbClr val="9C9CC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计算机网络（研讨课）</a:t>
            </a:r>
            <a:endParaRPr lang="zh-CN" altLang="en-US" sz="1600" dirty="0">
              <a:solidFill>
                <a:srgbClr val="9C9CC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651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10651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1547664" y="2028038"/>
            <a:ext cx="7560840" cy="2010569"/>
          </a:xfrm>
        </p:spPr>
        <p:txBody>
          <a:bodyPr/>
          <a:lstStyle>
            <a:lvl1pPr algn="ctr">
              <a:defRPr sz="40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23" name="Rectangle 1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4" name="Rectangle 1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25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72DAB1FE-0C97-4264-BBEE-6EB0937697B2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11560"/>
          </a:xfrm>
        </p:spPr>
        <p:txBody>
          <a:bodyPr/>
          <a:lstStyle>
            <a:lvl1pPr>
              <a:defRPr sz="3600" b="1" baseline="0">
                <a:effectLst/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5034843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sz="2400" b="0" baseline="0"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2000" b="0" baseline="0"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800" b="0" baseline="0"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600" b="0" baseline="0"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600" b="0" baseline="0">
                <a:latin typeface="Calibri" panose="020F0502020204030204" pitchFamily="34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827912" y="6705601"/>
            <a:ext cx="208843" cy="152401"/>
          </a:xfrm>
        </p:spPr>
        <p:txBody>
          <a:bodyPr lIns="0" tIns="0" rIns="0" bIns="0"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4E66CA4B-62FD-4F41-A273-D0CE20CE9D2C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8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8A217C72-D1A8-4AAF-85C3-457A1C629658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6C342930-584E-419B-A671-37EC0C92F8ED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D7878769-730F-4726-87BF-0F749A8E2638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AE05D7DB-7C00-402E-8967-4E9C7E66E963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3672CB05-5C36-4C31-8CAB-AE0023A1B9C8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8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F3976007-893A-457C-BBD7-A094EFDA5302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D4D89B0E-6E50-4259-B190-49097CC19A41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395ABD29-FB4B-4289-A3C4-B5B125FED8F8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700986B1-7CB0-45A9-A795-BD062051F225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6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7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6125A-BC9B-4ABD-9A5C-B43E0651539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251E-2069-46DC-AE39-7971CD6C3E1A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2D6A4-0239-4671-B0F6-53C442D9AA3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D770F-B97E-45DB-892B-02D364E49E4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164A-9C58-45EF-8FBC-0DF260CAAA30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5C1D4-36DB-4D60-A6D1-E773855499A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8D81-E242-4B27-B0E4-C64DA46D613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1194-07FD-4A17-9090-2089C789952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AB34-7A6D-49AF-94F9-08BC505F7980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915D7-AE6C-42FC-9028-5CC33A077A1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21E0-A861-49C9-BECD-AC4C77643106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65D9-C0FE-4741-84AD-DF4DA0CA6B6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7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grpSp>
        <p:nvGrpSpPr>
          <p:cNvPr id="1028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548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C08E68A2-AD48-4974-B9F0-FEADD0E590E4}" type="datetime1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5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D5D39203-2E53-4F16-87C7-15A91EC9201A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5.jpeg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ww.baidu.com/" TargetMode="Externa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4.png"/><Relationship Id="rId6" Type="http://schemas.openxmlformats.org/officeDocument/2006/relationships/image" Target="../media/image33.jpe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6" Type="http://schemas.openxmlformats.org/officeDocument/2006/relationships/image" Target="../media/image41.jpe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5.jpeg"/><Relationship Id="rId1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32.png"/><Relationship Id="rId3" Type="http://schemas.openxmlformats.org/officeDocument/2006/relationships/image" Target="../media/image48.jpeg"/><Relationship Id="rId2" Type="http://schemas.openxmlformats.org/officeDocument/2006/relationships/image" Target="../media/image33.jpeg"/><Relationship Id="rId1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ww.thesaurus.com/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4.xml"/><Relationship Id="rId5" Type="http://schemas.openxmlformats.org/officeDocument/2006/relationships/image" Target="../media/image56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55.png"/><Relationship Id="rId1" Type="http://schemas.openxmlformats.org/officeDocument/2006/relationships/tags" Target="../tags/tag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1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ww.baidu.com/" TargetMode="Externa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1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9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561840" y="4267200"/>
            <a:ext cx="4429760" cy="1752600"/>
          </a:xfrm>
        </p:spPr>
        <p:txBody>
          <a:bodyPr/>
          <a:lstStyle/>
          <a:p>
            <a:r>
              <a:rPr lang="zh-CN" altLang="en-US" sz="2400" dirty="0"/>
              <a:t>武庆华</a:t>
            </a:r>
            <a:endParaRPr lang="en-US" altLang="zh-CN" sz="2400" dirty="0"/>
          </a:p>
          <a:p>
            <a:r>
              <a:rPr lang="en-US" altLang="zh-CN" sz="2400" dirty="0"/>
              <a:t>wuqinghua@ict.ac.cn</a:t>
            </a:r>
            <a:endParaRPr lang="zh-CN" altLang="en-US" sz="240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互联网体系结构初识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课程说明</a:t>
            </a:r>
            <a:endParaRPr lang="en-US" altLang="zh-CN" dirty="0"/>
          </a:p>
          <a:p>
            <a:r>
              <a:rPr lang="zh-CN" altLang="en-US" dirty="0"/>
              <a:t>互联网体系结构初识</a:t>
            </a:r>
            <a:endParaRPr lang="en-US" altLang="zh-CN" dirty="0"/>
          </a:p>
          <a:p>
            <a:pPr lvl="1"/>
            <a:r>
              <a:rPr lang="zh-CN" altLang="en-US" dirty="0"/>
              <a:t>互联网体系结构</a:t>
            </a:r>
            <a:endParaRPr lang="en-US" altLang="zh-CN" dirty="0"/>
          </a:p>
          <a:p>
            <a:pPr lvl="1"/>
            <a:r>
              <a:rPr lang="zh-CN" altLang="en-US" dirty="0"/>
              <a:t>互联网性能</a:t>
            </a:r>
            <a:endParaRPr lang="zh-CN" altLang="en-US" dirty="0"/>
          </a:p>
          <a:p>
            <a:pPr lvl="1"/>
            <a:endParaRPr lang="zh-CN" altLang="en-US" dirty="0"/>
          </a:p>
          <a:p>
            <a:pPr lvl="0"/>
            <a:r>
              <a:rPr lang="zh-CN" altLang="en-US" sz="2400" dirty="0"/>
              <a:t>实验环境简介</a:t>
            </a:r>
            <a:endParaRPr lang="zh-CN" altLang="en-US" sz="2400" dirty="0"/>
          </a:p>
          <a:p>
            <a:pPr lvl="0"/>
            <a:r>
              <a:rPr lang="zh-CN" altLang="en-US" sz="2400" dirty="0"/>
              <a:t>两个简单实验</a:t>
            </a:r>
            <a:endParaRPr lang="zh-CN" altLang="en-US" sz="2400" dirty="0"/>
          </a:p>
          <a:p>
            <a:pPr lvl="1"/>
            <a:r>
              <a:rPr lang="zh-CN" altLang="en-US" dirty="0"/>
              <a:t>互联网协议分析实验</a:t>
            </a:r>
            <a:endParaRPr lang="zh-CN" altLang="en-US" dirty="0"/>
          </a:p>
          <a:p>
            <a:pPr lvl="1"/>
            <a:r>
              <a:rPr lang="zh-CN" altLang="en-US" dirty="0"/>
              <a:t>传输性能</a:t>
            </a:r>
            <a:r>
              <a:rPr lang="zh-CN" altLang="en-US" dirty="0"/>
              <a:t>测量实验</a:t>
            </a:r>
            <a:endParaRPr lang="zh-CN" altLang="en-US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课程基本信息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zh-CN" altLang="en-US" dirty="0"/>
              <a:t>计算机网络（研讨课）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是计算机网络课程的扩展和具化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通过实验等手段，认识：</a:t>
            </a:r>
            <a:endParaRPr lang="en-US" altLang="zh-CN" dirty="0"/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什么是计算机网络（互联网）</a:t>
            </a:r>
            <a:endParaRPr lang="en-US" altLang="zh-CN" dirty="0"/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如何构建一个完整的计算机网络系统</a:t>
            </a:r>
            <a:endParaRPr lang="en-US" altLang="zh-CN" dirty="0"/>
          </a:p>
          <a:p>
            <a:pPr>
              <a:spcBef>
                <a:spcPts val="0"/>
              </a:spcBef>
            </a:pPr>
            <a:endParaRPr lang="en-US" altLang="zh-CN" dirty="0"/>
          </a:p>
          <a:p>
            <a:pPr>
              <a:spcBef>
                <a:spcPts val="0"/>
              </a:spcBef>
            </a:pPr>
            <a:r>
              <a:rPr lang="zh-CN" altLang="en-US" dirty="0"/>
              <a:t>课程设置</a:t>
            </a:r>
            <a:endParaRPr lang="en-US" altLang="zh-CN" dirty="0"/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次讲解（</a:t>
            </a:r>
            <a:r>
              <a:rPr lang="en-US" altLang="zh-CN" dirty="0"/>
              <a:t>2</a:t>
            </a:r>
            <a:r>
              <a:rPr lang="zh-CN" altLang="en-US" dirty="0"/>
              <a:t>课时）</a:t>
            </a:r>
            <a:r>
              <a:rPr lang="en-US" altLang="zh-CN" dirty="0"/>
              <a:t>+ 12</a:t>
            </a:r>
            <a:r>
              <a:rPr lang="zh-CN" altLang="en-US" dirty="0"/>
              <a:t>次实验（</a:t>
            </a:r>
            <a:r>
              <a:rPr lang="en-US" altLang="zh-CN" dirty="0"/>
              <a:t>34</a:t>
            </a:r>
            <a:r>
              <a:rPr lang="zh-CN" altLang="en-US" dirty="0"/>
              <a:t>课时）</a:t>
            </a:r>
            <a:r>
              <a:rPr lang="en-US" altLang="zh-CN" dirty="0"/>
              <a:t>+ 2</a:t>
            </a:r>
            <a:r>
              <a:rPr lang="zh-CN" altLang="en-US" dirty="0"/>
              <a:t>次学生报告（</a:t>
            </a:r>
            <a:r>
              <a:rPr lang="en-US" altLang="zh-CN" dirty="0"/>
              <a:t>6</a:t>
            </a:r>
            <a:r>
              <a:rPr lang="zh-CN" altLang="en-US" dirty="0"/>
              <a:t>课时）</a:t>
            </a:r>
            <a:endParaRPr lang="en-US" altLang="zh-CN" dirty="0"/>
          </a:p>
          <a:p>
            <a:pPr>
              <a:spcBef>
                <a:spcPts val="0"/>
              </a:spcBef>
            </a:pPr>
            <a:r>
              <a:rPr lang="zh-CN" altLang="en-US" dirty="0"/>
              <a:t>考核方式</a:t>
            </a:r>
            <a:endParaRPr lang="en-US" altLang="zh-CN" dirty="0"/>
          </a:p>
          <a:p>
            <a:pPr lvl="1"/>
            <a:r>
              <a:rPr lang="zh-CN" altLang="en-US" dirty="0"/>
              <a:t>实验代码</a:t>
            </a:r>
            <a:r>
              <a:rPr lang="en-US" altLang="zh-CN" dirty="0"/>
              <a:t>+</a:t>
            </a:r>
            <a:r>
              <a:rPr lang="zh-CN" altLang="en-US" dirty="0"/>
              <a:t>实验报告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课程设置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91285"/>
            <a:ext cx="8131175" cy="45808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实验作业提交说明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-3810" y="1312545"/>
                <a:ext cx="9164320" cy="5167630"/>
              </a:xfrm>
            </p:spPr>
            <p:txBody>
              <a:bodyPr/>
              <a:lstStyle/>
              <a:p>
                <a:r>
                  <a:rPr lang="zh-CN" altLang="en-US" dirty="0"/>
                  <a:t>每次实验满分计</a:t>
                </a:r>
                <a:r>
                  <a:rPr lang="en-US" altLang="zh-CN" dirty="0"/>
                  <a:t>10</a:t>
                </a:r>
                <a:r>
                  <a:rPr lang="zh-CN" altLang="en-US" dirty="0"/>
                  <a:t>分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实验总成绩：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∗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机动加分：课堂表现</a:t>
                </a:r>
                <a:endParaRPr lang="zh-CN" altLang="en-US" dirty="0"/>
              </a:p>
              <a:p>
                <a:r>
                  <a:rPr lang="zh-CN" altLang="en-US" dirty="0"/>
                  <a:t>实验报告提交时间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实验代码截止时间：（简单：一周；较难：两周）（</a:t>
                </a:r>
                <a:r>
                  <a:rPr lang="en-US" altLang="zh-CN" dirty="0"/>
                  <a:t>OJ</a:t>
                </a:r>
                <a:r>
                  <a:rPr lang="zh-CN" altLang="en-US" dirty="0"/>
                  <a:t>网站，</a:t>
                </a:r>
                <a:r>
                  <a:rPr lang="zh-CN" altLang="en-US" dirty="0">
                    <a:sym typeface="+mn-ea"/>
                  </a:rPr>
                  <a:t>下次课讲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实验报告截止时间：代码截止时间的第二天</a:t>
                </a:r>
                <a:r>
                  <a:rPr lang="en-US" altLang="zh-CN" dirty="0"/>
                  <a:t>23:55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SEP</a:t>
                </a:r>
                <a:r>
                  <a:rPr lang="zh-CN" altLang="en-US" dirty="0"/>
                  <a:t>网站）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节假日调课时会调整提交截止时间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如遇特殊情况（生病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会议等），可邮件补交实验报告</a:t>
                </a:r>
                <a:endParaRPr lang="en-US" altLang="zh-CN" dirty="0"/>
              </a:p>
              <a:p>
                <a:pPr lvl="2"/>
                <a:r>
                  <a:rPr lang="zh-CN" altLang="en-US" dirty="0">
                    <a:sym typeface="+mn-ea"/>
                  </a:rPr>
                  <a:t>发送邮件给</a:t>
                </a:r>
                <a:r>
                  <a:rPr lang="en-US" altLang="zh-CN" dirty="0">
                    <a:sym typeface="+mn-ea"/>
                  </a:rPr>
                  <a:t>zhangxiuliang25s@ict.ac.cn</a:t>
                </a:r>
                <a:r>
                  <a:rPr lang="zh-CN" altLang="en-US" dirty="0">
                    <a:sym typeface="+mn-ea"/>
                  </a:rPr>
                  <a:t>（</a:t>
                </a:r>
                <a:r>
                  <a:rPr lang="zh-CN" altLang="en-US" dirty="0">
                    <a:sym typeface="+mn-ea"/>
                  </a:rPr>
                  <a:t>张修梁）</a:t>
                </a:r>
                <a:r>
                  <a:rPr lang="zh-CN" altLang="en-US" dirty="0"/>
                  <a:t>，</a:t>
                </a:r>
                <a:r>
                  <a:rPr lang="zh-CN" altLang="en-US" dirty="0">
                    <a:sym typeface="+mn-ea"/>
                  </a:rPr>
                  <a:t>抄送给</a:t>
                </a:r>
                <a:r>
                  <a:rPr lang="zh-CN" altLang="en-US" dirty="0">
                    <a:sym typeface="+mn-ea"/>
                  </a:rPr>
                  <a:t> </a:t>
                </a:r>
                <a:r>
                  <a:rPr lang="en-US" altLang="zh-CN" dirty="0">
                    <a:sym typeface="+mn-ea"/>
                  </a:rPr>
                  <a:t>wuqinghua@ict.ac.cn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邮件标题为：补交第</a:t>
                </a:r>
                <a:r>
                  <a:rPr lang="en-US" altLang="zh-CN" dirty="0"/>
                  <a:t>xx</a:t>
                </a:r>
                <a:r>
                  <a:rPr lang="zh-CN" altLang="en-US" dirty="0"/>
                  <a:t>周实验报告 姓名 学号</a:t>
                </a:r>
                <a:endParaRPr lang="en-US" altLang="zh-CN" dirty="0"/>
              </a:p>
              <a:p>
                <a:pPr lvl="2"/>
                <a:r>
                  <a:rPr lang="zh-CN" altLang="en-US">
                    <a:solidFill>
                      <a:srgbClr val="FF0000"/>
                    </a:solidFill>
                  </a:rPr>
                  <a:t>如果无充分理由，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则拒绝该次补交作业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3810" y="1312545"/>
                <a:ext cx="9164320" cy="5167630"/>
              </a:xfrm>
              <a:blipFill rotWithShape="1">
                <a:blip r:embed="rId1"/>
                <a:stretch>
                  <a:fillRect b="-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实验工具与参考文献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zh-CN" altLang="en-US" dirty="0"/>
              <a:t>实验环境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环境：</a:t>
            </a:r>
            <a:r>
              <a:rPr lang="en-US" altLang="zh-CN" dirty="0"/>
              <a:t>VirtualBox/</a:t>
            </a:r>
            <a:r>
              <a:rPr lang="en-US" altLang="zh-CN" b="1" dirty="0">
                <a:solidFill>
                  <a:srgbClr val="C00000"/>
                </a:solidFill>
                <a:sym typeface="+mn-ea"/>
              </a:rPr>
              <a:t>WSL 2</a:t>
            </a:r>
            <a:r>
              <a:rPr lang="en-US" altLang="zh-CN" dirty="0"/>
              <a:t> + Ubuntu 22.04 ~ 26.04 </a:t>
            </a:r>
            <a:endParaRPr lang="en-US" altLang="zh-CN" dirty="0"/>
          </a:p>
          <a:p>
            <a:pPr lvl="1"/>
            <a:r>
              <a:rPr lang="zh-CN" altLang="en-US" dirty="0"/>
              <a:t>工具：</a:t>
            </a:r>
            <a:r>
              <a:rPr lang="en-US" altLang="zh-CN" dirty="0"/>
              <a:t> </a:t>
            </a:r>
            <a:r>
              <a:rPr lang="en-US" altLang="zh-CN" dirty="0" err="1"/>
              <a:t>MiniNet</a:t>
            </a:r>
            <a:r>
              <a:rPr lang="zh-CN" altLang="en-US" dirty="0"/>
              <a:t>、</a:t>
            </a:r>
            <a:r>
              <a:rPr lang="en-US" altLang="zh-CN" dirty="0"/>
              <a:t>Wireshark</a:t>
            </a:r>
            <a:endParaRPr lang="en-US" altLang="zh-CN" dirty="0"/>
          </a:p>
          <a:p>
            <a:pPr lvl="1"/>
            <a:r>
              <a:rPr lang="zh-CN" altLang="en-US" dirty="0"/>
              <a:t>编程、脚本语言：</a:t>
            </a:r>
            <a:r>
              <a:rPr lang="en-US" altLang="zh-CN" dirty="0"/>
              <a:t> C</a:t>
            </a:r>
            <a:r>
              <a:rPr lang="zh-CN" altLang="en-US" dirty="0"/>
              <a:t>、</a:t>
            </a:r>
            <a:r>
              <a:rPr lang="en-US" altLang="zh-CN" dirty="0"/>
              <a:t>Python </a:t>
            </a:r>
            <a:r>
              <a:rPr lang="zh-CN" altLang="en-US" dirty="0"/>
              <a:t>、</a:t>
            </a:r>
            <a:r>
              <a:rPr lang="en-US" altLang="zh-CN" dirty="0"/>
              <a:t> Linux Shell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学术论文</a:t>
            </a:r>
            <a:endParaRPr lang="en-US" altLang="zh-CN" dirty="0"/>
          </a:p>
          <a:p>
            <a:pPr lvl="1"/>
            <a:r>
              <a:rPr lang="en-US" altLang="zh-CN" dirty="0"/>
              <a:t>ACM SIGCOMM</a:t>
            </a:r>
            <a:r>
              <a:rPr lang="zh-CN" altLang="en-US" dirty="0"/>
              <a:t>、</a:t>
            </a:r>
            <a:r>
              <a:rPr lang="en-US" altLang="zh-CN" dirty="0"/>
              <a:t> ACM </a:t>
            </a:r>
            <a:r>
              <a:rPr lang="en-US" altLang="zh-CN" dirty="0" err="1"/>
              <a:t>HotNets</a:t>
            </a:r>
            <a:r>
              <a:rPr lang="zh-CN" altLang="en-US" dirty="0"/>
              <a:t> 、</a:t>
            </a:r>
            <a:r>
              <a:rPr lang="en-US" altLang="zh-CN" dirty="0"/>
              <a:t>ACM IMC </a:t>
            </a:r>
            <a:r>
              <a:rPr lang="zh-CN" altLang="en-US" dirty="0"/>
              <a:t>、 </a:t>
            </a:r>
            <a:r>
              <a:rPr lang="en-US" altLang="zh-CN" dirty="0"/>
              <a:t>USENIX NSDI</a:t>
            </a:r>
            <a:r>
              <a:rPr lang="zh-CN" altLang="en-US" dirty="0"/>
              <a:t>、</a:t>
            </a:r>
            <a:r>
              <a:rPr lang="en-US" altLang="zh-CN" dirty="0"/>
              <a:t>ACM CoNEXT</a:t>
            </a:r>
            <a:r>
              <a:rPr lang="zh-CN" altLang="en-US" dirty="0"/>
              <a:t>、</a:t>
            </a:r>
            <a:r>
              <a:rPr lang="en-US" altLang="zh-CN" dirty="0"/>
              <a:t>IEEE ICNP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什么是网络？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网络是计算的“管道”？</a:t>
            </a:r>
            <a:endParaRPr lang="en-US" altLang="zh-CN" dirty="0"/>
          </a:p>
          <a:p>
            <a:r>
              <a:rPr lang="zh-CN" altLang="en-US" dirty="0"/>
              <a:t>几乎所有与计算相关的领域都以网络为基础</a:t>
            </a:r>
            <a:endParaRPr lang="en-US" altLang="zh-CN" dirty="0"/>
          </a:p>
          <a:p>
            <a:pPr lvl="1"/>
            <a:r>
              <a:rPr lang="zh-CN" altLang="en-US" dirty="0"/>
              <a:t>边缘计算</a:t>
            </a:r>
            <a:endParaRPr lang="en-US" altLang="zh-CN" dirty="0"/>
          </a:p>
          <a:p>
            <a:pPr lvl="1"/>
            <a:r>
              <a:rPr lang="zh-CN" altLang="en-US" dirty="0"/>
              <a:t>分布式计算</a:t>
            </a:r>
            <a:endParaRPr lang="en-US" altLang="zh-CN" dirty="0"/>
          </a:p>
          <a:p>
            <a:pPr lvl="1"/>
            <a:r>
              <a:rPr lang="zh-CN" altLang="en-US" dirty="0"/>
              <a:t>云计算</a:t>
            </a:r>
            <a:endParaRPr lang="en-US" altLang="zh-CN" dirty="0"/>
          </a:p>
          <a:p>
            <a:pPr lvl="1"/>
            <a:r>
              <a:rPr lang="zh-CN" altLang="en-US" dirty="0"/>
              <a:t>大数据</a:t>
            </a:r>
            <a:endParaRPr lang="en-US" altLang="zh-CN" dirty="0"/>
          </a:p>
          <a:p>
            <a:pPr lvl="1"/>
            <a:r>
              <a:rPr lang="zh-CN" altLang="en-US" dirty="0"/>
              <a:t>智慧城市</a:t>
            </a:r>
            <a:endParaRPr lang="en-US" altLang="zh-CN" dirty="0"/>
          </a:p>
          <a:p>
            <a:pPr lvl="1"/>
            <a:r>
              <a:rPr lang="zh-CN" altLang="en-US" dirty="0"/>
              <a:t>。。。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网络是计算的核心支撑！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 </a:t>
            </a:r>
            <a:r>
              <a:rPr lang="en-US" altLang="zh-CN" dirty="0"/>
              <a:t>-&gt; </a:t>
            </a:r>
            <a:r>
              <a:rPr lang="zh-CN" altLang="en-US" dirty="0"/>
              <a:t>万物互联 </a:t>
            </a:r>
            <a:r>
              <a:rPr lang="en-US" altLang="zh-CN" dirty="0"/>
              <a:t>-&gt; </a:t>
            </a:r>
            <a:r>
              <a:rPr lang="zh-CN" altLang="en-US" dirty="0"/>
              <a:t>智慧万物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63" y="1531068"/>
            <a:ext cx="2754673" cy="1399199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550" y="3533981"/>
            <a:ext cx="3008202" cy="139471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450" y="3454182"/>
            <a:ext cx="2705100" cy="168592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353" y="1528433"/>
            <a:ext cx="2112788" cy="140087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44" y="3533981"/>
            <a:ext cx="2282405" cy="142248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067" y="5465846"/>
            <a:ext cx="1973933" cy="131595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718" y="1528433"/>
            <a:ext cx="2839157" cy="1401834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1001811" y="3047458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Smart Health</a:t>
            </a:r>
            <a:endParaRPr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3792059" y="3046976"/>
            <a:ext cx="1394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Smart Watch</a:t>
            </a:r>
            <a:endParaRPr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6653665" y="3010936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Smart Car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1182029" y="5044538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Smart City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4035682" y="5054691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Smart TV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6632024" y="5044538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Smart Home</a:t>
            </a:r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4825651" y="5939157"/>
            <a:ext cx="1568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Smart Industry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网络不是已经很成熟了吗？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1919486"/>
          </a:xfrm>
        </p:spPr>
        <p:txBody>
          <a:bodyPr/>
          <a:lstStyle/>
          <a:p>
            <a:r>
              <a:rPr lang="zh-CN" altLang="en-US" dirty="0"/>
              <a:t>网络一直在演进中</a:t>
            </a:r>
            <a:endParaRPr lang="en-US" altLang="zh-CN" dirty="0"/>
          </a:p>
          <a:p>
            <a:pPr lvl="1"/>
            <a:r>
              <a:rPr lang="zh-CN" altLang="en-US" dirty="0"/>
              <a:t>底层基础设施越来越多样化</a:t>
            </a:r>
            <a:endParaRPr lang="en-US" altLang="zh-CN" dirty="0"/>
          </a:p>
          <a:p>
            <a:pPr lvl="1"/>
            <a:r>
              <a:rPr lang="zh-CN" altLang="en-US" dirty="0"/>
              <a:t>上层应用越来越丰富</a:t>
            </a:r>
            <a:endParaRPr lang="en-US" altLang="zh-CN" dirty="0"/>
          </a:p>
          <a:p>
            <a:pPr lvl="1"/>
            <a:r>
              <a:rPr lang="zh-CN" altLang="en-US" dirty="0"/>
              <a:t>对网络的要求越来越高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07945" y="3989948"/>
            <a:ext cx="1669978" cy="2201346"/>
            <a:chOff x="1635197" y="3275528"/>
            <a:chExt cx="1669978" cy="2201346"/>
          </a:xfrm>
        </p:grpSpPr>
        <p:cxnSp>
          <p:nvCxnSpPr>
            <p:cNvPr id="6" name="直接箭头连接符 5"/>
            <p:cNvCxnSpPr/>
            <p:nvPr/>
          </p:nvCxnSpPr>
          <p:spPr>
            <a:xfrm>
              <a:off x="1635197" y="4657725"/>
              <a:ext cx="1669978" cy="0"/>
            </a:xfrm>
            <a:prstGeom prst="straightConnector1">
              <a:avLst/>
            </a:prstGeom>
            <a:ln w="762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/>
            <p:cNvSpPr txBox="1"/>
            <p:nvPr/>
          </p:nvSpPr>
          <p:spPr>
            <a:xfrm>
              <a:off x="2085975" y="4288393"/>
              <a:ext cx="7425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ea typeface="黑体" panose="02010609060101010101" pitchFamily="49" charset="-122"/>
                </a:rPr>
                <a:t>1980s</a:t>
              </a:r>
              <a:endParaRPr lang="zh-CN" altLang="en-US" dirty="0">
                <a:ea typeface="黑体" panose="02010609060101010101" pitchFamily="49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733550" y="3819525"/>
              <a:ext cx="819150" cy="38314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Tahoe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2009336" y="3275528"/>
              <a:ext cx="819150" cy="38314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tx1"/>
                  </a:solidFill>
                  <a:ea typeface="黑体" panose="02010609060101010101" pitchFamily="49" charset="-122"/>
                </a:rPr>
                <a:t>DECbit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895036" y="5093731"/>
              <a:ext cx="819150" cy="38314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WFQ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901748" y="3989948"/>
            <a:ext cx="2114550" cy="2201346"/>
            <a:chOff x="3429000" y="3275528"/>
            <a:chExt cx="2114550" cy="2201346"/>
          </a:xfrm>
        </p:grpSpPr>
        <p:cxnSp>
          <p:nvCxnSpPr>
            <p:cNvPr id="12" name="直接箭头连接符 11"/>
            <p:cNvCxnSpPr/>
            <p:nvPr/>
          </p:nvCxnSpPr>
          <p:spPr>
            <a:xfrm>
              <a:off x="3429000" y="4657725"/>
              <a:ext cx="2114550" cy="0"/>
            </a:xfrm>
            <a:prstGeom prst="straightConnector1">
              <a:avLst/>
            </a:prstGeom>
            <a:ln w="762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4229100" y="4288393"/>
              <a:ext cx="7425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ea typeface="黑体" panose="02010609060101010101" pitchFamily="49" charset="-122"/>
                </a:rPr>
                <a:t>1990s</a:t>
              </a:r>
              <a:endParaRPr lang="zh-CN" altLang="en-US" dirty="0">
                <a:ea typeface="黑体" panose="02010609060101010101" pitchFamily="49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485711" y="5093731"/>
              <a:ext cx="819150" cy="38314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RED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4486275" y="5093731"/>
              <a:ext cx="819150" cy="38314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ECN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485711" y="3819525"/>
              <a:ext cx="819150" cy="38314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Reno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4486275" y="3819524"/>
              <a:ext cx="819150" cy="38314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Vegas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3629025" y="3276597"/>
              <a:ext cx="819150" cy="38314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SACK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4610100" y="3275528"/>
              <a:ext cx="819150" cy="38314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FACK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159173" y="3444879"/>
            <a:ext cx="2495550" cy="2746414"/>
            <a:chOff x="5686425" y="2730459"/>
            <a:chExt cx="2495550" cy="2746414"/>
          </a:xfrm>
        </p:grpSpPr>
        <p:cxnSp>
          <p:nvCxnSpPr>
            <p:cNvPr id="21" name="直接箭头连接符 20"/>
            <p:cNvCxnSpPr/>
            <p:nvPr/>
          </p:nvCxnSpPr>
          <p:spPr>
            <a:xfrm>
              <a:off x="5686425" y="4657725"/>
              <a:ext cx="2495550" cy="0"/>
            </a:xfrm>
            <a:prstGeom prst="straightConnector1">
              <a:avLst/>
            </a:prstGeom>
            <a:ln w="762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6945226" y="4288393"/>
              <a:ext cx="7425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ea typeface="黑体" panose="02010609060101010101" pitchFamily="49" charset="-122"/>
                </a:rPr>
                <a:t>2000s</a:t>
              </a:r>
              <a:endParaRPr lang="zh-CN" altLang="en-US" dirty="0">
                <a:ea typeface="黑体" panose="02010609060101010101" pitchFamily="49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5695071" y="3819524"/>
              <a:ext cx="1191503" cy="38314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Westwood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6999996" y="3819523"/>
              <a:ext cx="800979" cy="38314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H-TCP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5695071" y="3275528"/>
              <a:ext cx="800979" cy="38314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S-TCP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6665743" y="3275528"/>
              <a:ext cx="545121" cy="38314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BIC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7380117" y="3276062"/>
              <a:ext cx="716133" cy="38314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Cubic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5968659" y="2731532"/>
              <a:ext cx="716133" cy="38314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Fast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6852797" y="2730459"/>
              <a:ext cx="1243453" cy="38314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Compound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5846593" y="5093730"/>
              <a:ext cx="819150" cy="38314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XCP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6823783" y="5093730"/>
              <a:ext cx="819150" cy="38314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RCP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6769023" y="3444878"/>
            <a:ext cx="2285769" cy="3309466"/>
            <a:chOff x="8296275" y="2730458"/>
            <a:chExt cx="2285769" cy="3309466"/>
          </a:xfrm>
        </p:grpSpPr>
        <p:cxnSp>
          <p:nvCxnSpPr>
            <p:cNvPr id="33" name="直接箭头连接符 32"/>
            <p:cNvCxnSpPr/>
            <p:nvPr/>
          </p:nvCxnSpPr>
          <p:spPr>
            <a:xfrm>
              <a:off x="8296275" y="4657725"/>
              <a:ext cx="2245430" cy="0"/>
            </a:xfrm>
            <a:prstGeom prst="straightConnector1">
              <a:avLst/>
            </a:prstGeom>
            <a:ln w="762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矩形 33"/>
            <p:cNvSpPr/>
            <p:nvPr/>
          </p:nvSpPr>
          <p:spPr>
            <a:xfrm>
              <a:off x="8351667" y="3819523"/>
              <a:ext cx="735183" cy="38314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PRR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9180664" y="3819522"/>
              <a:ext cx="653783" cy="38314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TLP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9928261" y="3819522"/>
              <a:ext cx="653783" cy="38314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PCC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8479373" y="3275527"/>
              <a:ext cx="734744" cy="38314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Remy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9319143" y="3275527"/>
              <a:ext cx="1010604" cy="38314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Halfback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8598801" y="2730458"/>
              <a:ext cx="821423" cy="38314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BBR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9508325" y="2730458"/>
              <a:ext cx="735698" cy="38314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RACK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8408375" y="5093730"/>
              <a:ext cx="819150" cy="3831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DCTCP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9352596" y="5093729"/>
              <a:ext cx="819150" cy="3831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tx1"/>
                  </a:solidFill>
                  <a:ea typeface="黑体" panose="02010609060101010101" pitchFamily="49" charset="-122"/>
                </a:rPr>
                <a:t>CoDel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9585592" y="5656780"/>
              <a:ext cx="819150" cy="3831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PDQ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8555572" y="5656781"/>
              <a:ext cx="864651" cy="3831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tx1"/>
                  </a:solidFill>
                  <a:ea typeface="黑体" panose="02010609060101010101" pitchFamily="49" charset="-122"/>
                </a:rPr>
                <a:t>pFabric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9596618" y="4293155"/>
              <a:ext cx="7425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ea typeface="黑体" panose="02010609060101010101" pitchFamily="49" charset="-122"/>
                </a:rPr>
                <a:t>2010s</a:t>
              </a:r>
              <a:endParaRPr lang="zh-CN" altLang="en-US" dirty="0">
                <a:ea typeface="黑体" panose="02010609060101010101" pitchFamily="49" charset="-122"/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8403930" y="5093730"/>
              <a:ext cx="819150" cy="38314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DCTCP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5" name="矩形 64"/>
            <p:cNvSpPr/>
            <p:nvPr/>
          </p:nvSpPr>
          <p:spPr>
            <a:xfrm>
              <a:off x="9348151" y="5093729"/>
              <a:ext cx="819150" cy="38314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dirty="0" err="1">
                  <a:solidFill>
                    <a:schemeClr val="tx1"/>
                  </a:solidFill>
                  <a:ea typeface="黑体" panose="02010609060101010101" pitchFamily="49" charset="-122"/>
                </a:rPr>
                <a:t>CoDel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" name="矩形 65"/>
            <p:cNvSpPr/>
            <p:nvPr/>
          </p:nvSpPr>
          <p:spPr>
            <a:xfrm>
              <a:off x="9581147" y="5656780"/>
              <a:ext cx="819150" cy="38314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rPr>
                <a:t>PDQ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7" name="矩形 66"/>
            <p:cNvSpPr/>
            <p:nvPr/>
          </p:nvSpPr>
          <p:spPr>
            <a:xfrm>
              <a:off x="8551127" y="5656781"/>
              <a:ext cx="864651" cy="38314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dirty="0" err="1">
                  <a:solidFill>
                    <a:schemeClr val="tx1"/>
                  </a:solidFill>
                  <a:ea typeface="黑体" panose="02010609060101010101" pitchFamily="49" charset="-122"/>
                </a:rPr>
                <a:t>pFabric</a:t>
              </a:r>
              <a:endParaRPr lang="zh-CN" altLang="en-US" dirty="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63341" y="351844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i="1" dirty="0">
                <a:ea typeface="黑体" panose="02010609060101010101" pitchFamily="49" charset="-122"/>
              </a:rPr>
              <a:t>端节点优化</a:t>
            </a:r>
            <a:endParaRPr lang="zh-CN" altLang="en-US" i="1" dirty="0">
              <a:ea typeface="黑体" panose="02010609060101010101" pitchFamily="49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924" y="633626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i="1" dirty="0">
                <a:ea typeface="黑体" panose="02010609060101010101" pitchFamily="49" charset="-122"/>
              </a:rPr>
              <a:t>网络内优化</a:t>
            </a:r>
            <a:endParaRPr lang="zh-CN" altLang="en-US" i="1" dirty="0">
              <a:ea typeface="黑体" panose="02010609060101010101" pitchFamily="49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397779" y="275041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i="1" dirty="0"/>
              <a:t>以网络传输机制为例</a:t>
            </a:r>
            <a:endParaRPr lang="zh-CN" altLang="en-US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5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计算机网络领域的研究方法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zh-CN" altLang="en-US" dirty="0"/>
              <a:t>构建系统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先系统，后理论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例子：</a:t>
            </a:r>
            <a:r>
              <a:rPr lang="en-US" altLang="zh-CN" dirty="0" err="1"/>
              <a:t>ARPAnet</a:t>
            </a:r>
            <a:r>
              <a:rPr lang="zh-CN" altLang="en-US" dirty="0"/>
              <a:t>、</a:t>
            </a:r>
            <a:r>
              <a:rPr lang="en-US" altLang="zh-CN" dirty="0"/>
              <a:t>TCP</a:t>
            </a:r>
            <a:r>
              <a:rPr lang="zh-CN" altLang="en-US" dirty="0"/>
              <a:t>性能理论模型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  <a:p>
            <a:pPr>
              <a:spcBef>
                <a:spcPts val="0"/>
              </a:spcBef>
            </a:pPr>
            <a:r>
              <a:rPr lang="zh-CN" altLang="en-US" dirty="0"/>
              <a:t>网络测量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互联网是人造的、分布式的、异构的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网络特征难以直接刻画，需要通过网络测量等手段认知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例子：互联网流量的自相似特征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互联网体系结构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标识空间</a:t>
            </a:r>
            <a:endParaRPr lang="zh-CN" altLang="en-US" dirty="0"/>
          </a:p>
          <a:p>
            <a:pPr lvl="1"/>
            <a:r>
              <a:rPr lang="zh-CN" altLang="en-US" dirty="0"/>
              <a:t>如何标识一个网络通信节点？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系统设计</a:t>
            </a:r>
            <a:endParaRPr lang="en-US" altLang="zh-CN" dirty="0"/>
          </a:p>
          <a:p>
            <a:pPr lvl="1"/>
            <a:r>
              <a:rPr lang="zh-CN" altLang="en-US" dirty="0"/>
              <a:t>互联网系统是如何设计的？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协议层次</a:t>
            </a:r>
            <a:endParaRPr lang="en-US" altLang="zh-CN" dirty="0"/>
          </a:p>
          <a:p>
            <a:pPr lvl="1"/>
            <a:r>
              <a:rPr lang="zh-CN" altLang="en-US" dirty="0"/>
              <a:t>互联网协议，协议间的关系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标识空间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3477896"/>
          </a:xfrm>
        </p:spPr>
        <p:txBody>
          <a:bodyPr/>
          <a:lstStyle/>
          <a:p>
            <a:r>
              <a:rPr lang="zh-CN" altLang="en-US" dirty="0"/>
              <a:t>如何标识一个网络通信节点？</a:t>
            </a:r>
            <a:endParaRPr lang="en-US" altLang="zh-CN" dirty="0"/>
          </a:p>
          <a:p>
            <a:pPr lvl="1"/>
            <a:r>
              <a:rPr lang="zh-CN" altLang="en-US" dirty="0"/>
              <a:t>标识是固定的，还是变动的？</a:t>
            </a:r>
            <a:endParaRPr lang="en-US" altLang="zh-CN" dirty="0"/>
          </a:p>
          <a:p>
            <a:pPr lvl="2"/>
            <a:r>
              <a:rPr lang="zh-CN" altLang="en-US" dirty="0"/>
              <a:t>（固定：</a:t>
            </a:r>
            <a:r>
              <a:rPr lang="en-US" altLang="zh-CN" dirty="0">
                <a:hlinkClick r:id="rId1"/>
              </a:rPr>
              <a:t>www.baidu.com</a:t>
            </a:r>
            <a:r>
              <a:rPr lang="zh-CN" altLang="en-US" dirty="0"/>
              <a:t>；变动：</a:t>
            </a:r>
            <a:r>
              <a:rPr lang="en-US" altLang="zh-CN" dirty="0"/>
              <a:t>159.226.39.22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标识是扁平化的，还是层次化的？</a:t>
            </a:r>
            <a:endParaRPr lang="en-US" altLang="zh-CN" dirty="0"/>
          </a:p>
          <a:p>
            <a:pPr lvl="2"/>
            <a:r>
              <a:rPr lang="zh-CN" altLang="en-US" dirty="0"/>
              <a:t>（扁平：</a:t>
            </a:r>
            <a:r>
              <a:rPr lang="en-US" altLang="zh-CN" dirty="0"/>
              <a:t>02:42:6b:a7:7c:ef</a:t>
            </a:r>
            <a:r>
              <a:rPr lang="zh-CN" altLang="en-US" dirty="0"/>
              <a:t>；层次：</a:t>
            </a:r>
            <a:r>
              <a:rPr lang="en-US" altLang="zh-CN" dirty="0">
                <a:hlinkClick r:id="rId1"/>
              </a:rPr>
              <a:t> www.baidu.com 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标识是全局的，还是局部的？</a:t>
            </a:r>
            <a:endParaRPr lang="en-US" altLang="zh-CN" dirty="0"/>
          </a:p>
          <a:p>
            <a:pPr lvl="2"/>
            <a:r>
              <a:rPr lang="zh-CN" altLang="en-US" dirty="0"/>
              <a:t>（全局：</a:t>
            </a:r>
            <a:r>
              <a:rPr lang="en-US" altLang="zh-CN" dirty="0"/>
              <a:t>159.226.39.22</a:t>
            </a:r>
            <a:r>
              <a:rPr lang="zh-CN" altLang="en-US" dirty="0"/>
              <a:t>；局部：</a:t>
            </a:r>
            <a:r>
              <a:rPr lang="en-US" altLang="zh-CN" dirty="0"/>
              <a:t>10.0.0.2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固定</a:t>
            </a:r>
            <a:r>
              <a:rPr lang="en-US" altLang="zh-CN" dirty="0"/>
              <a:t>/</a:t>
            </a:r>
            <a:r>
              <a:rPr lang="zh-CN" altLang="en-US" dirty="0"/>
              <a:t>变动标识的例子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5" name="云形 4"/>
          <p:cNvSpPr/>
          <p:nvPr/>
        </p:nvSpPr>
        <p:spPr>
          <a:xfrm>
            <a:off x="3091792" y="1962632"/>
            <a:ext cx="1865587" cy="1082565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>
            <a:stCxn id="9" idx="3"/>
            <a:endCxn id="5" idx="2"/>
          </p:cNvCxnSpPr>
          <p:nvPr/>
        </p:nvCxnSpPr>
        <p:spPr>
          <a:xfrm>
            <a:off x="2255067" y="2503914"/>
            <a:ext cx="84251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143" y="2889877"/>
            <a:ext cx="474189" cy="57495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711" y="1773446"/>
            <a:ext cx="628491" cy="628491"/>
          </a:xfrm>
          <a:prstGeom prst="rect">
            <a:avLst/>
          </a:prstGeom>
        </p:spPr>
      </p:pic>
      <p:pic>
        <p:nvPicPr>
          <p:cNvPr id="9" name="内容占位符 12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097" y="2205929"/>
            <a:ext cx="595970" cy="595970"/>
          </a:xfrm>
        </p:spPr>
      </p:pic>
      <p:cxnSp>
        <p:nvCxnSpPr>
          <p:cNvPr id="10" name="直接连接符 9"/>
          <p:cNvCxnSpPr>
            <a:endCxn id="8" idx="1"/>
          </p:cNvCxnSpPr>
          <p:nvPr/>
        </p:nvCxnSpPr>
        <p:spPr>
          <a:xfrm flipV="1">
            <a:off x="4953472" y="2087692"/>
            <a:ext cx="384239" cy="1182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endCxn id="7" idx="1"/>
          </p:cNvCxnSpPr>
          <p:nvPr/>
        </p:nvCxnSpPr>
        <p:spPr>
          <a:xfrm>
            <a:off x="4766188" y="2889877"/>
            <a:ext cx="363955" cy="2874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328" y="2087692"/>
            <a:ext cx="234841" cy="416222"/>
          </a:xfrm>
          <a:prstGeom prst="rect">
            <a:avLst/>
          </a:prstGeom>
        </p:spPr>
      </p:pic>
      <p:cxnSp>
        <p:nvCxnSpPr>
          <p:cNvPr id="13" name="直接连接符 12"/>
          <p:cNvCxnSpPr>
            <a:endCxn id="12" idx="1"/>
          </p:cNvCxnSpPr>
          <p:nvPr/>
        </p:nvCxnSpPr>
        <p:spPr>
          <a:xfrm>
            <a:off x="6102378" y="2236770"/>
            <a:ext cx="454950" cy="5903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右弧形箭头 13"/>
          <p:cNvSpPr/>
          <p:nvPr/>
        </p:nvSpPr>
        <p:spPr>
          <a:xfrm rot="2863747">
            <a:off x="6092005" y="2754824"/>
            <a:ext cx="446617" cy="882869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467017" y="2278817"/>
            <a:ext cx="393274" cy="104228"/>
            <a:chOff x="3582874" y="3841778"/>
            <a:chExt cx="541451" cy="149460"/>
          </a:xfrm>
        </p:grpSpPr>
        <p:sp>
          <p:nvSpPr>
            <p:cNvPr id="16" name="矩形 15"/>
            <p:cNvSpPr/>
            <p:nvPr/>
          </p:nvSpPr>
          <p:spPr>
            <a:xfrm>
              <a:off x="3582874" y="3841778"/>
              <a:ext cx="245599" cy="14899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3828976" y="3842245"/>
              <a:ext cx="295349" cy="14899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 rot="20158050">
            <a:off x="4944437" y="1879864"/>
            <a:ext cx="393274" cy="104228"/>
            <a:chOff x="3582874" y="3841778"/>
            <a:chExt cx="541451" cy="149460"/>
          </a:xfrm>
        </p:grpSpPr>
        <p:sp>
          <p:nvSpPr>
            <p:cNvPr id="19" name="矩形 18"/>
            <p:cNvSpPr/>
            <p:nvPr/>
          </p:nvSpPr>
          <p:spPr>
            <a:xfrm>
              <a:off x="3582874" y="3841778"/>
              <a:ext cx="245599" cy="14899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3828976" y="3842245"/>
              <a:ext cx="295349" cy="14899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5934215" y="1678854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WiFi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5066543" y="3510669"/>
            <a:ext cx="842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3G/LTE</a:t>
            </a:r>
            <a:endParaRPr lang="zh-CN" altLang="en-US" dirty="0"/>
          </a:p>
        </p:txBody>
      </p:sp>
      <p:cxnSp>
        <p:nvCxnSpPr>
          <p:cNvPr id="23" name="直接箭头连接符 22"/>
          <p:cNvCxnSpPr/>
          <p:nvPr/>
        </p:nvCxnSpPr>
        <p:spPr>
          <a:xfrm>
            <a:off x="2467017" y="2182283"/>
            <a:ext cx="3932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cxnSpLocks noChangeAspect="1"/>
          </p:cNvCxnSpPr>
          <p:nvPr/>
        </p:nvCxnSpPr>
        <p:spPr>
          <a:xfrm flipV="1">
            <a:off x="4890926" y="1703020"/>
            <a:ext cx="360000" cy="171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内容占位符 2"/>
          <p:cNvSpPr txBox="1"/>
          <p:nvPr/>
        </p:nvSpPr>
        <p:spPr bwMode="auto">
          <a:xfrm>
            <a:off x="457200" y="4096714"/>
            <a:ext cx="8229600" cy="2050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8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kern="0" dirty="0"/>
              <a:t>一个主机的标识是固定的（名字）还是变动的（地址） ？</a:t>
            </a:r>
            <a:endParaRPr lang="en-US" altLang="zh-CN" kern="0" dirty="0"/>
          </a:p>
          <a:p>
            <a:pPr lvl="1"/>
            <a:r>
              <a:rPr lang="zh-CN" altLang="en-US" kern="0" dirty="0"/>
              <a:t>如使用固定标识，如何告知对方将数据发送到自己所在的位置</a:t>
            </a:r>
            <a:endParaRPr lang="en-US" altLang="zh-CN" kern="0" dirty="0"/>
          </a:p>
          <a:p>
            <a:pPr lvl="1"/>
            <a:r>
              <a:rPr lang="zh-CN" altLang="en-US" kern="0" dirty="0"/>
              <a:t>如使用变动标识，在移动到新的位置后，如何证明你是原来通信的节点？</a:t>
            </a:r>
            <a:endParaRPr lang="zh-CN" altLang="en-US" kern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互联网系统的标识空间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互联网有三个不同层次的标识空间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45287" y="3859619"/>
            <a:ext cx="2317898" cy="5528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ea typeface="黑体" panose="02010609060101010101" pitchFamily="49" charset="-122"/>
              </a:rPr>
              <a:t>层次化的</a:t>
            </a:r>
            <a:r>
              <a:rPr lang="en-US" altLang="zh-CN" dirty="0">
                <a:ea typeface="黑体" panose="02010609060101010101" pitchFamily="49" charset="-122"/>
              </a:rPr>
              <a:t>IP</a:t>
            </a:r>
            <a:r>
              <a:rPr lang="zh-CN" altLang="en-US" dirty="0">
                <a:ea typeface="黑体" panose="02010609060101010101" pitchFamily="49" charset="-122"/>
              </a:rPr>
              <a:t>地址空间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2380" y="5218350"/>
            <a:ext cx="2583712" cy="5528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ea typeface="黑体" panose="02010609060101010101" pitchFamily="49" charset="-122"/>
              </a:rPr>
              <a:t>扁平化的</a:t>
            </a:r>
            <a:r>
              <a:rPr lang="en-US" altLang="zh-CN" dirty="0">
                <a:ea typeface="黑体" panose="02010609060101010101" pitchFamily="49" charset="-122"/>
              </a:rPr>
              <a:t>MAC</a:t>
            </a:r>
            <a:r>
              <a:rPr lang="zh-CN" altLang="en-US" dirty="0">
                <a:ea typeface="黑体" panose="02010609060101010101" pitchFamily="49" charset="-122"/>
              </a:rPr>
              <a:t>地址空间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46296" y="2475399"/>
            <a:ext cx="2115880" cy="5528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ea typeface="黑体" panose="02010609060101010101" pitchFamily="49" charset="-122"/>
              </a:rPr>
              <a:t>层次化的域名空间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31017" y="2373280"/>
            <a:ext cx="4949457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ea typeface="黑体" panose="02010609060101010101" pitchFamily="49" charset="-122"/>
              </a:rPr>
              <a:t>举例：</a:t>
            </a:r>
            <a:r>
              <a:rPr lang="en-US" altLang="zh-CN" dirty="0">
                <a:ea typeface="黑体" panose="02010609060101010101" pitchFamily="49" charset="-122"/>
              </a:rPr>
              <a:t>www.ict.ac.cn</a:t>
            </a:r>
            <a:r>
              <a:rPr lang="zh-CN" altLang="en-US" dirty="0">
                <a:ea typeface="黑体" panose="02010609060101010101" pitchFamily="49" charset="-122"/>
              </a:rPr>
              <a:t>，具有易读性，层次化命名，递归解析，端节点可见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631017" y="3812899"/>
            <a:ext cx="4731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ea typeface="黑体" panose="02010609060101010101" pitchFamily="49" charset="-122"/>
              </a:rPr>
              <a:t>举例：</a:t>
            </a:r>
            <a:r>
              <a:rPr lang="en-US" altLang="zh-CN" dirty="0">
                <a:ea typeface="黑体" panose="02010609060101010101" pitchFamily="49" charset="-122"/>
              </a:rPr>
              <a:t>159.226.97.84</a:t>
            </a:r>
            <a:r>
              <a:rPr lang="zh-CN" altLang="en-US" dirty="0">
                <a:ea typeface="黑体" panose="02010609060101010101" pitchFamily="49" charset="-122"/>
              </a:rPr>
              <a:t>，层次化编址，固定长度，计算机易处理，互联网可见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31017" y="5171630"/>
            <a:ext cx="4731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ea typeface="黑体" panose="02010609060101010101" pitchFamily="49" charset="-122"/>
              </a:rPr>
              <a:t>举例：</a:t>
            </a:r>
            <a:r>
              <a:rPr lang="en-US" altLang="zh-CN" dirty="0">
                <a:ea typeface="黑体" panose="02010609060101010101" pitchFamily="49" charset="-122"/>
              </a:rPr>
              <a:t>08:00:27:b4:1c:a7</a:t>
            </a:r>
            <a:r>
              <a:rPr lang="zh-CN" altLang="en-US" dirty="0">
                <a:ea typeface="黑体" panose="02010609060101010101" pitchFamily="49" charset="-122"/>
              </a:rPr>
              <a:t>，扁平化编址，固定长度，在局域网可见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10" name="上下箭头 9"/>
          <p:cNvSpPr/>
          <p:nvPr/>
        </p:nvSpPr>
        <p:spPr>
          <a:xfrm>
            <a:off x="1807535" y="3204510"/>
            <a:ext cx="297712" cy="478891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179670" y="3263196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ea typeface="黑体" panose="02010609060101010101" pitchFamily="49" charset="-122"/>
              </a:rPr>
              <a:t>DNS</a:t>
            </a:r>
            <a:r>
              <a:rPr lang="zh-CN" altLang="en-US" dirty="0">
                <a:solidFill>
                  <a:srgbClr val="0070C0"/>
                </a:solidFill>
                <a:ea typeface="黑体" panose="02010609060101010101" pitchFamily="49" charset="-122"/>
              </a:rPr>
              <a:t>解析，将域名映射成</a:t>
            </a:r>
            <a:r>
              <a:rPr lang="en-US" altLang="zh-CN" dirty="0">
                <a:solidFill>
                  <a:srgbClr val="0070C0"/>
                </a:solidFill>
                <a:ea typeface="黑体" panose="02010609060101010101" pitchFamily="49" charset="-122"/>
              </a:rPr>
              <a:t>IP</a:t>
            </a:r>
            <a:r>
              <a:rPr lang="zh-CN" altLang="en-US" dirty="0">
                <a:solidFill>
                  <a:srgbClr val="0070C0"/>
                </a:solidFill>
                <a:ea typeface="黑体" panose="02010609060101010101" pitchFamily="49" charset="-122"/>
              </a:rPr>
              <a:t>地址</a:t>
            </a:r>
            <a:endParaRPr lang="zh-CN" altLang="en-US" dirty="0">
              <a:solidFill>
                <a:srgbClr val="0070C0"/>
              </a:solidFill>
              <a:ea typeface="黑体" panose="02010609060101010101" pitchFamily="49" charset="-122"/>
            </a:endParaRPr>
          </a:p>
        </p:txBody>
      </p:sp>
      <p:sp>
        <p:nvSpPr>
          <p:cNvPr id="12" name="上下箭头 11"/>
          <p:cNvSpPr/>
          <p:nvPr/>
        </p:nvSpPr>
        <p:spPr>
          <a:xfrm>
            <a:off x="1807535" y="4612004"/>
            <a:ext cx="297712" cy="478891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179670" y="4670690"/>
            <a:ext cx="4852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ea typeface="黑体" panose="02010609060101010101" pitchFamily="49" charset="-122"/>
              </a:rPr>
              <a:t>ARP</a:t>
            </a:r>
            <a:r>
              <a:rPr lang="zh-CN" altLang="en-US" dirty="0">
                <a:solidFill>
                  <a:srgbClr val="0070C0"/>
                </a:solidFill>
                <a:ea typeface="黑体" panose="02010609060101010101" pitchFamily="49" charset="-122"/>
              </a:rPr>
              <a:t>解析，查找</a:t>
            </a:r>
            <a:r>
              <a:rPr lang="en-US" altLang="zh-CN" dirty="0">
                <a:solidFill>
                  <a:srgbClr val="0070C0"/>
                </a:solidFill>
                <a:ea typeface="黑体" panose="02010609060101010101" pitchFamily="49" charset="-122"/>
              </a:rPr>
              <a:t>IP</a:t>
            </a:r>
            <a:r>
              <a:rPr lang="zh-CN" altLang="en-US" dirty="0">
                <a:solidFill>
                  <a:srgbClr val="0070C0"/>
                </a:solidFill>
                <a:ea typeface="黑体" panose="02010609060101010101" pitchFamily="49" charset="-122"/>
              </a:rPr>
              <a:t>地址对应的下一跳</a:t>
            </a:r>
            <a:r>
              <a:rPr lang="en-US" altLang="zh-CN" dirty="0">
                <a:solidFill>
                  <a:srgbClr val="0070C0"/>
                </a:solidFill>
                <a:ea typeface="黑体" panose="02010609060101010101" pitchFamily="49" charset="-122"/>
              </a:rPr>
              <a:t>MAC</a:t>
            </a:r>
            <a:r>
              <a:rPr lang="zh-CN" altLang="en-US" dirty="0">
                <a:solidFill>
                  <a:srgbClr val="0070C0"/>
                </a:solidFill>
                <a:ea typeface="黑体" panose="02010609060101010101" pitchFamily="49" charset="-122"/>
              </a:rPr>
              <a:t>地址</a:t>
            </a:r>
            <a:endParaRPr lang="zh-CN" altLang="en-US" dirty="0">
              <a:solidFill>
                <a:srgbClr val="0070C0"/>
              </a:solidFill>
              <a:ea typeface="黑体" panose="02010609060101010101" pitchFamily="49" charset="-122"/>
            </a:endParaRPr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互联网系统设计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zh-CN" altLang="en-US" dirty="0"/>
              <a:t>互联网的核心是消息分发和信息共享</a:t>
            </a:r>
            <a:endParaRPr lang="en-US" altLang="zh-CN" dirty="0"/>
          </a:p>
          <a:p>
            <a:pPr>
              <a:spcBef>
                <a:spcPts val="0"/>
              </a:spcBef>
            </a:pPr>
            <a:endParaRPr lang="en-US" altLang="zh-CN" dirty="0"/>
          </a:p>
          <a:p>
            <a:pPr>
              <a:spcBef>
                <a:spcPts val="0"/>
              </a:spcBef>
            </a:pPr>
            <a:endParaRPr lang="en-US" altLang="zh-CN" dirty="0"/>
          </a:p>
          <a:p>
            <a:pPr>
              <a:spcBef>
                <a:spcPts val="0"/>
              </a:spcBef>
            </a:pPr>
            <a:endParaRPr lang="en-US" altLang="zh-CN" dirty="0"/>
          </a:p>
          <a:p>
            <a:pPr>
              <a:spcBef>
                <a:spcPts val="0"/>
              </a:spcBef>
            </a:pPr>
            <a:endParaRPr lang="en-US" altLang="zh-CN" dirty="0"/>
          </a:p>
          <a:p>
            <a:pPr>
              <a:spcBef>
                <a:spcPts val="0"/>
              </a:spcBef>
            </a:pPr>
            <a:r>
              <a:rPr lang="zh-CN" altLang="en-US" dirty="0"/>
              <a:t>三个核心部件：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网络编程接口：对上层应用提供统一的调用接口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报文传递：将报文从一个端节点传送到另一个端节点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网络安全：网络体系结构内在安全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1697346" y="2000250"/>
            <a:ext cx="4380736" cy="2247900"/>
            <a:chOff x="1697346" y="2000250"/>
            <a:chExt cx="4380736" cy="2247900"/>
          </a:xfrm>
        </p:grpSpPr>
        <p:sp>
          <p:nvSpPr>
            <p:cNvPr id="5" name="云形 4"/>
            <p:cNvSpPr/>
            <p:nvPr/>
          </p:nvSpPr>
          <p:spPr>
            <a:xfrm>
              <a:off x="2514600" y="2552700"/>
              <a:ext cx="2724150" cy="1695450"/>
            </a:xfrm>
            <a:prstGeom prst="clou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1478" y="3241107"/>
              <a:ext cx="471686" cy="320374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64715" y="3580997"/>
              <a:ext cx="471686" cy="320374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9223" y="3495675"/>
              <a:ext cx="471686" cy="32037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5376" y="2715129"/>
              <a:ext cx="471686" cy="320374"/>
            </a:xfrm>
            <a:prstGeom prst="rect">
              <a:avLst/>
            </a:prstGeom>
          </p:spPr>
        </p:pic>
        <p:cxnSp>
          <p:nvCxnSpPr>
            <p:cNvPr id="10" name="直接连接符 9"/>
            <p:cNvCxnSpPr>
              <a:stCxn id="7" idx="3"/>
              <a:endCxn id="6" idx="1"/>
            </p:cNvCxnSpPr>
            <p:nvPr/>
          </p:nvCxnSpPr>
          <p:spPr>
            <a:xfrm flipV="1">
              <a:off x="3236401" y="3401294"/>
              <a:ext cx="335077" cy="339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>
              <a:stCxn id="6" idx="3"/>
              <a:endCxn id="8" idx="1"/>
            </p:cNvCxnSpPr>
            <p:nvPr/>
          </p:nvCxnSpPr>
          <p:spPr>
            <a:xfrm>
              <a:off x="4043164" y="3401294"/>
              <a:ext cx="456059" cy="2545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>
              <a:stCxn id="9" idx="2"/>
              <a:endCxn id="6" idx="0"/>
            </p:cNvCxnSpPr>
            <p:nvPr/>
          </p:nvCxnSpPr>
          <p:spPr>
            <a:xfrm>
              <a:off x="3801219" y="3035503"/>
              <a:ext cx="6102" cy="2056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97346" y="3615606"/>
              <a:ext cx="691135" cy="452920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4660" y="3615606"/>
              <a:ext cx="693422" cy="480061"/>
            </a:xfrm>
            <a:prstGeom prst="rect">
              <a:avLst/>
            </a:prstGeom>
          </p:spPr>
        </p:pic>
        <p:cxnSp>
          <p:nvCxnSpPr>
            <p:cNvPr id="15" name="直接连接符 14"/>
            <p:cNvCxnSpPr>
              <a:stCxn id="13" idx="3"/>
              <a:endCxn id="7" idx="1"/>
            </p:cNvCxnSpPr>
            <p:nvPr/>
          </p:nvCxnSpPr>
          <p:spPr>
            <a:xfrm flipV="1">
              <a:off x="2388481" y="3741184"/>
              <a:ext cx="376234" cy="1008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8" idx="3"/>
              <a:endCxn id="14" idx="1"/>
            </p:cNvCxnSpPr>
            <p:nvPr/>
          </p:nvCxnSpPr>
          <p:spPr>
            <a:xfrm>
              <a:off x="4970909" y="3655862"/>
              <a:ext cx="413751" cy="199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图片 16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486" b="26805"/>
            <a:stretch>
              <a:fillRect/>
            </a:stretch>
          </p:blipFill>
          <p:spPr>
            <a:xfrm>
              <a:off x="2892461" y="2133022"/>
              <a:ext cx="771699" cy="453050"/>
            </a:xfrm>
            <a:prstGeom prst="rect">
              <a:avLst/>
            </a:prstGeom>
          </p:spPr>
        </p:pic>
        <p:cxnSp>
          <p:nvCxnSpPr>
            <p:cNvPr id="18" name="直接连接符 17"/>
            <p:cNvCxnSpPr>
              <a:stCxn id="17" idx="2"/>
              <a:endCxn id="9" idx="0"/>
            </p:cNvCxnSpPr>
            <p:nvPr/>
          </p:nvCxnSpPr>
          <p:spPr>
            <a:xfrm>
              <a:off x="3278311" y="2586072"/>
              <a:ext cx="522908" cy="1290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任意多边形 18"/>
            <p:cNvSpPr/>
            <p:nvPr/>
          </p:nvSpPr>
          <p:spPr>
            <a:xfrm>
              <a:off x="2352675" y="2600325"/>
              <a:ext cx="1231130" cy="1123950"/>
            </a:xfrm>
            <a:custGeom>
              <a:avLst/>
              <a:gdLst>
                <a:gd name="connsiteX0" fmla="*/ 0 w 1231130"/>
                <a:gd name="connsiteY0" fmla="*/ 1123950 h 1123950"/>
                <a:gd name="connsiteX1" fmla="*/ 504825 w 1231130"/>
                <a:gd name="connsiteY1" fmla="*/ 962025 h 1123950"/>
                <a:gd name="connsiteX2" fmla="*/ 1152525 w 1231130"/>
                <a:gd name="connsiteY2" fmla="*/ 695325 h 1123950"/>
                <a:gd name="connsiteX3" fmla="*/ 1190625 w 1231130"/>
                <a:gd name="connsiteY3" fmla="*/ 333375 h 1123950"/>
                <a:gd name="connsiteX4" fmla="*/ 885825 w 1231130"/>
                <a:gd name="connsiteY4" fmla="*/ 0 h 112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130" h="1123950">
                  <a:moveTo>
                    <a:pt x="0" y="1123950"/>
                  </a:moveTo>
                  <a:cubicBezTo>
                    <a:pt x="156369" y="1078706"/>
                    <a:pt x="312738" y="1033462"/>
                    <a:pt x="504825" y="962025"/>
                  </a:cubicBezTo>
                  <a:cubicBezTo>
                    <a:pt x="696912" y="890588"/>
                    <a:pt x="1038225" y="800100"/>
                    <a:pt x="1152525" y="695325"/>
                  </a:cubicBezTo>
                  <a:cubicBezTo>
                    <a:pt x="1266825" y="590550"/>
                    <a:pt x="1235075" y="449262"/>
                    <a:pt x="1190625" y="333375"/>
                  </a:cubicBezTo>
                  <a:cubicBezTo>
                    <a:pt x="1146175" y="217487"/>
                    <a:pt x="1016000" y="108743"/>
                    <a:pt x="885825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3533775" y="2581275"/>
              <a:ext cx="1809750" cy="1114425"/>
            </a:xfrm>
            <a:custGeom>
              <a:avLst/>
              <a:gdLst>
                <a:gd name="connsiteX0" fmla="*/ 1809750 w 1809750"/>
                <a:gd name="connsiteY0" fmla="*/ 1114425 h 1114425"/>
                <a:gd name="connsiteX1" fmla="*/ 1104900 w 1809750"/>
                <a:gd name="connsiteY1" fmla="*/ 847725 h 1114425"/>
                <a:gd name="connsiteX2" fmla="*/ 466725 w 1809750"/>
                <a:gd name="connsiteY2" fmla="*/ 723900 h 1114425"/>
                <a:gd name="connsiteX3" fmla="*/ 485775 w 1809750"/>
                <a:gd name="connsiteY3" fmla="*/ 390525 h 1114425"/>
                <a:gd name="connsiteX4" fmla="*/ 0 w 1809750"/>
                <a:gd name="connsiteY4" fmla="*/ 0 h 1114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9750" h="1114425">
                  <a:moveTo>
                    <a:pt x="1809750" y="1114425"/>
                  </a:moveTo>
                  <a:cubicBezTo>
                    <a:pt x="1569243" y="1013618"/>
                    <a:pt x="1328737" y="912812"/>
                    <a:pt x="1104900" y="847725"/>
                  </a:cubicBezTo>
                  <a:cubicBezTo>
                    <a:pt x="881063" y="782638"/>
                    <a:pt x="569912" y="800100"/>
                    <a:pt x="466725" y="723900"/>
                  </a:cubicBezTo>
                  <a:cubicBezTo>
                    <a:pt x="363538" y="647700"/>
                    <a:pt x="563562" y="511175"/>
                    <a:pt x="485775" y="390525"/>
                  </a:cubicBezTo>
                  <a:cubicBezTo>
                    <a:pt x="407988" y="269875"/>
                    <a:pt x="203994" y="134937"/>
                    <a:pt x="0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5952" y="2000250"/>
              <a:ext cx="475402" cy="475402"/>
            </a:xfrm>
            <a:prstGeom prst="rect">
              <a:avLst/>
            </a:prstGeom>
          </p:spPr>
        </p:pic>
      </p:grpSp>
      <p:sp>
        <p:nvSpPr>
          <p:cNvPr id="22" name="灯片编号占位符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网络程序接口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altLang="zh-CN" dirty="0"/>
              <a:t>BSD Socket API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不是为每个应用程序定义接口，而是提供最基本的通信功能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对上层提供统一的调用接口，支持丰富的上层应用开发</a:t>
            </a:r>
            <a:endParaRPr lang="en-US" altLang="zh-CN" dirty="0"/>
          </a:p>
          <a:p>
            <a:pPr>
              <a:spcBef>
                <a:spcPts val="0"/>
              </a:spcBef>
            </a:pP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706246" y="3284686"/>
          <a:ext cx="5314314" cy="3371352"/>
        </p:xfrm>
        <a:graphic>
          <a:graphicData uri="http://schemas.openxmlformats.org/drawingml/2006/table">
            <a:tbl>
              <a:tblPr/>
              <a:tblGrid>
                <a:gridCol w="5314314"/>
              </a:tblGrid>
              <a:tr h="341869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800" u="none" strike="noStrike" dirty="0">
                          <a:effectLst/>
                        </a:rPr>
                        <a:t>BSD Socket API</a:t>
                      </a:r>
                      <a:endParaRPr lang="en-US" sz="1800" b="0" i="0" u="none" strike="noStrike" dirty="0">
                        <a:solidFill>
                          <a:srgbClr val="9C65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</a:tr>
              <a:tr h="781915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263525" algn="l" fontAlgn="b"/>
                      <a:r>
                        <a:rPr lang="en-US" altLang="zh-CN" sz="1600" u="none" strike="noStrike" dirty="0">
                          <a:effectLst/>
                        </a:rPr>
                        <a:t>socket(domain, type, proto);</a:t>
                      </a:r>
                      <a:endParaRPr lang="en-US" altLang="zh-CN" sz="1600" u="none" strike="noStrike" dirty="0">
                        <a:effectLst/>
                      </a:endParaRPr>
                    </a:p>
                    <a:p>
                      <a:pPr marL="0" indent="263525" algn="l" fontAlgn="b"/>
                      <a:r>
                        <a:rPr lang="en-US" altLang="zh-CN" sz="1600" u="none" strike="noStrike" dirty="0">
                          <a:effectLst/>
                        </a:rPr>
                        <a:t>close(</a:t>
                      </a:r>
                      <a:r>
                        <a:rPr lang="en-US" altLang="zh-CN" sz="1600" u="none" strike="noStrike" dirty="0" err="1">
                          <a:effectLst/>
                        </a:rPr>
                        <a:t>sockfd</a:t>
                      </a:r>
                      <a:r>
                        <a:rPr lang="en-US" altLang="zh-CN" sz="1600" u="none" strike="noStrike" dirty="0">
                          <a:effectLst/>
                        </a:rPr>
                        <a:t>);</a:t>
                      </a:r>
                      <a:endParaRPr lang="en-US" altLang="zh-CN" sz="1600" u="none" strike="noStrike" dirty="0">
                        <a:effectLst/>
                      </a:endParaRPr>
                    </a:p>
                    <a:p>
                      <a:pPr marL="0" indent="263525" algn="l" fontAlgn="b"/>
                      <a:r>
                        <a:rPr lang="en-US" altLang="zh-CN" sz="1600" u="none" strike="noStrike" dirty="0">
                          <a:effectLst/>
                        </a:rPr>
                        <a:t>bind(</a:t>
                      </a:r>
                      <a:r>
                        <a:rPr lang="en-US" altLang="zh-CN" sz="1600" u="none" strike="noStrike" dirty="0" err="1">
                          <a:effectLst/>
                        </a:rPr>
                        <a:t>sockfd</a:t>
                      </a:r>
                      <a:r>
                        <a:rPr lang="en-US" altLang="zh-CN" sz="1600" u="none" strike="noStrike" dirty="0">
                          <a:effectLst/>
                        </a:rPr>
                        <a:t>, </a:t>
                      </a:r>
                      <a:r>
                        <a:rPr lang="en-US" altLang="zh-CN" sz="1600" u="none" strike="noStrike" dirty="0" err="1">
                          <a:effectLst/>
                        </a:rPr>
                        <a:t>addr</a:t>
                      </a:r>
                      <a:r>
                        <a:rPr lang="en-US" altLang="zh-CN" sz="1600" u="none" strike="noStrike" dirty="0">
                          <a:effectLst/>
                        </a:rPr>
                        <a:t>, </a:t>
                      </a:r>
                      <a:r>
                        <a:rPr lang="en-US" altLang="zh-CN" sz="1600" u="none" strike="noStrike" dirty="0" err="1">
                          <a:effectLst/>
                        </a:rPr>
                        <a:t>addrlen</a:t>
                      </a:r>
                      <a:r>
                        <a:rPr lang="en-US" altLang="zh-CN" sz="1600" u="none" strike="noStrike" dirty="0">
                          <a:effectLst/>
                        </a:rPr>
                        <a:t>);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</a:tr>
              <a:tr h="341869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altLang="zh-CN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</a:t>
                      </a:r>
                      <a:r>
                        <a:rPr lang="en-US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tagram</a:t>
                      </a:r>
                      <a:endParaRPr lang="en-US" sz="1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</a:tr>
              <a:tr h="524627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263525" algn="l" fontAlgn="b"/>
                      <a:r>
                        <a:rPr lang="en-US" sz="1600" u="none" strike="noStrike" dirty="0" err="1">
                          <a:effectLst/>
                        </a:rPr>
                        <a:t>sendto</a:t>
                      </a:r>
                      <a:r>
                        <a:rPr lang="en-US" sz="1600" u="none" strike="noStrike" dirty="0">
                          <a:effectLst/>
                        </a:rPr>
                        <a:t>(</a:t>
                      </a:r>
                      <a:r>
                        <a:rPr lang="en-US" sz="1600" u="none" strike="noStrike" dirty="0" err="1">
                          <a:effectLst/>
                        </a:rPr>
                        <a:t>sockfd</a:t>
                      </a:r>
                      <a:r>
                        <a:rPr lang="en-US" sz="1600" u="none" strike="noStrike" dirty="0">
                          <a:effectLst/>
                        </a:rPr>
                        <a:t>, </a:t>
                      </a:r>
                      <a:r>
                        <a:rPr lang="en-US" sz="1600" u="none" strike="noStrike" dirty="0" err="1">
                          <a:effectLst/>
                        </a:rPr>
                        <a:t>buf</a:t>
                      </a:r>
                      <a:r>
                        <a:rPr lang="en-US" sz="1600" u="none" strike="noStrike" dirty="0">
                          <a:effectLst/>
                        </a:rPr>
                        <a:t>, </a:t>
                      </a:r>
                      <a:r>
                        <a:rPr lang="en-US" sz="1600" u="none" strike="noStrike" dirty="0" err="1">
                          <a:effectLst/>
                        </a:rPr>
                        <a:t>len</a:t>
                      </a:r>
                      <a:r>
                        <a:rPr lang="en-US" sz="1600" u="none" strike="noStrike" dirty="0">
                          <a:effectLst/>
                        </a:rPr>
                        <a:t>, flags, </a:t>
                      </a:r>
                      <a:r>
                        <a:rPr lang="en-US" sz="1600" u="none" strike="noStrike" dirty="0" err="1">
                          <a:effectLst/>
                        </a:rPr>
                        <a:t>dest_addr</a:t>
                      </a:r>
                      <a:r>
                        <a:rPr lang="en-US" sz="1600" u="none" strike="noStrike" dirty="0">
                          <a:effectLst/>
                        </a:rPr>
                        <a:t>, </a:t>
                      </a:r>
                      <a:r>
                        <a:rPr lang="en-US" sz="1600" u="none" strike="noStrike" dirty="0" err="1">
                          <a:effectLst/>
                        </a:rPr>
                        <a:t>addrlen</a:t>
                      </a:r>
                      <a:r>
                        <a:rPr lang="en-US" sz="1600" u="none" strike="noStrike" dirty="0">
                          <a:effectLst/>
                        </a:rPr>
                        <a:t>);</a:t>
                      </a:r>
                      <a:endParaRPr lang="en-US" sz="1600" u="none" strike="noStrike" dirty="0">
                        <a:effectLst/>
                      </a:endParaRPr>
                    </a:p>
                    <a:p>
                      <a:pPr marL="0" indent="263525" algn="l" fontAlgn="b"/>
                      <a:r>
                        <a:rPr lang="en-US" sz="1600" u="none" strike="noStrike" dirty="0" err="1">
                          <a:effectLst/>
                        </a:rPr>
                        <a:t>recvfrom</a:t>
                      </a:r>
                      <a:r>
                        <a:rPr lang="en-US" sz="1600" u="none" strike="noStrike" dirty="0">
                          <a:effectLst/>
                        </a:rPr>
                        <a:t>(</a:t>
                      </a:r>
                      <a:r>
                        <a:rPr lang="en-US" sz="1600" u="none" strike="noStrike" dirty="0" err="1">
                          <a:effectLst/>
                        </a:rPr>
                        <a:t>sockfd</a:t>
                      </a:r>
                      <a:r>
                        <a:rPr lang="en-US" sz="1600" u="none" strike="noStrike" dirty="0">
                          <a:effectLst/>
                        </a:rPr>
                        <a:t>, &amp;</a:t>
                      </a:r>
                      <a:r>
                        <a:rPr lang="en-US" sz="1600" u="none" strike="noStrike" dirty="0" err="1">
                          <a:effectLst/>
                        </a:rPr>
                        <a:t>buf</a:t>
                      </a:r>
                      <a:r>
                        <a:rPr lang="en-US" sz="1600" u="none" strike="noStrike" dirty="0">
                          <a:effectLst/>
                        </a:rPr>
                        <a:t>, </a:t>
                      </a:r>
                      <a:r>
                        <a:rPr lang="en-US" sz="1600" u="none" strike="noStrike" dirty="0" err="1">
                          <a:effectLst/>
                        </a:rPr>
                        <a:t>len</a:t>
                      </a:r>
                      <a:r>
                        <a:rPr lang="en-US" sz="1600" u="none" strike="noStrike" dirty="0">
                          <a:effectLst/>
                        </a:rPr>
                        <a:t>, flags, </a:t>
                      </a:r>
                      <a:r>
                        <a:rPr lang="en-US" sz="1600" u="none" strike="noStrike" dirty="0" err="1">
                          <a:effectLst/>
                        </a:rPr>
                        <a:t>src_addr</a:t>
                      </a:r>
                      <a:r>
                        <a:rPr lang="en-US" sz="1600" u="none" strike="noStrike" dirty="0">
                          <a:effectLst/>
                        </a:rPr>
                        <a:t>, &amp;</a:t>
                      </a:r>
                      <a:r>
                        <a:rPr lang="en-US" sz="1600" u="none" strike="noStrike" dirty="0" err="1">
                          <a:effectLst/>
                        </a:rPr>
                        <a:t>addrlen</a:t>
                      </a:r>
                      <a:r>
                        <a:rPr lang="en-US" sz="1600" u="none" strike="noStrike" dirty="0">
                          <a:effectLst/>
                        </a:rPr>
                        <a:t>);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</a:tr>
              <a:tr h="341869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Stream</a:t>
                      </a:r>
                      <a:endParaRPr lang="en-US" sz="1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</a:tr>
              <a:tr h="1039203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263525" algn="l" fontAlgn="b"/>
                      <a:r>
                        <a:rPr lang="en-US" sz="1600" u="none" strike="noStrike" dirty="0">
                          <a:effectLst/>
                        </a:rPr>
                        <a:t>accept(</a:t>
                      </a:r>
                      <a:r>
                        <a:rPr lang="en-US" sz="1600" u="none" strike="noStrike" dirty="0" err="1">
                          <a:effectLst/>
                        </a:rPr>
                        <a:t>sockfd</a:t>
                      </a:r>
                      <a:r>
                        <a:rPr lang="en-US" sz="1600" u="none" strike="noStrike" dirty="0">
                          <a:effectLst/>
                        </a:rPr>
                        <a:t>, </a:t>
                      </a:r>
                      <a:r>
                        <a:rPr lang="en-US" sz="1600" u="none" strike="noStrike" dirty="0" err="1">
                          <a:effectLst/>
                        </a:rPr>
                        <a:t>addr</a:t>
                      </a:r>
                      <a:r>
                        <a:rPr lang="en-US" sz="1600" u="none" strike="noStrike" dirty="0">
                          <a:effectLst/>
                        </a:rPr>
                        <a:t>, &amp;</a:t>
                      </a:r>
                      <a:r>
                        <a:rPr lang="en-US" sz="1600" u="none" strike="noStrike" dirty="0" err="1">
                          <a:effectLst/>
                        </a:rPr>
                        <a:t>addrlen</a:t>
                      </a:r>
                      <a:r>
                        <a:rPr lang="en-US" sz="1600" u="none" strike="noStrike" dirty="0">
                          <a:effectLst/>
                        </a:rPr>
                        <a:t>);</a:t>
                      </a:r>
                      <a:endParaRPr lang="en-US" sz="1600" u="none" strike="noStrike" dirty="0">
                        <a:effectLst/>
                      </a:endParaRPr>
                    </a:p>
                    <a:p>
                      <a:pPr marL="0" indent="263525" algn="l" fontAlgn="b"/>
                      <a:r>
                        <a:rPr lang="en-US" sz="1600" u="none" strike="noStrike" dirty="0">
                          <a:effectLst/>
                        </a:rPr>
                        <a:t>connect(</a:t>
                      </a:r>
                      <a:r>
                        <a:rPr lang="en-US" sz="1600" u="none" strike="noStrike" dirty="0" err="1">
                          <a:effectLst/>
                        </a:rPr>
                        <a:t>sockfd</a:t>
                      </a:r>
                      <a:r>
                        <a:rPr lang="en-US" sz="1600" u="none" strike="noStrike" dirty="0">
                          <a:effectLst/>
                        </a:rPr>
                        <a:t>, </a:t>
                      </a:r>
                      <a:r>
                        <a:rPr lang="en-US" sz="1600" u="none" strike="noStrike" dirty="0" err="1">
                          <a:effectLst/>
                        </a:rPr>
                        <a:t>addr</a:t>
                      </a:r>
                      <a:r>
                        <a:rPr lang="en-US" sz="1600" u="none" strike="noStrike" dirty="0">
                          <a:effectLst/>
                        </a:rPr>
                        <a:t>, </a:t>
                      </a:r>
                      <a:r>
                        <a:rPr lang="en-US" sz="1600" u="none" strike="noStrike" dirty="0" err="1">
                          <a:effectLst/>
                        </a:rPr>
                        <a:t>addrlen</a:t>
                      </a:r>
                      <a:r>
                        <a:rPr lang="en-US" sz="1600" u="none" strike="noStrike" dirty="0">
                          <a:effectLst/>
                        </a:rPr>
                        <a:t>);</a:t>
                      </a:r>
                      <a:endParaRPr lang="en-US" sz="1600" u="none" strike="noStrike" dirty="0">
                        <a:effectLst/>
                      </a:endParaRPr>
                    </a:p>
                    <a:p>
                      <a:pPr marL="0" indent="263525" algn="l" fontAlgn="b"/>
                      <a:r>
                        <a:rPr lang="en-US" sz="1600" u="none" strike="noStrike" dirty="0">
                          <a:effectLst/>
                        </a:rPr>
                        <a:t>send(</a:t>
                      </a:r>
                      <a:r>
                        <a:rPr lang="en-US" sz="1600" u="none" strike="noStrike" dirty="0" err="1">
                          <a:effectLst/>
                        </a:rPr>
                        <a:t>sockfd</a:t>
                      </a:r>
                      <a:r>
                        <a:rPr lang="en-US" sz="1600" u="none" strike="noStrike" dirty="0">
                          <a:effectLst/>
                        </a:rPr>
                        <a:t>, </a:t>
                      </a:r>
                      <a:r>
                        <a:rPr lang="en-US" sz="1600" u="none" strike="noStrike" dirty="0" err="1">
                          <a:effectLst/>
                        </a:rPr>
                        <a:t>buf</a:t>
                      </a:r>
                      <a:r>
                        <a:rPr lang="en-US" sz="1600" u="none" strike="noStrike" dirty="0">
                          <a:effectLst/>
                        </a:rPr>
                        <a:t>, </a:t>
                      </a:r>
                      <a:r>
                        <a:rPr lang="en-US" sz="1600" u="none" strike="noStrike" dirty="0" err="1">
                          <a:effectLst/>
                        </a:rPr>
                        <a:t>len</a:t>
                      </a:r>
                      <a:r>
                        <a:rPr lang="en-US" sz="1600" u="none" strike="noStrike" dirty="0">
                          <a:effectLst/>
                        </a:rPr>
                        <a:t>, flags);</a:t>
                      </a:r>
                      <a:endParaRPr lang="en-US" sz="1600" u="none" strike="noStrike" dirty="0">
                        <a:effectLst/>
                      </a:endParaRPr>
                    </a:p>
                    <a:p>
                      <a:pPr marL="0" indent="263525" algn="l" fontAlgn="b"/>
                      <a:r>
                        <a:rPr lang="en-US" sz="1600" u="none" strike="noStrike" dirty="0" err="1">
                          <a:effectLst/>
                        </a:rPr>
                        <a:t>recv</a:t>
                      </a:r>
                      <a:r>
                        <a:rPr lang="en-US" sz="1600" u="none" strike="noStrike" dirty="0">
                          <a:effectLst/>
                        </a:rPr>
                        <a:t>(</a:t>
                      </a:r>
                      <a:r>
                        <a:rPr lang="en-US" sz="1600" u="none" strike="noStrike" dirty="0" err="1">
                          <a:effectLst/>
                        </a:rPr>
                        <a:t>sockfd</a:t>
                      </a:r>
                      <a:r>
                        <a:rPr lang="en-US" sz="1600" u="none" strike="noStrike" dirty="0">
                          <a:effectLst/>
                        </a:rPr>
                        <a:t>, &amp;</a:t>
                      </a:r>
                      <a:r>
                        <a:rPr lang="en-US" sz="1600" u="none" strike="noStrike" dirty="0" err="1">
                          <a:effectLst/>
                        </a:rPr>
                        <a:t>buf</a:t>
                      </a:r>
                      <a:r>
                        <a:rPr lang="en-US" sz="1600" u="none" strike="noStrike" dirty="0">
                          <a:effectLst/>
                        </a:rPr>
                        <a:t>, </a:t>
                      </a:r>
                      <a:r>
                        <a:rPr lang="en-US" sz="1600" u="none" strike="noStrike" dirty="0" err="1">
                          <a:effectLst/>
                        </a:rPr>
                        <a:t>len</a:t>
                      </a:r>
                      <a:r>
                        <a:rPr lang="en-US" sz="1600" u="none" strike="noStrike" dirty="0">
                          <a:effectLst/>
                        </a:rPr>
                        <a:t>, flags);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编程示例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686800" cy="5034843"/>
          </a:xfrm>
        </p:spPr>
        <p:txBody>
          <a:bodyPr/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600" dirty="0" err="1">
                <a:solidFill>
                  <a:srgbClr val="B0004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sockfd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n;</a:t>
            </a:r>
            <a:endParaRPr lang="zh-CN" altLang="zh-CN" sz="1600" kern="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600" dirty="0">
                <a:solidFill>
                  <a:srgbClr val="B0004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char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buffer[</a:t>
            </a:r>
            <a:r>
              <a:rPr lang="en-US" altLang="zh-CN" sz="1600" dirty="0">
                <a:solidFill>
                  <a:srgbClr val="666666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1024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];</a:t>
            </a:r>
            <a:endParaRPr lang="zh-CN" altLang="zh-CN" sz="1600" kern="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6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struct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hostent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rgbClr val="666666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*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server;</a:t>
            </a:r>
            <a:endParaRPr lang="zh-CN" altLang="zh-CN" sz="1600" kern="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600" b="1" dirty="0" err="1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struct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sockaddr_in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serv_addr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  <a:endParaRPr lang="zh-CN" altLang="zh-CN" sz="1600" kern="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6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const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rgbClr val="B0004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char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rgbClr val="666666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*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req </a:t>
            </a:r>
            <a:r>
              <a:rPr lang="en-US" altLang="zh-CN" sz="1600" dirty="0">
                <a:solidFill>
                  <a:srgbClr val="666666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=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rgbClr val="BA2121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"GET / HTTP/1.0\r\</a:t>
            </a:r>
            <a:r>
              <a:rPr lang="en-US" altLang="zh-CN" sz="1600" dirty="0" err="1">
                <a:solidFill>
                  <a:srgbClr val="BA2121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nHost</a:t>
            </a:r>
            <a:r>
              <a:rPr lang="en-US" altLang="zh-CN" sz="1600" dirty="0">
                <a:solidFill>
                  <a:srgbClr val="BA2121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: www.ict.ac.cn\r\n\r\n"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  <a:endParaRPr lang="zh-CN" altLang="zh-CN" sz="1600" kern="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server </a:t>
            </a:r>
            <a:r>
              <a:rPr lang="en-US" altLang="zh-CN" sz="1600" dirty="0">
                <a:solidFill>
                  <a:srgbClr val="666666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=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gethostbyname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-US" altLang="zh-CN" sz="1600" dirty="0">
                <a:solidFill>
                  <a:srgbClr val="BA2121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"www.ict.ac.cn"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  <a:endParaRPr lang="zh-CN" altLang="zh-CN" sz="1600" kern="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6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serv_addr.sin_family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rgbClr val="666666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=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AF_INET;</a:t>
            </a:r>
            <a:endParaRPr lang="zh-CN" altLang="zh-CN" sz="1600" kern="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6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bcopy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(server</a:t>
            </a:r>
            <a:r>
              <a:rPr lang="en-US" altLang="zh-CN" sz="1600" dirty="0">
                <a:solidFill>
                  <a:srgbClr val="666666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-&gt;</a:t>
            </a:r>
            <a:r>
              <a:rPr lang="en-US" altLang="zh-CN" sz="16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h_addr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600" dirty="0">
                <a:solidFill>
                  <a:srgbClr val="666666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&amp;</a:t>
            </a:r>
            <a:r>
              <a:rPr lang="en-US" altLang="zh-CN" sz="16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serv_addr.sin_addr.s_addr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server</a:t>
            </a:r>
            <a:r>
              <a:rPr lang="en-US" altLang="zh-CN" sz="1600" dirty="0">
                <a:solidFill>
                  <a:srgbClr val="666666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-&gt;</a:t>
            </a:r>
            <a:r>
              <a:rPr lang="en-US" altLang="zh-CN" sz="16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h_length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  <a:endParaRPr lang="zh-CN" altLang="zh-CN" sz="1600" kern="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6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serv_addr.sin_port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rgbClr val="666666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=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htons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-US" altLang="zh-CN" sz="1600" dirty="0">
                <a:solidFill>
                  <a:srgbClr val="666666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80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  <a:endParaRPr lang="zh-CN" altLang="zh-CN" sz="1600" kern="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6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sockfd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rgbClr val="666666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=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socket(AF_INET, SOCK_STREAM, </a:t>
            </a:r>
            <a:r>
              <a:rPr lang="en-US" altLang="zh-CN" sz="1600" dirty="0">
                <a:solidFill>
                  <a:srgbClr val="666666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0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zh-CN" altLang="zh-CN" sz="1600" kern="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connect(</a:t>
            </a:r>
            <a:r>
              <a:rPr lang="en-US" altLang="zh-CN" sz="1600" b="1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sockfd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,(</a:t>
            </a:r>
            <a:r>
              <a:rPr lang="en-US" altLang="zh-CN" sz="1600" b="1" dirty="0" err="1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struct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600" b="1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sockaddr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600" b="1" dirty="0">
                <a:solidFill>
                  <a:srgbClr val="666666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*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  <a:r>
              <a:rPr lang="en-US" altLang="zh-CN" sz="1600" b="1" dirty="0">
                <a:solidFill>
                  <a:srgbClr val="666666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&amp;</a:t>
            </a:r>
            <a:r>
              <a:rPr lang="en-US" altLang="zh-CN" sz="1600" b="1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serv_addr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600" b="1" dirty="0" err="1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sizeof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-US" altLang="zh-CN" sz="1600" b="1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serv_addr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));</a:t>
            </a:r>
            <a:endParaRPr lang="zh-CN" altLang="zh-CN" sz="1600" b="1" kern="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send(</a:t>
            </a:r>
            <a:r>
              <a:rPr lang="en-US" altLang="zh-CN" sz="1600" b="1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sockfd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req, </a:t>
            </a:r>
            <a:r>
              <a:rPr lang="en-US" altLang="zh-CN" sz="1600" b="1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strlen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(req), </a:t>
            </a:r>
            <a:r>
              <a:rPr lang="en-US" altLang="zh-CN" sz="1600" b="1" dirty="0">
                <a:solidFill>
                  <a:srgbClr val="666666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0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  <a:endParaRPr lang="zh-CN" altLang="zh-CN" sz="1600" b="1" kern="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6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while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((n </a:t>
            </a:r>
            <a:r>
              <a:rPr lang="en-US" altLang="zh-CN" sz="1600" dirty="0">
                <a:solidFill>
                  <a:srgbClr val="666666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=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600" b="1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recv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-US" altLang="zh-CN" sz="1600" b="1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sockfd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buffer, </a:t>
            </a:r>
            <a:r>
              <a:rPr lang="en-US" altLang="zh-CN" sz="1600" b="1" dirty="0" err="1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sizeof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(buffer)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600" dirty="0">
                <a:solidFill>
                  <a:srgbClr val="666666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0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)) </a:t>
            </a:r>
            <a:r>
              <a:rPr lang="en-US" altLang="zh-CN" sz="1600" dirty="0">
                <a:solidFill>
                  <a:srgbClr val="666666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&gt;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rgbClr val="666666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0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  <a:endParaRPr lang="zh-CN" altLang="zh-CN" sz="1600" kern="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</a:t>
            </a:r>
            <a:r>
              <a:rPr lang="en-US" altLang="zh-CN" sz="16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fwrite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(buffer, </a:t>
            </a:r>
            <a:r>
              <a:rPr lang="en-US" altLang="zh-CN" sz="1600" dirty="0">
                <a:solidFill>
                  <a:srgbClr val="666666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n, </a:t>
            </a:r>
            <a:r>
              <a:rPr lang="en-US" altLang="zh-CN" sz="16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stdout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zh-CN" altLang="zh-CN" sz="1600" kern="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close(</a:t>
            </a:r>
            <a:r>
              <a:rPr lang="en-US" altLang="zh-CN" sz="1600" b="1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sockfd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  <a:endParaRPr lang="zh-CN" altLang="zh-CN" sz="1600" b="1" kern="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zh-CN" altLang="en-US" sz="800" dirty="0"/>
          </a:p>
        </p:txBody>
      </p:sp>
      <p:sp>
        <p:nvSpPr>
          <p:cNvPr id="4" name="矩形 3"/>
          <p:cNvSpPr/>
          <p:nvPr/>
        </p:nvSpPr>
        <p:spPr>
          <a:xfrm>
            <a:off x="5560828" y="982488"/>
            <a:ext cx="3125972" cy="16004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&lt;stdio.h&gt;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&lt;string.h&gt;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&lt;unistd.h&gt;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&lt;sys/socket.h&gt;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&lt;netinet/in.h&gt;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&lt;netdb.h&gt;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报文传递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报文传递：将报文从一个端节点传送到另一个端节点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1102459" y="2203966"/>
            <a:ext cx="5314027" cy="1200329"/>
            <a:chOff x="1400175" y="2203966"/>
            <a:chExt cx="5314027" cy="1200329"/>
          </a:xfrm>
        </p:grpSpPr>
        <p:sp>
          <p:nvSpPr>
            <p:cNvPr id="4" name="文本框 3"/>
            <p:cNvSpPr txBox="1"/>
            <p:nvPr/>
          </p:nvSpPr>
          <p:spPr>
            <a:xfrm>
              <a:off x="1400175" y="2628900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报文传递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" name="左大括号 4"/>
            <p:cNvSpPr/>
            <p:nvPr/>
          </p:nvSpPr>
          <p:spPr>
            <a:xfrm>
              <a:off x="2546271" y="2242066"/>
              <a:ext cx="409575" cy="11430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067050" y="2203966"/>
              <a:ext cx="3647152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确定端节点到端节点的传输路径</a:t>
              </a:r>
              <a:endParaRPr lang="en-US" altLang="zh-CN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endParaRPr lang="en-US" altLang="zh-CN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将报文按照确定好的路径进行传送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6698512" y="2222200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组网与网络互联</a:t>
            </a:r>
            <a:endParaRPr lang="zh-CN" altLang="en-US" dirty="0">
              <a:solidFill>
                <a:schemeClr val="bg2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98512" y="30349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数据传输</a:t>
            </a:r>
            <a:endParaRPr lang="zh-CN" altLang="en-US" dirty="0">
              <a:solidFill>
                <a:schemeClr val="bg2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内容占位符 6"/>
          <p:cNvSpPr txBox="1"/>
          <p:nvPr/>
        </p:nvSpPr>
        <p:spPr>
          <a:xfrm>
            <a:off x="638036" y="3847726"/>
            <a:ext cx="4040188" cy="279336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kern="0" dirty="0"/>
              <a:t>组网与网络互联</a:t>
            </a:r>
            <a:endParaRPr lang="en-US" altLang="zh-CN" sz="2400" kern="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000" kern="0" dirty="0"/>
              <a:t>动态地维护网络互联</a:t>
            </a:r>
            <a:endParaRPr lang="en-US" altLang="zh-CN" sz="2000" kern="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000" kern="0" dirty="0"/>
              <a:t>保证端到端数据可达</a:t>
            </a:r>
            <a:endParaRPr lang="en-US" altLang="zh-CN" sz="2000" kern="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zh-CN" altLang="en-US" sz="2000" kern="0" dirty="0"/>
          </a:p>
        </p:txBody>
      </p:sp>
      <p:sp>
        <p:nvSpPr>
          <p:cNvPr id="12" name="内容占位符 8"/>
          <p:cNvSpPr txBox="1"/>
          <p:nvPr/>
        </p:nvSpPr>
        <p:spPr>
          <a:xfrm>
            <a:off x="4825865" y="3847726"/>
            <a:ext cx="4041775" cy="237680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kern="0" dirty="0"/>
              <a:t>数据传输</a:t>
            </a:r>
            <a:endParaRPr lang="en-US" altLang="zh-CN" sz="2400" kern="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000" kern="0" dirty="0"/>
              <a:t>连接管理</a:t>
            </a:r>
            <a:endParaRPr lang="en-US" altLang="zh-CN" sz="2000" kern="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000" kern="0" dirty="0"/>
              <a:t>可靠传输</a:t>
            </a:r>
            <a:endParaRPr lang="en-US" altLang="zh-CN" sz="2000" kern="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000" kern="0" dirty="0"/>
              <a:t>流量控制</a:t>
            </a:r>
            <a:endParaRPr lang="en-US" altLang="zh-CN" sz="2000" kern="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000" kern="0" dirty="0"/>
              <a:t>拥塞控制</a:t>
            </a:r>
            <a:endParaRPr lang="zh-CN" altLang="en-US" sz="2000" kern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组网与网络互联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6" name="云形 5"/>
          <p:cNvSpPr/>
          <p:nvPr/>
        </p:nvSpPr>
        <p:spPr>
          <a:xfrm>
            <a:off x="4984454" y="5528931"/>
            <a:ext cx="1920949" cy="1176670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云形 6"/>
          <p:cNvSpPr/>
          <p:nvPr/>
        </p:nvSpPr>
        <p:spPr>
          <a:xfrm>
            <a:off x="4855978" y="3402429"/>
            <a:ext cx="2732567" cy="1701210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云形 9"/>
          <p:cNvSpPr/>
          <p:nvPr/>
        </p:nvSpPr>
        <p:spPr>
          <a:xfrm>
            <a:off x="2235864" y="5519075"/>
            <a:ext cx="1920949" cy="1176670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7" name="组合 56"/>
          <p:cNvGrpSpPr/>
          <p:nvPr/>
        </p:nvGrpSpPr>
        <p:grpSpPr>
          <a:xfrm>
            <a:off x="4810346" y="1479257"/>
            <a:ext cx="2763135" cy="1454555"/>
            <a:chOff x="4376417" y="1501947"/>
            <a:chExt cx="2763135" cy="1454555"/>
          </a:xfrm>
        </p:grpSpPr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6931" y="1969080"/>
              <a:ext cx="971158" cy="518939"/>
            </a:xfrm>
            <a:prstGeom prst="rect">
              <a:avLst/>
            </a:prstGeom>
          </p:spPr>
        </p:pic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6417" y="1541841"/>
              <a:ext cx="712822" cy="467133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6730" y="2489369"/>
              <a:ext cx="712822" cy="467133"/>
            </a:xfrm>
            <a:prstGeom prst="rect">
              <a:avLst/>
            </a:prstGeom>
          </p:spPr>
        </p:pic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2727" y="1501947"/>
              <a:ext cx="712822" cy="467133"/>
            </a:xfrm>
            <a:prstGeom prst="rect">
              <a:avLst/>
            </a:prstGeom>
          </p:spPr>
        </p:pic>
        <p:cxnSp>
          <p:nvCxnSpPr>
            <p:cNvPr id="43" name="直接连接符 42"/>
            <p:cNvCxnSpPr>
              <a:stCxn id="40" idx="2"/>
              <a:endCxn id="39" idx="1"/>
            </p:cNvCxnSpPr>
            <p:nvPr/>
          </p:nvCxnSpPr>
          <p:spPr>
            <a:xfrm>
              <a:off x="4732828" y="2008974"/>
              <a:ext cx="464103" cy="2195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>
              <a:stCxn id="41" idx="1"/>
              <a:endCxn id="39" idx="3"/>
            </p:cNvCxnSpPr>
            <p:nvPr/>
          </p:nvCxnSpPr>
          <p:spPr>
            <a:xfrm flipH="1" flipV="1">
              <a:off x="6168089" y="2228550"/>
              <a:ext cx="258641" cy="4943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>
              <a:stCxn id="42" idx="2"/>
              <a:endCxn id="39" idx="3"/>
            </p:cNvCxnSpPr>
            <p:nvPr/>
          </p:nvCxnSpPr>
          <p:spPr>
            <a:xfrm flipH="1">
              <a:off x="6168089" y="1969080"/>
              <a:ext cx="381049" cy="2594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8" name="组合 1057"/>
          <p:cNvGrpSpPr/>
          <p:nvPr/>
        </p:nvGrpSpPr>
        <p:grpSpPr>
          <a:xfrm>
            <a:off x="965744" y="1476043"/>
            <a:ext cx="2682699" cy="1547197"/>
            <a:chOff x="965744" y="1476043"/>
            <a:chExt cx="2682699" cy="1547197"/>
          </a:xfrm>
        </p:grpSpPr>
        <p:grpSp>
          <p:nvGrpSpPr>
            <p:cNvPr id="56" name="组合 55"/>
            <p:cNvGrpSpPr/>
            <p:nvPr/>
          </p:nvGrpSpPr>
          <p:grpSpPr>
            <a:xfrm>
              <a:off x="965744" y="1476043"/>
              <a:ext cx="2682699" cy="1547197"/>
              <a:chOff x="614869" y="1473180"/>
              <a:chExt cx="2682699" cy="1547197"/>
            </a:xfrm>
          </p:grpSpPr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88950" y="1969080"/>
                <a:ext cx="971158" cy="518939"/>
              </a:xfrm>
              <a:prstGeom prst="rect">
                <a:avLst/>
              </a:prstGeom>
            </p:spPr>
          </p:pic>
          <p:pic>
            <p:nvPicPr>
              <p:cNvPr id="25" name="图片 24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0021" y="1473180"/>
                <a:ext cx="712822" cy="467133"/>
              </a:xfrm>
              <a:prstGeom prst="rect">
                <a:avLst/>
              </a:prstGeom>
            </p:spPr>
          </p:pic>
          <p:pic>
            <p:nvPicPr>
              <p:cNvPr id="27" name="图片 26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4869" y="2553244"/>
                <a:ext cx="712822" cy="467133"/>
              </a:xfrm>
              <a:prstGeom prst="rect">
                <a:avLst/>
              </a:prstGeom>
            </p:spPr>
          </p:pic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84746" y="1501947"/>
                <a:ext cx="712822" cy="467133"/>
              </a:xfrm>
              <a:prstGeom prst="rect">
                <a:avLst/>
              </a:prstGeom>
            </p:spPr>
          </p:pic>
          <p:cxnSp>
            <p:nvCxnSpPr>
              <p:cNvPr id="29" name="直接连接符 28"/>
              <p:cNvCxnSpPr>
                <a:stCxn id="25" idx="2"/>
                <a:endCxn id="23" idx="1"/>
              </p:cNvCxnSpPr>
              <p:nvPr/>
            </p:nvCxnSpPr>
            <p:spPr>
              <a:xfrm>
                <a:off x="1066432" y="1940313"/>
                <a:ext cx="522518" cy="2882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>
                <a:stCxn id="27" idx="3"/>
                <a:endCxn id="23" idx="1"/>
              </p:cNvCxnSpPr>
              <p:nvPr/>
            </p:nvCxnSpPr>
            <p:spPr>
              <a:xfrm flipV="1">
                <a:off x="1327691" y="2228550"/>
                <a:ext cx="261259" cy="5582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>
                <a:stCxn id="28" idx="2"/>
                <a:endCxn id="23" idx="3"/>
              </p:cNvCxnSpPr>
              <p:nvPr/>
            </p:nvCxnSpPr>
            <p:spPr>
              <a:xfrm flipH="1">
                <a:off x="2560108" y="1969080"/>
                <a:ext cx="381049" cy="2594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57" name="文本框 1056"/>
            <p:cNvSpPr txBox="1"/>
            <p:nvPr/>
          </p:nvSpPr>
          <p:spPr>
            <a:xfrm>
              <a:off x="1809195" y="1515238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组网</a:t>
              </a:r>
              <a:endParaRPr lang="zh-CN" altLang="en-US" dirty="0"/>
            </a:p>
          </p:txBody>
        </p:sp>
      </p:grpSp>
      <p:grpSp>
        <p:nvGrpSpPr>
          <p:cNvPr id="1064" name="组合 1063"/>
          <p:cNvGrpSpPr/>
          <p:nvPr/>
        </p:nvGrpSpPr>
        <p:grpSpPr>
          <a:xfrm>
            <a:off x="2425404" y="2205860"/>
            <a:ext cx="3205456" cy="946965"/>
            <a:chOff x="2425404" y="2205860"/>
            <a:chExt cx="3205456" cy="946965"/>
          </a:xfrm>
        </p:grpSpPr>
        <p:grpSp>
          <p:nvGrpSpPr>
            <p:cNvPr id="1059" name="组合 1058"/>
            <p:cNvGrpSpPr/>
            <p:nvPr/>
          </p:nvGrpSpPr>
          <p:grpSpPr>
            <a:xfrm>
              <a:off x="2425404" y="2205860"/>
              <a:ext cx="3205456" cy="572129"/>
              <a:chOff x="2425404" y="2205860"/>
              <a:chExt cx="3205456" cy="572129"/>
            </a:xfrm>
          </p:grpSpPr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97145" y="2259740"/>
                <a:ext cx="763016" cy="518249"/>
              </a:xfrm>
              <a:prstGeom prst="rect">
                <a:avLst/>
              </a:prstGeom>
            </p:spPr>
          </p:pic>
          <p:cxnSp>
            <p:nvCxnSpPr>
              <p:cNvPr id="61" name="直接连接符 60"/>
              <p:cNvCxnSpPr>
                <a:stCxn id="23" idx="2"/>
                <a:endCxn id="59" idx="1"/>
              </p:cNvCxnSpPr>
              <p:nvPr/>
            </p:nvCxnSpPr>
            <p:spPr>
              <a:xfrm>
                <a:off x="2425404" y="2490882"/>
                <a:ext cx="1471741" cy="27983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>
                <a:stCxn id="59" idx="3"/>
                <a:endCxn id="39" idx="1"/>
              </p:cNvCxnSpPr>
              <p:nvPr/>
            </p:nvCxnSpPr>
            <p:spPr>
              <a:xfrm flipV="1">
                <a:off x="4660161" y="2205860"/>
                <a:ext cx="970699" cy="313005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文本框 101"/>
            <p:cNvSpPr txBox="1"/>
            <p:nvPr/>
          </p:nvSpPr>
          <p:spPr>
            <a:xfrm>
              <a:off x="3747982" y="2783493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网络互联</a:t>
              </a:r>
              <a:endParaRPr lang="zh-CN" altLang="en-US" dirty="0"/>
            </a:p>
          </p:txBody>
        </p:sp>
      </p:grpSp>
      <p:grpSp>
        <p:nvGrpSpPr>
          <p:cNvPr id="1065" name="组合 1064"/>
          <p:cNvGrpSpPr/>
          <p:nvPr/>
        </p:nvGrpSpPr>
        <p:grpSpPr>
          <a:xfrm>
            <a:off x="223284" y="1268760"/>
            <a:ext cx="8187069" cy="4018260"/>
            <a:chOff x="223284" y="1268760"/>
            <a:chExt cx="8187069" cy="4018260"/>
          </a:xfrm>
        </p:grpSpPr>
        <p:grpSp>
          <p:nvGrpSpPr>
            <p:cNvPr id="1060" name="组合 1059"/>
            <p:cNvGrpSpPr/>
            <p:nvPr/>
          </p:nvGrpSpPr>
          <p:grpSpPr>
            <a:xfrm>
              <a:off x="223284" y="1268760"/>
              <a:ext cx="8187069" cy="3748991"/>
              <a:chOff x="223284" y="1268760"/>
              <a:chExt cx="8187069" cy="3748991"/>
            </a:xfrm>
          </p:grpSpPr>
          <p:sp>
            <p:nvSpPr>
              <p:cNvPr id="5" name="云形 4"/>
              <p:cNvSpPr/>
              <p:nvPr/>
            </p:nvSpPr>
            <p:spPr>
              <a:xfrm>
                <a:off x="1105787" y="3316541"/>
                <a:ext cx="2732567" cy="1701210"/>
              </a:xfrm>
              <a:prstGeom prst="cloud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8" name="椭圆 1027"/>
              <p:cNvSpPr/>
              <p:nvPr/>
            </p:nvSpPr>
            <p:spPr>
              <a:xfrm>
                <a:off x="223284" y="1268760"/>
                <a:ext cx="8187069" cy="2112393"/>
              </a:xfrm>
              <a:prstGeom prst="ellipse">
                <a:avLst/>
              </a:prstGeom>
              <a:noFill/>
              <a:ln w="3175"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5" name="下箭头 1034"/>
              <p:cNvSpPr/>
              <p:nvPr/>
            </p:nvSpPr>
            <p:spPr>
              <a:xfrm rot="3026671">
                <a:off x="3037996" y="3059425"/>
                <a:ext cx="270927" cy="906261"/>
              </a:xfrm>
              <a:prstGeom prst="downArrow">
                <a:avLst>
                  <a:gd name="adj1" fmla="val 50000"/>
                  <a:gd name="adj2" fmla="val 140900"/>
                </a:avLst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045" name="组合 1044"/>
              <p:cNvGrpSpPr/>
              <p:nvPr/>
            </p:nvGrpSpPr>
            <p:grpSpPr>
              <a:xfrm>
                <a:off x="1721448" y="3734445"/>
                <a:ext cx="1492624" cy="1076307"/>
                <a:chOff x="-1086802" y="4025521"/>
                <a:chExt cx="1492624" cy="1076307"/>
              </a:xfrm>
            </p:grpSpPr>
            <p:sp>
              <p:nvSpPr>
                <p:cNvPr id="1036" name="椭圆 1035"/>
                <p:cNvSpPr/>
                <p:nvPr/>
              </p:nvSpPr>
              <p:spPr>
                <a:xfrm>
                  <a:off x="-1086802" y="4025521"/>
                  <a:ext cx="361507" cy="361507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>
                  <a:off x="44315" y="4186431"/>
                  <a:ext cx="361507" cy="361507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>
                  <a:off x="-591435" y="4740321"/>
                  <a:ext cx="361507" cy="361507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038" name="直接连接符 1037"/>
                <p:cNvCxnSpPr>
                  <a:stCxn id="1036" idx="6"/>
                  <a:endCxn id="77" idx="2"/>
                </p:cNvCxnSpPr>
                <p:nvPr/>
              </p:nvCxnSpPr>
              <p:spPr>
                <a:xfrm>
                  <a:off x="-725295" y="4206275"/>
                  <a:ext cx="769610" cy="16091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0" name="直接连接符 1039"/>
                <p:cNvCxnSpPr>
                  <a:stCxn id="1036" idx="4"/>
                  <a:endCxn id="78" idx="1"/>
                </p:cNvCxnSpPr>
                <p:nvPr/>
              </p:nvCxnSpPr>
              <p:spPr>
                <a:xfrm>
                  <a:off x="-906048" y="4387028"/>
                  <a:ext cx="367554" cy="406234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2" name="直接连接符 1041"/>
                <p:cNvCxnSpPr>
                  <a:stCxn id="77" idx="3"/>
                  <a:endCxn id="78" idx="7"/>
                </p:cNvCxnSpPr>
                <p:nvPr/>
              </p:nvCxnSpPr>
              <p:spPr>
                <a:xfrm flipH="1">
                  <a:off x="-282869" y="4494997"/>
                  <a:ext cx="380125" cy="29826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061" name="文本框 1060"/>
            <p:cNvSpPr txBox="1"/>
            <p:nvPr/>
          </p:nvSpPr>
          <p:spPr>
            <a:xfrm>
              <a:off x="613317" y="4917688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自治域系统</a:t>
              </a:r>
              <a:endParaRPr lang="zh-CN" altLang="en-US" dirty="0"/>
            </a:p>
          </p:txBody>
        </p:sp>
      </p:grpSp>
      <p:grpSp>
        <p:nvGrpSpPr>
          <p:cNvPr id="1066" name="组合 1065"/>
          <p:cNvGrpSpPr/>
          <p:nvPr/>
        </p:nvGrpSpPr>
        <p:grpSpPr>
          <a:xfrm>
            <a:off x="2472071" y="4167146"/>
            <a:ext cx="5448087" cy="1429062"/>
            <a:chOff x="2472071" y="4167146"/>
            <a:chExt cx="5448087" cy="1429062"/>
          </a:xfrm>
        </p:grpSpPr>
        <p:grpSp>
          <p:nvGrpSpPr>
            <p:cNvPr id="1062" name="组合 1061"/>
            <p:cNvGrpSpPr/>
            <p:nvPr/>
          </p:nvGrpSpPr>
          <p:grpSpPr>
            <a:xfrm>
              <a:off x="2472071" y="4167146"/>
              <a:ext cx="3750191" cy="1429062"/>
              <a:chOff x="2472071" y="4167146"/>
              <a:chExt cx="3750191" cy="1429062"/>
            </a:xfrm>
          </p:grpSpPr>
          <p:cxnSp>
            <p:nvCxnSpPr>
              <p:cNvPr id="12" name="直接连接符 11"/>
              <p:cNvCxnSpPr>
                <a:stCxn id="5" idx="0"/>
                <a:endCxn id="7" idx="2"/>
              </p:cNvCxnSpPr>
              <p:nvPr/>
            </p:nvCxnSpPr>
            <p:spPr>
              <a:xfrm>
                <a:off x="3836077" y="4167146"/>
                <a:ext cx="1028377" cy="85888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>
                <a:stCxn id="10" idx="3"/>
                <a:endCxn id="5" idx="1"/>
              </p:cNvCxnSpPr>
              <p:nvPr/>
            </p:nvCxnSpPr>
            <p:spPr>
              <a:xfrm flipH="1" flipV="1">
                <a:off x="2472071" y="5015940"/>
                <a:ext cx="724268" cy="570412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>
                <a:stCxn id="10" idx="3"/>
                <a:endCxn id="7" idx="1"/>
              </p:cNvCxnSpPr>
              <p:nvPr/>
            </p:nvCxnSpPr>
            <p:spPr>
              <a:xfrm flipV="1">
                <a:off x="3196339" y="5101828"/>
                <a:ext cx="3025923" cy="48452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>
                <a:stCxn id="6" idx="3"/>
                <a:endCxn id="5" idx="1"/>
              </p:cNvCxnSpPr>
              <p:nvPr/>
            </p:nvCxnSpPr>
            <p:spPr>
              <a:xfrm flipH="1" flipV="1">
                <a:off x="2472071" y="5015940"/>
                <a:ext cx="3472858" cy="58026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>
                <a:stCxn id="6" idx="3"/>
                <a:endCxn id="7" idx="1"/>
              </p:cNvCxnSpPr>
              <p:nvPr/>
            </p:nvCxnSpPr>
            <p:spPr>
              <a:xfrm flipV="1">
                <a:off x="5944929" y="5101828"/>
                <a:ext cx="277333" cy="49438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6" name="文本框 105"/>
            <p:cNvSpPr txBox="1"/>
            <p:nvPr/>
          </p:nvSpPr>
          <p:spPr>
            <a:xfrm>
              <a:off x="7042995" y="5116480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互联网</a:t>
              </a:r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686800" cy="2565913"/>
          </a:xfrm>
        </p:spPr>
        <p:txBody>
          <a:bodyPr/>
          <a:lstStyle/>
          <a:p>
            <a:r>
              <a:rPr lang="zh-CN" altLang="en-US" dirty="0"/>
              <a:t>网络中通常包含冗余链路，形成图状网络，提升健壮性</a:t>
            </a:r>
            <a:endParaRPr lang="en-US" altLang="zh-CN" dirty="0"/>
          </a:p>
          <a:p>
            <a:pPr lvl="1"/>
            <a:r>
              <a:rPr lang="zh-CN" altLang="en-US" dirty="0"/>
              <a:t>如果直接转发，会形成环路</a:t>
            </a:r>
            <a:endParaRPr lang="en-US" altLang="zh-CN" dirty="0"/>
          </a:p>
          <a:p>
            <a:pPr lvl="1"/>
            <a:r>
              <a:rPr lang="zh-CN" altLang="en-US" dirty="0"/>
              <a:t>使用最小生成树</a:t>
            </a:r>
            <a:r>
              <a:rPr lang="en-US" altLang="zh-CN" dirty="0"/>
              <a:t>(Minimum Spanning Tree)</a:t>
            </a:r>
            <a:r>
              <a:rPr lang="zh-CN" altLang="en-US" dirty="0"/>
              <a:t>算法，计算生成对应的最小代价的树状转发拓扑</a:t>
            </a:r>
            <a:endParaRPr lang="en-US" altLang="zh-CN" dirty="0"/>
          </a:p>
          <a:p>
            <a:pPr lvl="1"/>
            <a:r>
              <a:rPr lang="zh-CN" altLang="en-US" dirty="0"/>
              <a:t>每个交换机节点保存到所有其他节点</a:t>
            </a:r>
            <a:r>
              <a:rPr lang="en-US" altLang="zh-CN" dirty="0"/>
              <a:t>(MAC</a:t>
            </a:r>
            <a:r>
              <a:rPr lang="zh-CN" altLang="en-US" dirty="0"/>
              <a:t>地址</a:t>
            </a:r>
            <a:r>
              <a:rPr lang="en-US" altLang="zh-CN" dirty="0"/>
              <a:t>)</a:t>
            </a:r>
            <a:r>
              <a:rPr lang="zh-CN" altLang="en-US" dirty="0"/>
              <a:t>的转出端口映射关系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685799" y="4083628"/>
            <a:ext cx="2219146" cy="2295188"/>
            <a:chOff x="841829" y="3150870"/>
            <a:chExt cx="2842435" cy="2957782"/>
          </a:xfrm>
        </p:grpSpPr>
        <p:sp>
          <p:nvSpPr>
            <p:cNvPr id="6" name="矩形 5"/>
            <p:cNvSpPr/>
            <p:nvPr/>
          </p:nvSpPr>
          <p:spPr>
            <a:xfrm>
              <a:off x="1913943" y="3150870"/>
              <a:ext cx="574158" cy="393405"/>
            </a:xfrm>
            <a:prstGeom prst="rect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S5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856012" y="3601758"/>
              <a:ext cx="574158" cy="393405"/>
            </a:xfrm>
            <a:prstGeom prst="rect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S3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110106" y="4077152"/>
              <a:ext cx="574158" cy="393405"/>
            </a:xfrm>
            <a:prstGeom prst="rect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S7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841829" y="4815332"/>
              <a:ext cx="574158" cy="393405"/>
            </a:xfrm>
            <a:prstGeom prst="rect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S2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933436" y="4556438"/>
              <a:ext cx="574158" cy="393405"/>
            </a:xfrm>
            <a:prstGeom prst="rect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S1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391175" y="5715247"/>
              <a:ext cx="574158" cy="393405"/>
            </a:xfrm>
            <a:prstGeom prst="rect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S6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2925807" y="5712181"/>
              <a:ext cx="574158" cy="393405"/>
            </a:xfrm>
            <a:prstGeom prst="rect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S4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3" name="直接连接符 12"/>
            <p:cNvCxnSpPr>
              <a:stCxn id="7" idx="3"/>
              <a:endCxn id="6" idx="1"/>
            </p:cNvCxnSpPr>
            <p:nvPr/>
          </p:nvCxnSpPr>
          <p:spPr>
            <a:xfrm flipV="1">
              <a:off x="1430170" y="3347573"/>
              <a:ext cx="483773" cy="450888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14" name="直接连接符 13"/>
            <p:cNvCxnSpPr>
              <a:stCxn id="7" idx="2"/>
              <a:endCxn id="9" idx="0"/>
            </p:cNvCxnSpPr>
            <p:nvPr/>
          </p:nvCxnSpPr>
          <p:spPr>
            <a:xfrm flipH="1">
              <a:off x="1128908" y="3995163"/>
              <a:ext cx="14183" cy="820169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15" name="直接连接符 14"/>
            <p:cNvCxnSpPr>
              <a:stCxn id="6" idx="2"/>
              <a:endCxn id="10" idx="0"/>
            </p:cNvCxnSpPr>
            <p:nvPr/>
          </p:nvCxnSpPr>
          <p:spPr>
            <a:xfrm>
              <a:off x="2201022" y="3544275"/>
              <a:ext cx="19493" cy="1012163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16" name="直接连接符 15"/>
            <p:cNvCxnSpPr>
              <a:stCxn id="10" idx="1"/>
              <a:endCxn id="9" idx="3"/>
            </p:cNvCxnSpPr>
            <p:nvPr/>
          </p:nvCxnSpPr>
          <p:spPr>
            <a:xfrm flipH="1">
              <a:off x="1415987" y="4753141"/>
              <a:ext cx="517449" cy="258894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17" name="直接连接符 16"/>
            <p:cNvCxnSpPr>
              <a:stCxn id="10" idx="2"/>
              <a:endCxn id="11" idx="0"/>
            </p:cNvCxnSpPr>
            <p:nvPr/>
          </p:nvCxnSpPr>
          <p:spPr>
            <a:xfrm flipH="1">
              <a:off x="1678254" y="4949843"/>
              <a:ext cx="542261" cy="765404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18" name="直接连接符 17"/>
            <p:cNvCxnSpPr>
              <a:stCxn id="10" idx="3"/>
              <a:endCxn id="12" idx="0"/>
            </p:cNvCxnSpPr>
            <p:nvPr/>
          </p:nvCxnSpPr>
          <p:spPr>
            <a:xfrm>
              <a:off x="2507594" y="4753141"/>
              <a:ext cx="705292" cy="959040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19" name="直接连接符 18"/>
            <p:cNvCxnSpPr>
              <a:stCxn id="10" idx="0"/>
              <a:endCxn id="8" idx="1"/>
            </p:cNvCxnSpPr>
            <p:nvPr/>
          </p:nvCxnSpPr>
          <p:spPr>
            <a:xfrm flipV="1">
              <a:off x="2220515" y="4273855"/>
              <a:ext cx="889591" cy="282583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20" name="直接连接符 19"/>
            <p:cNvCxnSpPr>
              <a:stCxn id="11" idx="3"/>
              <a:endCxn id="12" idx="1"/>
            </p:cNvCxnSpPr>
            <p:nvPr/>
          </p:nvCxnSpPr>
          <p:spPr>
            <a:xfrm flipV="1">
              <a:off x="1965333" y="5908884"/>
              <a:ext cx="960474" cy="3066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21" name="直接连接符 20"/>
            <p:cNvCxnSpPr>
              <a:stCxn id="6" idx="3"/>
              <a:endCxn id="8" idx="0"/>
            </p:cNvCxnSpPr>
            <p:nvPr/>
          </p:nvCxnSpPr>
          <p:spPr>
            <a:xfrm>
              <a:off x="2488101" y="3347573"/>
              <a:ext cx="909084" cy="729579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</p:grpSp>
      <p:sp>
        <p:nvSpPr>
          <p:cNvPr id="22" name="右箭头 21"/>
          <p:cNvSpPr/>
          <p:nvPr/>
        </p:nvSpPr>
        <p:spPr>
          <a:xfrm>
            <a:off x="3362879" y="5205186"/>
            <a:ext cx="456557" cy="30763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4290079" y="4081249"/>
            <a:ext cx="2219146" cy="2295188"/>
            <a:chOff x="5374841" y="3150870"/>
            <a:chExt cx="2842435" cy="2957782"/>
          </a:xfrm>
        </p:grpSpPr>
        <p:sp>
          <p:nvSpPr>
            <p:cNvPr id="24" name="矩形 23"/>
            <p:cNvSpPr/>
            <p:nvPr/>
          </p:nvSpPr>
          <p:spPr>
            <a:xfrm>
              <a:off x="6446955" y="3150870"/>
              <a:ext cx="574158" cy="39340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S5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5389024" y="3601758"/>
              <a:ext cx="574158" cy="39340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S3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7643118" y="4077152"/>
              <a:ext cx="574158" cy="39340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S7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5374841" y="4815332"/>
              <a:ext cx="574158" cy="39340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S2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6466448" y="4556438"/>
              <a:ext cx="574158" cy="39340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S1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5924187" y="5715247"/>
              <a:ext cx="574158" cy="39340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S6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7458819" y="5712181"/>
              <a:ext cx="574158" cy="39340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S4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1" name="直接连接符 30"/>
            <p:cNvCxnSpPr>
              <a:stCxn id="25" idx="2"/>
              <a:endCxn id="27" idx="0"/>
            </p:cNvCxnSpPr>
            <p:nvPr/>
          </p:nvCxnSpPr>
          <p:spPr>
            <a:xfrm flipH="1">
              <a:off x="5661920" y="3995163"/>
              <a:ext cx="14183" cy="820169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32" name="直接连接符 31"/>
            <p:cNvCxnSpPr>
              <a:stCxn id="24" idx="2"/>
              <a:endCxn id="28" idx="0"/>
            </p:cNvCxnSpPr>
            <p:nvPr/>
          </p:nvCxnSpPr>
          <p:spPr>
            <a:xfrm>
              <a:off x="6734034" y="3544275"/>
              <a:ext cx="19493" cy="1012163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33" name="直接连接符 32"/>
            <p:cNvCxnSpPr>
              <a:stCxn id="28" idx="1"/>
              <a:endCxn id="27" idx="3"/>
            </p:cNvCxnSpPr>
            <p:nvPr/>
          </p:nvCxnSpPr>
          <p:spPr>
            <a:xfrm flipH="1">
              <a:off x="5948999" y="4753141"/>
              <a:ext cx="517449" cy="258894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34" name="直接连接符 33"/>
            <p:cNvCxnSpPr>
              <a:stCxn id="28" idx="2"/>
              <a:endCxn id="29" idx="0"/>
            </p:cNvCxnSpPr>
            <p:nvPr/>
          </p:nvCxnSpPr>
          <p:spPr>
            <a:xfrm flipH="1">
              <a:off x="6211266" y="4949843"/>
              <a:ext cx="542261" cy="765404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35" name="直接连接符 34"/>
            <p:cNvCxnSpPr>
              <a:stCxn id="28" idx="3"/>
              <a:endCxn id="30" idx="0"/>
            </p:cNvCxnSpPr>
            <p:nvPr/>
          </p:nvCxnSpPr>
          <p:spPr>
            <a:xfrm>
              <a:off x="7040606" y="4753141"/>
              <a:ext cx="705292" cy="959040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36" name="直接连接符 35"/>
            <p:cNvCxnSpPr>
              <a:stCxn id="28" idx="0"/>
              <a:endCxn id="26" idx="1"/>
            </p:cNvCxnSpPr>
            <p:nvPr/>
          </p:nvCxnSpPr>
          <p:spPr>
            <a:xfrm flipV="1">
              <a:off x="6753527" y="4273855"/>
              <a:ext cx="889591" cy="282583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</p:grpSp>
      <p:sp>
        <p:nvSpPr>
          <p:cNvPr id="37" name="文本框 36"/>
          <p:cNvSpPr txBox="1"/>
          <p:nvPr/>
        </p:nvSpPr>
        <p:spPr>
          <a:xfrm>
            <a:off x="4768794" y="50315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5025982" y="47262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9" name="文本框 38"/>
          <p:cNvSpPr txBox="1"/>
          <p:nvPr/>
        </p:nvSpPr>
        <p:spPr>
          <a:xfrm>
            <a:off x="5552676" y="48026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0" name="文本框 39"/>
          <p:cNvSpPr txBox="1"/>
          <p:nvPr/>
        </p:nvSpPr>
        <p:spPr>
          <a:xfrm>
            <a:off x="5698034" y="5216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5194838" y="552548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graphicFrame>
        <p:nvGraphicFramePr>
          <p:cNvPr id="42" name="表格 41"/>
          <p:cNvGraphicFramePr>
            <a:graphicFrameLocks noGrp="1"/>
          </p:cNvGraphicFramePr>
          <p:nvPr/>
        </p:nvGraphicFramePr>
        <p:xfrm>
          <a:off x="6965754" y="4440948"/>
          <a:ext cx="1693951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6303"/>
                <a:gridCol w="737648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Dest</a:t>
                      </a:r>
                      <a:r>
                        <a:rPr lang="en-US" altLang="zh-CN" sz="1400" dirty="0"/>
                        <a:t> </a:t>
                      </a:r>
                      <a:r>
                        <a:rPr lang="en-US" altLang="zh-CN" sz="1400" dirty="0" err="1"/>
                        <a:t>Addr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Port</a:t>
                      </a:r>
                      <a:endParaRPr lang="zh-CN" altLang="en-US" sz="1400" dirty="0"/>
                    </a:p>
                  </a:txBody>
                  <a:tcPr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Helvetica" panose="020B0604020202020204" pitchFamily="34" charset="0"/>
                        </a:rPr>
                        <a:t>S2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Helvetica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Helvetica" panose="020B0604020202020204" pitchFamily="34" charset="0"/>
                        </a:rPr>
                        <a:t>S3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Helvetica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Helvetica" panose="020B0604020202020204" pitchFamily="34" charset="0"/>
                        </a:rPr>
                        <a:t>S4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Helvetica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</a:t>
                      </a:r>
                      <a:endParaRPr lang="zh-CN" altLang="en-US" sz="1400" dirty="0"/>
                    </a:p>
                  </a:txBody>
                  <a:tcPr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Helvetica" panose="020B0604020202020204" pitchFamily="34" charset="0"/>
                        </a:rPr>
                        <a:t>S5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Helvetica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endParaRPr lang="zh-CN" altLang="en-US" sz="1400" dirty="0"/>
                    </a:p>
                  </a:txBody>
                  <a:tcPr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Helvetica" panose="020B0604020202020204" pitchFamily="34" charset="0"/>
                        </a:rPr>
                        <a:t>S6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Helvetica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</a:t>
                      </a:r>
                      <a:endParaRPr lang="zh-CN" altLang="en-US" sz="1400" dirty="0"/>
                    </a:p>
                  </a:txBody>
                  <a:tcPr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Helvetica" panose="020B0604020202020204" pitchFamily="34" charset="0"/>
                        </a:rPr>
                        <a:t>S7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Helvetica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</a:t>
                      </a:r>
                      <a:endParaRPr lang="zh-CN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3" name="文本框 42"/>
          <p:cNvSpPr txBox="1"/>
          <p:nvPr/>
        </p:nvSpPr>
        <p:spPr>
          <a:xfrm>
            <a:off x="6567150" y="4017193"/>
            <a:ext cx="2448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S1</a:t>
            </a:r>
            <a:r>
              <a:rPr lang="zh-CN" altLang="en-US" dirty="0"/>
              <a:t>的转发数据库 </a:t>
            </a:r>
            <a:r>
              <a:rPr lang="en-US" altLang="zh-CN" dirty="0"/>
              <a:t>(</a:t>
            </a:r>
            <a:r>
              <a:rPr lang="zh-CN" altLang="en-US" dirty="0"/>
              <a:t>示例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网络互联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2046367"/>
          </a:xfrm>
        </p:spPr>
        <p:txBody>
          <a:bodyPr/>
          <a:lstStyle/>
          <a:p>
            <a:r>
              <a:rPr lang="zh-CN" altLang="en-US" dirty="0"/>
              <a:t>网络路由用于连接不同的网络</a:t>
            </a:r>
            <a:endParaRPr lang="en-US" altLang="zh-CN" dirty="0"/>
          </a:p>
          <a:p>
            <a:pPr lvl="1"/>
            <a:r>
              <a:rPr lang="zh-CN" altLang="en-US" dirty="0"/>
              <a:t>网络路由算法确定一个从源网络到目的网络的路径</a:t>
            </a:r>
            <a:endParaRPr lang="en-US" altLang="zh-CN" dirty="0"/>
          </a:p>
          <a:p>
            <a:pPr lvl="1"/>
            <a:r>
              <a:rPr lang="zh-CN" altLang="en-US" dirty="0"/>
              <a:t>相比于交换机组网中的按</a:t>
            </a:r>
            <a:r>
              <a:rPr lang="en-US" altLang="zh-CN" dirty="0"/>
              <a:t>MAC</a:t>
            </a:r>
            <a:r>
              <a:rPr lang="zh-CN" altLang="en-US" dirty="0"/>
              <a:t>地址查询转发，基于</a:t>
            </a:r>
            <a:r>
              <a:rPr lang="en-US" altLang="zh-CN" dirty="0"/>
              <a:t>IP</a:t>
            </a:r>
            <a:r>
              <a:rPr lang="zh-CN" altLang="en-US" dirty="0"/>
              <a:t>地址的路由</a:t>
            </a:r>
            <a:r>
              <a:rPr lang="en-US" altLang="zh-CN" dirty="0"/>
              <a:t>/</a:t>
            </a:r>
            <a:r>
              <a:rPr lang="zh-CN" altLang="en-US" dirty="0"/>
              <a:t>转发机制具有更好的聚合性，能够适用于互联网规模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635460" y="4006917"/>
          <a:ext cx="275371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607"/>
                <a:gridCol w="717509"/>
                <a:gridCol w="986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600" dirty="0" err="1"/>
                        <a:t>Dest</a:t>
                      </a:r>
                      <a:r>
                        <a:rPr lang="en-US" altLang="zh-CN" sz="1600" dirty="0"/>
                        <a:t> Net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Cost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Next</a:t>
                      </a:r>
                      <a:r>
                        <a:rPr lang="en-US" altLang="zh-CN" sz="1600" baseline="0" dirty="0"/>
                        <a:t> Hop</a:t>
                      </a:r>
                      <a:endParaRPr lang="zh-CN" altLang="en-US" sz="16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B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C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D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E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F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5" name="文本框 34"/>
          <p:cNvSpPr txBox="1"/>
          <p:nvPr/>
        </p:nvSpPr>
        <p:spPr>
          <a:xfrm>
            <a:off x="6880057" y="4366125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           A</a:t>
            </a:r>
            <a:endParaRPr lang="zh-CN" altLang="en-US" dirty="0"/>
          </a:p>
        </p:txBody>
      </p:sp>
      <p:sp>
        <p:nvSpPr>
          <p:cNvPr id="36" name="文本框 35"/>
          <p:cNvSpPr txBox="1"/>
          <p:nvPr/>
        </p:nvSpPr>
        <p:spPr>
          <a:xfrm>
            <a:off x="6880057" y="4739389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           E</a:t>
            </a:r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6880057" y="5112653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           E</a:t>
            </a:r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6880057" y="5485917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           E</a:t>
            </a:r>
            <a:endParaRPr lang="zh-CN" altLang="en-US" dirty="0"/>
          </a:p>
        </p:txBody>
      </p:sp>
      <p:sp>
        <p:nvSpPr>
          <p:cNvPr id="39" name="文本框 38"/>
          <p:cNvSpPr txBox="1"/>
          <p:nvPr/>
        </p:nvSpPr>
        <p:spPr>
          <a:xfrm>
            <a:off x="6880057" y="5859181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           E</a:t>
            </a:r>
            <a:endParaRPr lang="zh-CN" altLang="en-US" dirty="0"/>
          </a:p>
        </p:txBody>
      </p:sp>
      <p:sp>
        <p:nvSpPr>
          <p:cNvPr id="40" name="文本框 39"/>
          <p:cNvSpPr txBox="1"/>
          <p:nvPr/>
        </p:nvSpPr>
        <p:spPr>
          <a:xfrm>
            <a:off x="6880057" y="6232444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           E</a:t>
            </a:r>
            <a:endParaRPr lang="zh-CN" altLang="en-US" dirty="0"/>
          </a:p>
        </p:txBody>
      </p:sp>
      <p:grpSp>
        <p:nvGrpSpPr>
          <p:cNvPr id="59" name="组合 58"/>
          <p:cNvGrpSpPr/>
          <p:nvPr/>
        </p:nvGrpSpPr>
        <p:grpSpPr>
          <a:xfrm>
            <a:off x="461251" y="3541160"/>
            <a:ext cx="4110749" cy="2853534"/>
            <a:chOff x="258634" y="2854765"/>
            <a:chExt cx="5202933" cy="3850836"/>
          </a:xfrm>
        </p:grpSpPr>
        <p:sp>
          <p:nvSpPr>
            <p:cNvPr id="6" name="椭圆 5"/>
            <p:cNvSpPr/>
            <p:nvPr/>
          </p:nvSpPr>
          <p:spPr>
            <a:xfrm>
              <a:off x="2118405" y="3431598"/>
              <a:ext cx="595373" cy="66221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636895" y="2854765"/>
              <a:ext cx="4557726" cy="3850836"/>
              <a:chOff x="571325" y="1525175"/>
              <a:chExt cx="4557726" cy="3850836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571325" y="2197273"/>
                <a:ext cx="4557726" cy="3178738"/>
                <a:chOff x="5249691" y="2294625"/>
                <a:chExt cx="2827510" cy="1819765"/>
              </a:xfrm>
            </p:grpSpPr>
            <p:sp>
              <p:nvSpPr>
                <p:cNvPr id="11" name="椭圆 10"/>
                <p:cNvSpPr/>
                <p:nvPr/>
              </p:nvSpPr>
              <p:spPr>
                <a:xfrm>
                  <a:off x="6228272" y="2294625"/>
                  <a:ext cx="258792" cy="258793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</a:rPr>
                    <a:t>A</a:t>
                  </a:r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" name="椭圆 11"/>
                <p:cNvSpPr/>
                <p:nvPr/>
              </p:nvSpPr>
              <p:spPr>
                <a:xfrm>
                  <a:off x="5656053" y="2944481"/>
                  <a:ext cx="258792" cy="258793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</a:rPr>
                    <a:t>B</a:t>
                  </a:r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" name="椭圆 12"/>
                <p:cNvSpPr/>
                <p:nvPr/>
              </p:nvSpPr>
              <p:spPr>
                <a:xfrm>
                  <a:off x="6801929" y="2944481"/>
                  <a:ext cx="258792" cy="258793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</a:rPr>
                    <a:t>E</a:t>
                  </a:r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椭圆 13"/>
                <p:cNvSpPr/>
                <p:nvPr/>
              </p:nvSpPr>
              <p:spPr>
                <a:xfrm>
                  <a:off x="7818409" y="2944481"/>
                  <a:ext cx="258792" cy="258793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</a:rPr>
                    <a:t>F</a:t>
                  </a:r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椭圆 14"/>
                <p:cNvSpPr/>
                <p:nvPr/>
              </p:nvSpPr>
              <p:spPr>
                <a:xfrm>
                  <a:off x="5249691" y="3606744"/>
                  <a:ext cx="258792" cy="258793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</a:rPr>
                    <a:t>C</a:t>
                  </a:r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椭圆 15"/>
                <p:cNvSpPr/>
                <p:nvPr/>
              </p:nvSpPr>
              <p:spPr>
                <a:xfrm>
                  <a:off x="6357668" y="3623547"/>
                  <a:ext cx="258792" cy="258793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</a:rPr>
                    <a:t>D</a:t>
                  </a:r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7" name="直接连接符 16"/>
                <p:cNvCxnSpPr>
                  <a:stCxn id="11" idx="3"/>
                  <a:endCxn id="12" idx="7"/>
                </p:cNvCxnSpPr>
                <p:nvPr/>
              </p:nvCxnSpPr>
              <p:spPr>
                <a:xfrm flipH="1">
                  <a:off x="5876946" y="2515519"/>
                  <a:ext cx="389225" cy="46686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接连接符 17"/>
                <p:cNvCxnSpPr>
                  <a:stCxn id="12" idx="3"/>
                  <a:endCxn id="15" idx="0"/>
                </p:cNvCxnSpPr>
                <p:nvPr/>
              </p:nvCxnSpPr>
              <p:spPr>
                <a:xfrm flipH="1">
                  <a:off x="5379087" y="3165375"/>
                  <a:ext cx="314865" cy="44136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/>
                <p:cNvCxnSpPr>
                  <a:stCxn id="15" idx="6"/>
                  <a:endCxn id="16" idx="2"/>
                </p:cNvCxnSpPr>
                <p:nvPr/>
              </p:nvCxnSpPr>
              <p:spPr>
                <a:xfrm>
                  <a:off x="5508483" y="3736141"/>
                  <a:ext cx="849185" cy="1680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>
                  <a:stCxn id="16" idx="7"/>
                  <a:endCxn id="13" idx="3"/>
                </p:cNvCxnSpPr>
                <p:nvPr/>
              </p:nvCxnSpPr>
              <p:spPr>
                <a:xfrm flipV="1">
                  <a:off x="6578561" y="3165375"/>
                  <a:ext cx="261267" cy="49607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>
                  <a:stCxn id="12" idx="6"/>
                  <a:endCxn id="13" idx="2"/>
                </p:cNvCxnSpPr>
                <p:nvPr/>
              </p:nvCxnSpPr>
              <p:spPr>
                <a:xfrm>
                  <a:off x="5914845" y="3073878"/>
                  <a:ext cx="887084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>
                  <a:stCxn id="11" idx="5"/>
                  <a:endCxn id="13" idx="1"/>
                </p:cNvCxnSpPr>
                <p:nvPr/>
              </p:nvCxnSpPr>
              <p:spPr>
                <a:xfrm>
                  <a:off x="6449165" y="2515519"/>
                  <a:ext cx="390663" cy="46686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连接符 22"/>
                <p:cNvCxnSpPr>
                  <a:stCxn id="13" idx="6"/>
                  <a:endCxn id="14" idx="2"/>
                </p:cNvCxnSpPr>
                <p:nvPr/>
              </p:nvCxnSpPr>
              <p:spPr>
                <a:xfrm>
                  <a:off x="7060721" y="3073878"/>
                  <a:ext cx="75768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>
                  <a:stCxn id="11" idx="6"/>
                  <a:endCxn id="14" idx="1"/>
                </p:cNvCxnSpPr>
                <p:nvPr/>
              </p:nvCxnSpPr>
              <p:spPr>
                <a:xfrm>
                  <a:off x="6487064" y="2424022"/>
                  <a:ext cx="1369244" cy="55835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文本框 24"/>
                <p:cNvSpPr txBox="1"/>
                <p:nvPr/>
              </p:nvSpPr>
              <p:spPr>
                <a:xfrm>
                  <a:off x="5348138" y="3139580"/>
                  <a:ext cx="236987" cy="211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4</a:t>
                  </a:r>
                  <a:endParaRPr lang="zh-CN" altLang="en-US" dirty="0"/>
                </a:p>
              </p:txBody>
            </p:sp>
            <p:sp>
              <p:nvSpPr>
                <p:cNvPr id="26" name="文本框 25"/>
                <p:cNvSpPr txBox="1"/>
                <p:nvPr/>
              </p:nvSpPr>
              <p:spPr>
                <a:xfrm>
                  <a:off x="5769872" y="3745058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9</a:t>
                  </a:r>
                  <a:endParaRPr lang="zh-CN" altLang="en-US" dirty="0"/>
                </a:p>
              </p:txBody>
            </p:sp>
            <p:sp>
              <p:nvSpPr>
                <p:cNvPr id="27" name="文本框 26"/>
                <p:cNvSpPr txBox="1"/>
                <p:nvPr/>
              </p:nvSpPr>
              <p:spPr>
                <a:xfrm>
                  <a:off x="6751727" y="3318173"/>
                  <a:ext cx="206744" cy="211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1</a:t>
                  </a:r>
                  <a:endParaRPr lang="zh-CN" altLang="en-US" dirty="0"/>
                </a:p>
              </p:txBody>
            </p:sp>
            <p:sp>
              <p:nvSpPr>
                <p:cNvPr id="28" name="文本框 27"/>
                <p:cNvSpPr txBox="1"/>
                <p:nvPr/>
              </p:nvSpPr>
              <p:spPr>
                <a:xfrm>
                  <a:off x="6056701" y="3085358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1</a:t>
                  </a:r>
                  <a:endParaRPr lang="zh-CN" altLang="en-US" dirty="0"/>
                </a:p>
              </p:txBody>
            </p:sp>
            <p:sp>
              <p:nvSpPr>
                <p:cNvPr id="29" name="文本框 28"/>
                <p:cNvSpPr txBox="1"/>
                <p:nvPr/>
              </p:nvSpPr>
              <p:spPr>
                <a:xfrm>
                  <a:off x="5867100" y="2573190"/>
                  <a:ext cx="192499" cy="2186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3</a:t>
                  </a:r>
                  <a:endParaRPr lang="zh-CN" altLang="en-US" dirty="0"/>
                </a:p>
              </p:txBody>
            </p:sp>
            <p:sp>
              <p:nvSpPr>
                <p:cNvPr id="30" name="文本框 29"/>
                <p:cNvSpPr txBox="1"/>
                <p:nvPr/>
              </p:nvSpPr>
              <p:spPr>
                <a:xfrm>
                  <a:off x="6686342" y="2645302"/>
                  <a:ext cx="172467" cy="211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1</a:t>
                  </a:r>
                  <a:endParaRPr lang="zh-CN" altLang="en-US" dirty="0"/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7319513" y="3037913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2</a:t>
                  </a:r>
                  <a:endParaRPr lang="zh-CN" altLang="en-US" dirty="0"/>
                </a:p>
              </p:txBody>
            </p:sp>
            <p:sp>
              <p:nvSpPr>
                <p:cNvPr id="32" name="文本框 31"/>
                <p:cNvSpPr txBox="1"/>
                <p:nvPr/>
              </p:nvSpPr>
              <p:spPr>
                <a:xfrm>
                  <a:off x="7259062" y="2508118"/>
                  <a:ext cx="195123" cy="211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6</a:t>
                  </a:r>
                  <a:endParaRPr lang="zh-CN" altLang="en-US" dirty="0"/>
                </a:p>
              </p:txBody>
            </p:sp>
          </p:grpSp>
          <p:cxnSp>
            <p:nvCxnSpPr>
              <p:cNvPr id="9" name="直接箭头连接符 8"/>
              <p:cNvCxnSpPr/>
              <p:nvPr/>
            </p:nvCxnSpPr>
            <p:spPr>
              <a:xfrm>
                <a:off x="1896110" y="1828800"/>
                <a:ext cx="313701" cy="273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文本框 9"/>
              <p:cNvSpPr txBox="1"/>
              <p:nvPr/>
            </p:nvSpPr>
            <p:spPr>
              <a:xfrm>
                <a:off x="842958" y="1525175"/>
                <a:ext cx="1043019" cy="4984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Source</a:t>
                </a:r>
                <a:endParaRPr lang="zh-CN" altLang="en-US" dirty="0"/>
              </a:p>
            </p:txBody>
          </p:sp>
        </p:grpSp>
        <p:sp>
          <p:nvSpPr>
            <p:cNvPr id="33" name="文本框 32"/>
            <p:cNvSpPr txBox="1"/>
            <p:nvPr/>
          </p:nvSpPr>
          <p:spPr>
            <a:xfrm>
              <a:off x="2654955" y="318682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34" name="直接箭头连接符 33"/>
            <p:cNvCxnSpPr/>
            <p:nvPr/>
          </p:nvCxnSpPr>
          <p:spPr>
            <a:xfrm>
              <a:off x="2517562" y="4071396"/>
              <a:ext cx="511445" cy="719403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椭圆 40"/>
            <p:cNvSpPr/>
            <p:nvPr/>
          </p:nvSpPr>
          <p:spPr>
            <a:xfrm>
              <a:off x="3036934" y="4572655"/>
              <a:ext cx="595373" cy="66221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3501111" y="509295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43" name="直接箭头连接符 42"/>
            <p:cNvCxnSpPr/>
            <p:nvPr/>
          </p:nvCxnSpPr>
          <p:spPr>
            <a:xfrm flipH="1">
              <a:off x="1850075" y="4768278"/>
              <a:ext cx="1035138" cy="2588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椭圆 43"/>
            <p:cNvSpPr/>
            <p:nvPr/>
          </p:nvSpPr>
          <p:spPr>
            <a:xfrm>
              <a:off x="1192773" y="4547128"/>
              <a:ext cx="595373" cy="66221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074830" y="428067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2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46" name="直接箭头连接符 45"/>
            <p:cNvCxnSpPr/>
            <p:nvPr/>
          </p:nvCxnSpPr>
          <p:spPr>
            <a:xfrm>
              <a:off x="3664436" y="4784541"/>
              <a:ext cx="1035138" cy="2588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椭圆 46"/>
            <p:cNvSpPr/>
            <p:nvPr/>
          </p:nvSpPr>
          <p:spPr>
            <a:xfrm>
              <a:off x="4680888" y="4556943"/>
              <a:ext cx="595373" cy="66221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5159881" y="511180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3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>
              <a:off x="2316584" y="5718594"/>
              <a:ext cx="595373" cy="68254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2780761" y="623889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2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530218" y="5703607"/>
              <a:ext cx="595373" cy="68254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258634" y="611559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6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53" name="直接箭头连接符 52"/>
            <p:cNvCxnSpPr>
              <a:endCxn id="49" idx="6"/>
            </p:cNvCxnSpPr>
            <p:nvPr/>
          </p:nvCxnSpPr>
          <p:spPr>
            <a:xfrm flipH="1">
              <a:off x="2911957" y="5273905"/>
              <a:ext cx="367847" cy="785963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/>
            <p:nvPr/>
          </p:nvCxnSpPr>
          <p:spPr>
            <a:xfrm flipH="1">
              <a:off x="716505" y="4983597"/>
              <a:ext cx="479832" cy="704775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文本框 59"/>
          <p:cNvSpPr txBox="1"/>
          <p:nvPr/>
        </p:nvSpPr>
        <p:spPr>
          <a:xfrm>
            <a:off x="5635583" y="3536302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zh-CN" altLang="en-US" dirty="0"/>
              <a:t>的转发表</a:t>
            </a:r>
            <a:endParaRPr lang="zh-CN" altLang="en-US" dirty="0"/>
          </a:p>
        </p:txBody>
      </p:sp>
      <p:sp>
        <p:nvSpPr>
          <p:cNvPr id="61" name="右箭头 60"/>
          <p:cNvSpPr/>
          <p:nvPr/>
        </p:nvSpPr>
        <p:spPr>
          <a:xfrm>
            <a:off x="4769427" y="4814145"/>
            <a:ext cx="457200" cy="29457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数据传输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686800" cy="2201989"/>
          </a:xfrm>
        </p:spPr>
        <p:txBody>
          <a:bodyPr/>
          <a:lstStyle/>
          <a:p>
            <a:r>
              <a:rPr lang="zh-CN" altLang="en-US" dirty="0"/>
              <a:t>网络互联提供了端到端的数据通路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无连接的、尽最大努力交付</a:t>
            </a:r>
            <a:r>
              <a:rPr lang="zh-CN" altLang="en-US" dirty="0"/>
              <a:t>（</a:t>
            </a:r>
            <a:r>
              <a:rPr lang="en-US" altLang="zh-CN" dirty="0"/>
              <a:t>best-effort delivery</a:t>
            </a:r>
            <a:r>
              <a:rPr lang="zh-CN" altLang="en-US" dirty="0"/>
              <a:t>）的数据报服务</a:t>
            </a:r>
            <a:endParaRPr lang="zh-CN" altLang="en-US" dirty="0"/>
          </a:p>
          <a:p>
            <a:r>
              <a:rPr lang="zh-CN" altLang="en-US" dirty="0"/>
              <a:t>数据传输</a:t>
            </a:r>
            <a:endParaRPr lang="en-US" altLang="zh-CN" dirty="0"/>
          </a:p>
          <a:p>
            <a:pPr lvl="1"/>
            <a:r>
              <a:rPr lang="zh-CN" altLang="en-US" dirty="0"/>
              <a:t>传输控制机制：</a:t>
            </a:r>
            <a:r>
              <a:rPr lang="zh-CN" altLang="en-US" dirty="0">
                <a:solidFill>
                  <a:srgbClr val="0070C0"/>
                </a:solidFill>
              </a:rPr>
              <a:t>可靠、高效、公平</a:t>
            </a:r>
            <a:r>
              <a:rPr lang="zh-CN" altLang="en-US" dirty="0"/>
              <a:t>地将数据沿路径从一端传到另一端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1575533" y="4578183"/>
            <a:ext cx="6103884" cy="1555531"/>
            <a:chOff x="1388678" y="4649849"/>
            <a:chExt cx="6103884" cy="1555531"/>
          </a:xfrm>
        </p:grpSpPr>
        <p:sp>
          <p:nvSpPr>
            <p:cNvPr id="5" name="云形 4"/>
            <p:cNvSpPr/>
            <p:nvPr/>
          </p:nvSpPr>
          <p:spPr>
            <a:xfrm>
              <a:off x="2942896" y="4649849"/>
              <a:ext cx="2995448" cy="1555531"/>
            </a:xfrm>
            <a:prstGeom prst="clou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内容占位符 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88678" y="5105397"/>
              <a:ext cx="983374" cy="644433"/>
            </a:xfrm>
            <a:prstGeom prst="rect">
              <a:avLst/>
            </a:prstGeom>
          </p:spPr>
        </p:pic>
        <p:pic>
          <p:nvPicPr>
            <p:cNvPr id="7" name="内容占位符 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9188" y="5098583"/>
              <a:ext cx="983374" cy="644433"/>
            </a:xfrm>
            <a:prstGeom prst="rect">
              <a:avLst/>
            </a:prstGeom>
          </p:spPr>
        </p:pic>
        <p:cxnSp>
          <p:nvCxnSpPr>
            <p:cNvPr id="8" name="直接连接符 7"/>
            <p:cNvCxnSpPr>
              <a:stCxn id="6" idx="3"/>
              <a:endCxn id="5" idx="2"/>
            </p:cNvCxnSpPr>
            <p:nvPr/>
          </p:nvCxnSpPr>
          <p:spPr>
            <a:xfrm>
              <a:off x="2372052" y="5427614"/>
              <a:ext cx="580135" cy="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>
              <a:stCxn id="5" idx="0"/>
              <a:endCxn id="7" idx="1"/>
            </p:cNvCxnSpPr>
            <p:nvPr/>
          </p:nvCxnSpPr>
          <p:spPr>
            <a:xfrm flipV="1">
              <a:off x="5935848" y="5420800"/>
              <a:ext cx="573340" cy="681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任意多边形 9"/>
            <p:cNvSpPr/>
            <p:nvPr/>
          </p:nvSpPr>
          <p:spPr>
            <a:xfrm>
              <a:off x="2238704" y="5066469"/>
              <a:ext cx="4204138" cy="458621"/>
            </a:xfrm>
            <a:custGeom>
              <a:avLst/>
              <a:gdLst>
                <a:gd name="connsiteX0" fmla="*/ 0 w 4204138"/>
                <a:gd name="connsiteY0" fmla="*/ 150938 h 458621"/>
                <a:gd name="connsiteX1" fmla="*/ 1229710 w 4204138"/>
                <a:gd name="connsiteY1" fmla="*/ 14303 h 458621"/>
                <a:gd name="connsiteX2" fmla="*/ 2228193 w 4204138"/>
                <a:gd name="connsiteY2" fmla="*/ 455738 h 458621"/>
                <a:gd name="connsiteX3" fmla="*/ 3352800 w 4204138"/>
                <a:gd name="connsiteY3" fmla="*/ 203490 h 458621"/>
                <a:gd name="connsiteX4" fmla="*/ 4204138 w 4204138"/>
                <a:gd name="connsiteY4" fmla="*/ 171959 h 45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4138" h="458621">
                  <a:moveTo>
                    <a:pt x="0" y="150938"/>
                  </a:moveTo>
                  <a:cubicBezTo>
                    <a:pt x="429172" y="57220"/>
                    <a:pt x="858345" y="-36497"/>
                    <a:pt x="1229710" y="14303"/>
                  </a:cubicBezTo>
                  <a:cubicBezTo>
                    <a:pt x="1601075" y="65103"/>
                    <a:pt x="1874345" y="424207"/>
                    <a:pt x="2228193" y="455738"/>
                  </a:cubicBezTo>
                  <a:cubicBezTo>
                    <a:pt x="2582041" y="487269"/>
                    <a:pt x="3023476" y="250786"/>
                    <a:pt x="3352800" y="203490"/>
                  </a:cubicBezTo>
                  <a:cubicBezTo>
                    <a:pt x="3682124" y="156194"/>
                    <a:pt x="4204138" y="171959"/>
                    <a:pt x="4204138" y="171959"/>
                  </a:cubicBezTo>
                </a:path>
              </a:pathLst>
            </a:custGeom>
            <a:noFill/>
            <a:ln w="38100">
              <a:prstDash val="dash"/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6099785" y="4127230"/>
            <a:ext cx="1733615" cy="949768"/>
            <a:chOff x="981206" y="4335014"/>
            <a:chExt cx="1733615" cy="949768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45" t="25441" r="10493" b="25364"/>
            <a:stretch>
              <a:fillRect/>
            </a:stretch>
          </p:blipFill>
          <p:spPr>
            <a:xfrm>
              <a:off x="1771658" y="4370762"/>
              <a:ext cx="943163" cy="453906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206" y="4335014"/>
              <a:ext cx="413000" cy="413000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43" y="4387641"/>
              <a:ext cx="521790" cy="52179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47" t="9503" r="19547" b="9272"/>
            <a:stretch>
              <a:fillRect/>
            </a:stretch>
          </p:blipFill>
          <p:spPr>
            <a:xfrm>
              <a:off x="2287571" y="4536140"/>
              <a:ext cx="392048" cy="398056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8148" y="4652279"/>
              <a:ext cx="628650" cy="502920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92655" y="4639333"/>
              <a:ext cx="645449" cy="645449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/>
        </p:nvGrpSpPr>
        <p:grpSpPr>
          <a:xfrm>
            <a:off x="1558751" y="4162978"/>
            <a:ext cx="1733615" cy="949768"/>
            <a:chOff x="981206" y="4335014"/>
            <a:chExt cx="1733615" cy="949768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45" t="25441" r="10493" b="25364"/>
            <a:stretch>
              <a:fillRect/>
            </a:stretch>
          </p:blipFill>
          <p:spPr>
            <a:xfrm>
              <a:off x="1771658" y="4370762"/>
              <a:ext cx="943163" cy="453906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206" y="4335014"/>
              <a:ext cx="413000" cy="413000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43" y="4387641"/>
              <a:ext cx="521790" cy="521790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47" t="9503" r="19547" b="9272"/>
            <a:stretch>
              <a:fillRect/>
            </a:stretch>
          </p:blipFill>
          <p:spPr>
            <a:xfrm>
              <a:off x="2287571" y="4536140"/>
              <a:ext cx="392048" cy="398056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8148" y="4652279"/>
              <a:ext cx="628650" cy="502920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92655" y="4639333"/>
              <a:ext cx="645449" cy="645449"/>
            </a:xfrm>
            <a:prstGeom prst="rect">
              <a:avLst/>
            </a:prstGeom>
          </p:spPr>
        </p:pic>
      </p:grpSp>
      <p:grpSp>
        <p:nvGrpSpPr>
          <p:cNvPr id="25" name="组合 24"/>
          <p:cNvGrpSpPr/>
          <p:nvPr/>
        </p:nvGrpSpPr>
        <p:grpSpPr>
          <a:xfrm>
            <a:off x="3667810" y="4335649"/>
            <a:ext cx="2017986" cy="457200"/>
            <a:chOff x="2593431" y="4473872"/>
            <a:chExt cx="2017986" cy="457200"/>
          </a:xfrm>
        </p:grpSpPr>
        <p:cxnSp>
          <p:nvCxnSpPr>
            <p:cNvPr id="26" name="直接箭头连接符 25"/>
            <p:cNvCxnSpPr/>
            <p:nvPr/>
          </p:nvCxnSpPr>
          <p:spPr>
            <a:xfrm>
              <a:off x="2593431" y="4473872"/>
              <a:ext cx="2017986" cy="0"/>
            </a:xfrm>
            <a:prstGeom prst="straightConnector1">
              <a:avLst/>
            </a:prstGeom>
            <a:ln>
              <a:prstDash val="dash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>
              <a:off x="2593431" y="4626272"/>
              <a:ext cx="2017986" cy="0"/>
            </a:xfrm>
            <a:prstGeom prst="straightConnector1">
              <a:avLst/>
            </a:prstGeom>
            <a:ln>
              <a:prstDash val="dash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>
            <a:xfrm>
              <a:off x="2593431" y="4778672"/>
              <a:ext cx="2017986" cy="0"/>
            </a:xfrm>
            <a:prstGeom prst="straightConnector1">
              <a:avLst/>
            </a:prstGeom>
            <a:ln>
              <a:prstDash val="dash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/>
          </p:nvCxnSpPr>
          <p:spPr>
            <a:xfrm>
              <a:off x="2593431" y="4931072"/>
              <a:ext cx="2017986" cy="0"/>
            </a:xfrm>
            <a:prstGeom prst="straightConnector1">
              <a:avLst/>
            </a:prstGeom>
            <a:ln>
              <a:prstDash val="dash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灯片编号占位符 2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传输控制机制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836188" y="1362450"/>
                <a:ext cx="4116426" cy="5034843"/>
              </a:xfrm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2000" dirty="0"/>
                  <a:t>传输控制机制的设计目标：</a:t>
                </a:r>
                <a:endParaRPr lang="en-US" altLang="zh-CN" sz="2000" dirty="0"/>
              </a:p>
              <a:p>
                <a:pPr marL="800100" lvl="1" indent="-457200">
                  <a:lnSpc>
                    <a:spcPct val="130000"/>
                  </a:lnSpc>
                  <a:buFont typeface="+mj-lt"/>
                  <a:buAutoNum type="arabicPeriod"/>
                </a:pPr>
                <a:r>
                  <a:rPr lang="zh-CN" altLang="en-US" sz="1800" dirty="0"/>
                  <a:t>高效利用网络资源</a:t>
                </a:r>
                <a:endParaRPr lang="en-US" altLang="zh-CN" sz="1800" dirty="0"/>
              </a:p>
              <a:p>
                <a:pPr lvl="2">
                  <a:lnSpc>
                    <a:spcPct val="130000"/>
                  </a:lnSpc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unc>
                          <m:func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/>
                            </m:limLow>
                          </m:fName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func>
                      </m:fName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endParaRPr lang="en-US" altLang="zh-CN" sz="1600" dirty="0"/>
              </a:p>
              <a:p>
                <a:pPr marL="800100" lvl="1" indent="-457200">
                  <a:lnSpc>
                    <a:spcPct val="130000"/>
                  </a:lnSpc>
                  <a:buFont typeface="+mj-lt"/>
                  <a:buAutoNum type="arabicPeriod"/>
                </a:pPr>
                <a:r>
                  <a:rPr lang="zh-CN" altLang="en-US" sz="1800" dirty="0"/>
                  <a:t>节点间公平分享网络资源</a:t>
                </a:r>
                <a:endParaRPr lang="en-US" altLang="zh-CN" sz="1800" dirty="0"/>
              </a:p>
              <a:p>
                <a:pPr lvl="2">
                  <a:lnSpc>
                    <a:spcPct val="130000"/>
                  </a:lnSpc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altLang="zh-CN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altLang="zh-CN" sz="16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altLang="zh-CN" sz="16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/>
                        </m:limLow>
                      </m:fName>
                      <m:e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/(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 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altLang="zh-CN" sz="1600" dirty="0"/>
              </a:p>
              <a:p>
                <a:pPr marL="808355" lvl="1" indent="-446405">
                  <a:lnSpc>
                    <a:spcPct val="130000"/>
                  </a:lnSpc>
                  <a:buFont typeface="+mj-lt"/>
                  <a:buAutoNum type="arabicPeriod"/>
                </a:pPr>
                <a:r>
                  <a:rPr lang="zh-CN" altLang="en-US" sz="1800" dirty="0"/>
                  <a:t>收敛速度快</a:t>
                </a:r>
                <a:endParaRPr lang="en-US" altLang="zh-CN" sz="1800" dirty="0"/>
              </a:p>
              <a:p>
                <a:pPr marL="808355" lvl="1" indent="-446405">
                  <a:lnSpc>
                    <a:spcPct val="130000"/>
                  </a:lnSpc>
                  <a:buFont typeface="+mj-lt"/>
                  <a:buAutoNum type="arabicPeriod"/>
                </a:pPr>
                <a:endParaRPr lang="en-US" altLang="zh-CN" sz="1800" dirty="0"/>
              </a:p>
              <a:p>
                <a:pPr marL="408305" indent="-446405">
                  <a:lnSpc>
                    <a:spcPct val="130000"/>
                  </a:lnSpc>
                </a:pPr>
                <a:r>
                  <a:rPr lang="zh-CN" altLang="en-US" sz="2000" dirty="0">
                    <a:solidFill>
                      <a:srgbClr val="0070C0"/>
                    </a:solidFill>
                  </a:rPr>
                  <a:t>设计一个互联网规模的分布式传输机制是非常难的</a:t>
                </a:r>
                <a:endParaRPr lang="en-US" altLang="zh-CN" sz="2000" dirty="0">
                  <a:solidFill>
                    <a:srgbClr val="0070C0"/>
                  </a:solidFill>
                </a:endParaRPr>
              </a:p>
              <a:p>
                <a:pPr marL="808355" lvl="1" indent="-446405">
                  <a:lnSpc>
                    <a:spcPct val="130000"/>
                  </a:lnSpc>
                </a:pPr>
                <a:r>
                  <a:rPr lang="zh-CN" altLang="en-US" sz="1800" dirty="0"/>
                  <a:t>幸运的是，</a:t>
                </a:r>
                <a:r>
                  <a:rPr lang="en-US" altLang="zh-CN" sz="1800" dirty="0"/>
                  <a:t>TCP</a:t>
                </a:r>
                <a:r>
                  <a:rPr lang="zh-CN" altLang="en-US" sz="1800" dirty="0"/>
                  <a:t>基本实现上述目标，且稳定运行了</a:t>
                </a:r>
                <a:r>
                  <a:rPr lang="en-US" altLang="zh-CN" sz="1800" dirty="0"/>
                  <a:t>40</a:t>
                </a:r>
                <a:r>
                  <a:rPr lang="zh-CN" altLang="en-US" sz="1800" dirty="0"/>
                  <a:t>年</a:t>
                </a:r>
                <a:endParaRPr lang="en-US" altLang="zh-CN" sz="2000" dirty="0"/>
              </a:p>
              <a:p>
                <a:pPr lvl="1">
                  <a:lnSpc>
                    <a:spcPct val="130000"/>
                  </a:lnSpc>
                </a:pPr>
                <a:endParaRPr lang="zh-CN" altLang="en-US" sz="1800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36188" y="1362450"/>
                <a:ext cx="4116426" cy="5034843"/>
              </a:xfrm>
              <a:blipFill rotWithShape="1">
                <a:blip r:embed="rId1"/>
                <a:stretch>
                  <a:fillRect l="-1" t="-7" r="9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889709" y="5655044"/>
            <a:ext cx="360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V="1">
            <a:off x="889709" y="2056477"/>
            <a:ext cx="0" cy="3600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1814960" y="5856562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用户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传输速率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endParaRPr lang="zh-CN" altLang="en-US" baseline="-250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 rot="16200000">
            <a:off x="-496676" y="3436556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用户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传输速率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  <a:ea typeface="楷体" panose="02010609060101010101" pitchFamily="49" charset="-122"/>
              </a:rPr>
              <a:t>2</a:t>
            </a:r>
            <a:endParaRPr lang="zh-CN" altLang="en-US" baseline="-250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cxnSp>
        <p:nvCxnSpPr>
          <p:cNvPr id="33" name="直接连接符 32"/>
          <p:cNvCxnSpPr>
            <a:cxnSpLocks noChangeAspect="1"/>
          </p:cNvCxnSpPr>
          <p:nvPr/>
        </p:nvCxnSpPr>
        <p:spPr>
          <a:xfrm rot="2700000" flipV="1">
            <a:off x="252395" y="4104761"/>
            <a:ext cx="4392000" cy="296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cxnSpLocks noChangeAspect="1"/>
          </p:cNvCxnSpPr>
          <p:nvPr/>
        </p:nvCxnSpPr>
        <p:spPr>
          <a:xfrm rot="18900000" flipV="1">
            <a:off x="242746" y="4071968"/>
            <a:ext cx="4392000" cy="2967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3072088" y="2429870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楷体" panose="02010609060101010101" pitchFamily="49" charset="-122"/>
              </a:rPr>
              <a:t>公平线</a:t>
            </a:r>
            <a:endParaRPr lang="zh-CN" altLang="en-US" sz="16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932068" y="2423468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楷体" panose="02010609060101010101" pitchFamily="49" charset="-122"/>
              </a:rPr>
              <a:t>效率线</a:t>
            </a:r>
            <a:endParaRPr lang="zh-CN" altLang="en-US" sz="16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467117" y="3566141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楷体" panose="02010609060101010101" pitchFamily="49" charset="-122"/>
              </a:rPr>
              <a:t>最优分配点</a:t>
            </a:r>
            <a:endParaRPr lang="zh-CN" altLang="en-US" sz="16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cxnSp>
        <p:nvCxnSpPr>
          <p:cNvPr id="38" name="直接箭头连接符 37"/>
          <p:cNvCxnSpPr/>
          <p:nvPr/>
        </p:nvCxnSpPr>
        <p:spPr>
          <a:xfrm flipH="1">
            <a:off x="2689709" y="3768780"/>
            <a:ext cx="749952" cy="2014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椭圆 38"/>
          <p:cNvSpPr/>
          <p:nvPr/>
        </p:nvSpPr>
        <p:spPr>
          <a:xfrm>
            <a:off x="2332680" y="4001319"/>
            <a:ext cx="172696" cy="1715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0" name="任意多边形: 形状 39"/>
          <p:cNvSpPr/>
          <p:nvPr/>
        </p:nvSpPr>
        <p:spPr>
          <a:xfrm>
            <a:off x="1586690" y="3523293"/>
            <a:ext cx="2334638" cy="2130831"/>
          </a:xfrm>
          <a:custGeom>
            <a:avLst/>
            <a:gdLst>
              <a:gd name="connsiteX0" fmla="*/ 2334638 w 2334638"/>
              <a:gd name="connsiteY0" fmla="*/ 2124038 h 2125213"/>
              <a:gd name="connsiteX1" fmla="*/ 918793 w 2334638"/>
              <a:gd name="connsiteY1" fmla="*/ 1937225 h 2125213"/>
              <a:gd name="connsiteX2" fmla="*/ 63387 w 2334638"/>
              <a:gd name="connsiteY2" fmla="*/ 953999 h 2125213"/>
              <a:gd name="connsiteX3" fmla="*/ 102716 w 2334638"/>
              <a:gd name="connsiteY3" fmla="*/ 265741 h 2125213"/>
              <a:gd name="connsiteX4" fmla="*/ 417348 w 2334638"/>
              <a:gd name="connsiteY4" fmla="*/ 270 h 2125213"/>
              <a:gd name="connsiteX5" fmla="*/ 348522 w 2334638"/>
              <a:gd name="connsiteY5" fmla="*/ 305070 h 2125213"/>
              <a:gd name="connsiteX6" fmla="*/ 1125270 w 2334638"/>
              <a:gd name="connsiteY6" fmla="*/ 777018 h 2125213"/>
              <a:gd name="connsiteX7" fmla="*/ 1341580 w 2334638"/>
              <a:gd name="connsiteY7" fmla="*/ 1307960 h 2125213"/>
              <a:gd name="connsiteX8" fmla="*/ 1921683 w 2334638"/>
              <a:gd name="connsiteY8" fmla="*/ 1484941 h 2125213"/>
              <a:gd name="connsiteX9" fmla="*/ 2147825 w 2334638"/>
              <a:gd name="connsiteY9" fmla="*/ 1907728 h 2125213"/>
              <a:gd name="connsiteX10" fmla="*/ 1489064 w 2334638"/>
              <a:gd name="connsiteY10" fmla="*/ 1858567 h 2125213"/>
              <a:gd name="connsiteX11" fmla="*/ 1056445 w 2334638"/>
              <a:gd name="connsiteY11" fmla="*/ 1337457 h 2125213"/>
              <a:gd name="connsiteX12" fmla="*/ 1135103 w 2334638"/>
              <a:gd name="connsiteY12" fmla="*/ 767186 h 2125213"/>
              <a:gd name="connsiteX13" fmla="*/ 879464 w 2334638"/>
              <a:gd name="connsiteY13" fmla="*/ 560709 h 2125213"/>
              <a:gd name="connsiteX0-1" fmla="*/ 2334638 w 2334638"/>
              <a:gd name="connsiteY0-2" fmla="*/ 2129656 h 2130831"/>
              <a:gd name="connsiteX1-3" fmla="*/ 918793 w 2334638"/>
              <a:gd name="connsiteY1-4" fmla="*/ 1942843 h 2130831"/>
              <a:gd name="connsiteX2-5" fmla="*/ 63387 w 2334638"/>
              <a:gd name="connsiteY2-6" fmla="*/ 959617 h 2130831"/>
              <a:gd name="connsiteX3-7" fmla="*/ 102716 w 2334638"/>
              <a:gd name="connsiteY3-8" fmla="*/ 271359 h 2130831"/>
              <a:gd name="connsiteX4-9" fmla="*/ 417348 w 2334638"/>
              <a:gd name="connsiteY4-10" fmla="*/ 5888 h 2130831"/>
              <a:gd name="connsiteX5-11" fmla="*/ 363762 w 2334638"/>
              <a:gd name="connsiteY5-12" fmla="*/ 493568 h 2130831"/>
              <a:gd name="connsiteX6-13" fmla="*/ 1125270 w 2334638"/>
              <a:gd name="connsiteY6-14" fmla="*/ 782636 h 2130831"/>
              <a:gd name="connsiteX7-15" fmla="*/ 1341580 w 2334638"/>
              <a:gd name="connsiteY7-16" fmla="*/ 1313578 h 2130831"/>
              <a:gd name="connsiteX8-17" fmla="*/ 1921683 w 2334638"/>
              <a:gd name="connsiteY8-18" fmla="*/ 1490559 h 2130831"/>
              <a:gd name="connsiteX9-19" fmla="*/ 2147825 w 2334638"/>
              <a:gd name="connsiteY9-20" fmla="*/ 1913346 h 2130831"/>
              <a:gd name="connsiteX10-21" fmla="*/ 1489064 w 2334638"/>
              <a:gd name="connsiteY10-22" fmla="*/ 1864185 h 2130831"/>
              <a:gd name="connsiteX11-23" fmla="*/ 1056445 w 2334638"/>
              <a:gd name="connsiteY11-24" fmla="*/ 1343075 h 2130831"/>
              <a:gd name="connsiteX12-25" fmla="*/ 1135103 w 2334638"/>
              <a:gd name="connsiteY12-26" fmla="*/ 772804 h 2130831"/>
              <a:gd name="connsiteX13-27" fmla="*/ 879464 w 2334638"/>
              <a:gd name="connsiteY13-28" fmla="*/ 566327 h 2130831"/>
              <a:gd name="connsiteX0-29" fmla="*/ 2334638 w 2334638"/>
              <a:gd name="connsiteY0-30" fmla="*/ 2129656 h 2130831"/>
              <a:gd name="connsiteX1-31" fmla="*/ 918793 w 2334638"/>
              <a:gd name="connsiteY1-32" fmla="*/ 1942843 h 2130831"/>
              <a:gd name="connsiteX2-33" fmla="*/ 63387 w 2334638"/>
              <a:gd name="connsiteY2-34" fmla="*/ 959617 h 2130831"/>
              <a:gd name="connsiteX3-35" fmla="*/ 102716 w 2334638"/>
              <a:gd name="connsiteY3-36" fmla="*/ 271359 h 2130831"/>
              <a:gd name="connsiteX4-37" fmla="*/ 417348 w 2334638"/>
              <a:gd name="connsiteY4-38" fmla="*/ 5888 h 2130831"/>
              <a:gd name="connsiteX5-39" fmla="*/ 363762 w 2334638"/>
              <a:gd name="connsiteY5-40" fmla="*/ 493568 h 2130831"/>
              <a:gd name="connsiteX6-41" fmla="*/ 1125270 w 2334638"/>
              <a:gd name="connsiteY6-42" fmla="*/ 782636 h 2130831"/>
              <a:gd name="connsiteX7-43" fmla="*/ 1341580 w 2334638"/>
              <a:gd name="connsiteY7-44" fmla="*/ 1313578 h 2130831"/>
              <a:gd name="connsiteX8-45" fmla="*/ 1921683 w 2334638"/>
              <a:gd name="connsiteY8-46" fmla="*/ 1490559 h 2130831"/>
              <a:gd name="connsiteX9-47" fmla="*/ 2147825 w 2334638"/>
              <a:gd name="connsiteY9-48" fmla="*/ 1913346 h 2130831"/>
              <a:gd name="connsiteX10-49" fmla="*/ 1489064 w 2334638"/>
              <a:gd name="connsiteY10-50" fmla="*/ 1864185 h 2130831"/>
              <a:gd name="connsiteX11-51" fmla="*/ 1315525 w 2334638"/>
              <a:gd name="connsiteY11-52" fmla="*/ 1485315 h 2130831"/>
              <a:gd name="connsiteX12-53" fmla="*/ 1135103 w 2334638"/>
              <a:gd name="connsiteY12-54" fmla="*/ 772804 h 2130831"/>
              <a:gd name="connsiteX13-55" fmla="*/ 879464 w 2334638"/>
              <a:gd name="connsiteY13-56" fmla="*/ 566327 h 2130831"/>
              <a:gd name="connsiteX0-57" fmla="*/ 2334638 w 2334638"/>
              <a:gd name="connsiteY0-58" fmla="*/ 2129656 h 2130831"/>
              <a:gd name="connsiteX1-59" fmla="*/ 918793 w 2334638"/>
              <a:gd name="connsiteY1-60" fmla="*/ 1942843 h 2130831"/>
              <a:gd name="connsiteX2-61" fmla="*/ 63387 w 2334638"/>
              <a:gd name="connsiteY2-62" fmla="*/ 959617 h 2130831"/>
              <a:gd name="connsiteX3-63" fmla="*/ 102716 w 2334638"/>
              <a:gd name="connsiteY3-64" fmla="*/ 271359 h 2130831"/>
              <a:gd name="connsiteX4-65" fmla="*/ 417348 w 2334638"/>
              <a:gd name="connsiteY4-66" fmla="*/ 5888 h 2130831"/>
              <a:gd name="connsiteX5-67" fmla="*/ 363762 w 2334638"/>
              <a:gd name="connsiteY5-68" fmla="*/ 493568 h 2130831"/>
              <a:gd name="connsiteX6-69" fmla="*/ 1038910 w 2334638"/>
              <a:gd name="connsiteY6-70" fmla="*/ 940116 h 2130831"/>
              <a:gd name="connsiteX7-71" fmla="*/ 1341580 w 2334638"/>
              <a:gd name="connsiteY7-72" fmla="*/ 1313578 h 2130831"/>
              <a:gd name="connsiteX8-73" fmla="*/ 1921683 w 2334638"/>
              <a:gd name="connsiteY8-74" fmla="*/ 1490559 h 2130831"/>
              <a:gd name="connsiteX9-75" fmla="*/ 2147825 w 2334638"/>
              <a:gd name="connsiteY9-76" fmla="*/ 1913346 h 2130831"/>
              <a:gd name="connsiteX10-77" fmla="*/ 1489064 w 2334638"/>
              <a:gd name="connsiteY10-78" fmla="*/ 1864185 h 2130831"/>
              <a:gd name="connsiteX11-79" fmla="*/ 1315525 w 2334638"/>
              <a:gd name="connsiteY11-80" fmla="*/ 1485315 h 2130831"/>
              <a:gd name="connsiteX12-81" fmla="*/ 1135103 w 2334638"/>
              <a:gd name="connsiteY12-82" fmla="*/ 772804 h 2130831"/>
              <a:gd name="connsiteX13-83" fmla="*/ 879464 w 2334638"/>
              <a:gd name="connsiteY13-84" fmla="*/ 566327 h 2130831"/>
              <a:gd name="connsiteX0-85" fmla="*/ 2334638 w 2334638"/>
              <a:gd name="connsiteY0-86" fmla="*/ 2129656 h 2130831"/>
              <a:gd name="connsiteX1-87" fmla="*/ 918793 w 2334638"/>
              <a:gd name="connsiteY1-88" fmla="*/ 1942843 h 2130831"/>
              <a:gd name="connsiteX2-89" fmla="*/ 63387 w 2334638"/>
              <a:gd name="connsiteY2-90" fmla="*/ 959617 h 2130831"/>
              <a:gd name="connsiteX3-91" fmla="*/ 102716 w 2334638"/>
              <a:gd name="connsiteY3-92" fmla="*/ 271359 h 2130831"/>
              <a:gd name="connsiteX4-93" fmla="*/ 417348 w 2334638"/>
              <a:gd name="connsiteY4-94" fmla="*/ 5888 h 2130831"/>
              <a:gd name="connsiteX5-95" fmla="*/ 363762 w 2334638"/>
              <a:gd name="connsiteY5-96" fmla="*/ 493568 h 2130831"/>
              <a:gd name="connsiteX6-97" fmla="*/ 1038910 w 2334638"/>
              <a:gd name="connsiteY6-98" fmla="*/ 940116 h 2130831"/>
              <a:gd name="connsiteX7-99" fmla="*/ 1524460 w 2334638"/>
              <a:gd name="connsiteY7-100" fmla="*/ 1074818 h 2130831"/>
              <a:gd name="connsiteX8-101" fmla="*/ 1921683 w 2334638"/>
              <a:gd name="connsiteY8-102" fmla="*/ 1490559 h 2130831"/>
              <a:gd name="connsiteX9-103" fmla="*/ 2147825 w 2334638"/>
              <a:gd name="connsiteY9-104" fmla="*/ 1913346 h 2130831"/>
              <a:gd name="connsiteX10-105" fmla="*/ 1489064 w 2334638"/>
              <a:gd name="connsiteY10-106" fmla="*/ 1864185 h 2130831"/>
              <a:gd name="connsiteX11-107" fmla="*/ 1315525 w 2334638"/>
              <a:gd name="connsiteY11-108" fmla="*/ 1485315 h 2130831"/>
              <a:gd name="connsiteX12-109" fmla="*/ 1135103 w 2334638"/>
              <a:gd name="connsiteY12-110" fmla="*/ 772804 h 2130831"/>
              <a:gd name="connsiteX13-111" fmla="*/ 879464 w 2334638"/>
              <a:gd name="connsiteY13-112" fmla="*/ 566327 h 21308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</a:cxnLst>
            <a:rect l="l" t="t" r="r" b="b"/>
            <a:pathLst>
              <a:path w="2334638" h="2130831">
                <a:moveTo>
                  <a:pt x="2334638" y="2129656"/>
                </a:moveTo>
                <a:cubicBezTo>
                  <a:pt x="1815986" y="2133753"/>
                  <a:pt x="1297335" y="2137850"/>
                  <a:pt x="918793" y="1942843"/>
                </a:cubicBezTo>
                <a:cubicBezTo>
                  <a:pt x="540251" y="1747836"/>
                  <a:pt x="199400" y="1238198"/>
                  <a:pt x="63387" y="959617"/>
                </a:cubicBezTo>
                <a:cubicBezTo>
                  <a:pt x="-72626" y="681036"/>
                  <a:pt x="43723" y="430314"/>
                  <a:pt x="102716" y="271359"/>
                </a:cubicBezTo>
                <a:cubicBezTo>
                  <a:pt x="161709" y="112404"/>
                  <a:pt x="373840" y="-31147"/>
                  <a:pt x="417348" y="5888"/>
                </a:cubicBezTo>
                <a:cubicBezTo>
                  <a:pt x="460856" y="42923"/>
                  <a:pt x="260168" y="337863"/>
                  <a:pt x="363762" y="493568"/>
                </a:cubicBezTo>
                <a:cubicBezTo>
                  <a:pt x="467356" y="649273"/>
                  <a:pt x="845460" y="843241"/>
                  <a:pt x="1038910" y="940116"/>
                </a:cubicBezTo>
                <a:cubicBezTo>
                  <a:pt x="1232360" y="1036991"/>
                  <a:pt x="1377331" y="983078"/>
                  <a:pt x="1524460" y="1074818"/>
                </a:cubicBezTo>
                <a:cubicBezTo>
                  <a:pt x="1671589" y="1166559"/>
                  <a:pt x="1817789" y="1350804"/>
                  <a:pt x="1921683" y="1490559"/>
                </a:cubicBezTo>
                <a:cubicBezTo>
                  <a:pt x="2025577" y="1630314"/>
                  <a:pt x="2219928" y="1851075"/>
                  <a:pt x="2147825" y="1913346"/>
                </a:cubicBezTo>
                <a:cubicBezTo>
                  <a:pt x="2075722" y="1975617"/>
                  <a:pt x="1627781" y="1935524"/>
                  <a:pt x="1489064" y="1864185"/>
                </a:cubicBezTo>
                <a:cubicBezTo>
                  <a:pt x="1350347" y="1792847"/>
                  <a:pt x="1374518" y="1667212"/>
                  <a:pt x="1315525" y="1485315"/>
                </a:cubicBezTo>
                <a:cubicBezTo>
                  <a:pt x="1256532" y="1303418"/>
                  <a:pt x="1164600" y="902262"/>
                  <a:pt x="1135103" y="772804"/>
                </a:cubicBezTo>
                <a:cubicBezTo>
                  <a:pt x="1105606" y="643346"/>
                  <a:pt x="992535" y="604836"/>
                  <a:pt x="879464" y="566327"/>
                </a:cubicBezTo>
              </a:path>
            </a:pathLst>
          </a:custGeom>
          <a:noFill/>
          <a:ln w="28575">
            <a:solidFill>
              <a:schemeClr val="tx1"/>
            </a:solidFill>
            <a:prstDash val="dash"/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互联网体系结构层次模型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407972" y="2407436"/>
            <a:ext cx="2042112" cy="2977413"/>
            <a:chOff x="1134977" y="2437916"/>
            <a:chExt cx="2042112" cy="2977413"/>
          </a:xfrm>
        </p:grpSpPr>
        <p:grpSp>
          <p:nvGrpSpPr>
            <p:cNvPr id="17" name="组合 16"/>
            <p:cNvGrpSpPr/>
            <p:nvPr/>
          </p:nvGrpSpPr>
          <p:grpSpPr>
            <a:xfrm>
              <a:off x="1134977" y="2437916"/>
              <a:ext cx="2041451" cy="520995"/>
              <a:chOff x="769416" y="2341437"/>
              <a:chExt cx="2041451" cy="520995"/>
            </a:xfrm>
          </p:grpSpPr>
          <p:sp>
            <p:nvSpPr>
              <p:cNvPr id="8" name="梯形 7"/>
              <p:cNvSpPr/>
              <p:nvPr/>
            </p:nvSpPr>
            <p:spPr>
              <a:xfrm flipV="1">
                <a:off x="769416" y="2341437"/>
                <a:ext cx="2041451" cy="520995"/>
              </a:xfrm>
              <a:prstGeom prst="trapezoid">
                <a:avLst>
                  <a:gd name="adj" fmla="val 33164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1324357" y="2406132"/>
                <a:ext cx="95410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应用层</a:t>
                </a:r>
                <a:endPara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1336995" y="3248179"/>
              <a:ext cx="1637416" cy="533809"/>
              <a:chOff x="970773" y="3038650"/>
              <a:chExt cx="1637416" cy="533809"/>
            </a:xfrm>
          </p:grpSpPr>
          <p:sp>
            <p:nvSpPr>
              <p:cNvPr id="9" name="梯形 8"/>
              <p:cNvSpPr/>
              <p:nvPr/>
            </p:nvSpPr>
            <p:spPr>
              <a:xfrm flipV="1">
                <a:off x="970773" y="3038650"/>
                <a:ext cx="1637416" cy="533809"/>
              </a:xfrm>
              <a:prstGeom prst="trapezoid">
                <a:avLst>
                  <a:gd name="adj" fmla="val 35596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1324357" y="3077079"/>
                <a:ext cx="95410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传输层</a:t>
                </a:r>
                <a:endPara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1337655" y="4071256"/>
              <a:ext cx="1637416" cy="533809"/>
              <a:chOff x="971433" y="3672659"/>
              <a:chExt cx="1637416" cy="533809"/>
            </a:xfrm>
          </p:grpSpPr>
          <p:sp>
            <p:nvSpPr>
              <p:cNvPr id="7" name="梯形 6"/>
              <p:cNvSpPr/>
              <p:nvPr/>
            </p:nvSpPr>
            <p:spPr>
              <a:xfrm>
                <a:off x="971433" y="3672659"/>
                <a:ext cx="1637416" cy="533809"/>
              </a:xfrm>
              <a:prstGeom prst="trapezoid">
                <a:avLst>
                  <a:gd name="adj" fmla="val 35596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1324357" y="3739508"/>
                <a:ext cx="95410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网络层</a:t>
                </a:r>
                <a:endPara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1135638" y="4894334"/>
              <a:ext cx="2041451" cy="520995"/>
              <a:chOff x="769416" y="4506868"/>
              <a:chExt cx="2041451" cy="520995"/>
            </a:xfrm>
          </p:grpSpPr>
          <p:sp>
            <p:nvSpPr>
              <p:cNvPr id="6" name="梯形 5"/>
              <p:cNvSpPr/>
              <p:nvPr/>
            </p:nvSpPr>
            <p:spPr>
              <a:xfrm>
                <a:off x="769416" y="4506868"/>
                <a:ext cx="2041451" cy="520995"/>
              </a:xfrm>
              <a:prstGeom prst="trapezoid">
                <a:avLst>
                  <a:gd name="adj" fmla="val 33164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1067876" y="4567310"/>
                <a:ext cx="146706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数据链路层</a:t>
                </a:r>
                <a:endPara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</p:grpSp>
      <p:sp>
        <p:nvSpPr>
          <p:cNvPr id="19" name="矩形 18"/>
          <p:cNvSpPr/>
          <p:nvPr/>
        </p:nvSpPr>
        <p:spPr>
          <a:xfrm>
            <a:off x="106115" y="3088640"/>
            <a:ext cx="2621280" cy="1676400"/>
          </a:xfrm>
          <a:prstGeom prst="rect">
            <a:avLst/>
          </a:prstGeom>
          <a:noFill/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右箭头 19"/>
          <p:cNvSpPr/>
          <p:nvPr/>
        </p:nvSpPr>
        <p:spPr>
          <a:xfrm rot="-1200000">
            <a:off x="2826340" y="2204631"/>
            <a:ext cx="924560" cy="289268"/>
          </a:xfrm>
          <a:prstGeom prst="rightArrow">
            <a:avLst>
              <a:gd name="adj1" fmla="val 50000"/>
              <a:gd name="adj2" fmla="val 10619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内容占位符 2"/>
          <p:cNvSpPr>
            <a:spLocks noGrp="1"/>
          </p:cNvSpPr>
          <p:nvPr>
            <p:ph idx="1"/>
          </p:nvPr>
        </p:nvSpPr>
        <p:spPr>
          <a:xfrm>
            <a:off x="4038034" y="3111311"/>
            <a:ext cx="4886961" cy="1836609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000" dirty="0"/>
              <a:t>TCP/IP</a:t>
            </a:r>
            <a:endParaRPr lang="en-US" altLang="zh-CN" sz="2000" dirty="0"/>
          </a:p>
          <a:p>
            <a:pPr marL="630555" lvl="1" indent="-367030">
              <a:lnSpc>
                <a:spcPct val="120000"/>
              </a:lnSpc>
            </a:pPr>
            <a:r>
              <a:rPr lang="zh-CN" altLang="en-US" sz="1800" dirty="0"/>
              <a:t>占据了互联网流量的</a:t>
            </a:r>
            <a:r>
              <a:rPr lang="en-US" altLang="zh-CN" sz="1800" dirty="0"/>
              <a:t>90%</a:t>
            </a:r>
            <a:r>
              <a:rPr lang="zh-CN" altLang="en-US" sz="1800" dirty="0"/>
              <a:t>以上</a:t>
            </a:r>
            <a:endParaRPr lang="en-US" altLang="zh-CN" sz="1800" dirty="0"/>
          </a:p>
          <a:p>
            <a:pPr marL="630555" lvl="1" indent="-367030">
              <a:lnSpc>
                <a:spcPct val="120000"/>
              </a:lnSpc>
            </a:pPr>
            <a:r>
              <a:rPr lang="zh-CN" altLang="en-US" sz="1800" dirty="0"/>
              <a:t>最初作为一个协议设计，后分成两个</a:t>
            </a:r>
            <a:r>
              <a:rPr lang="en-US" altLang="zh-CN" sz="1800" dirty="0"/>
              <a:t>[RFC791 &amp; RFC793]</a:t>
            </a:r>
            <a:endParaRPr lang="en-US" altLang="zh-CN" sz="1800" dirty="0"/>
          </a:p>
          <a:p>
            <a:pPr marL="630555" lvl="1" indent="-367030">
              <a:lnSpc>
                <a:spcPct val="120000"/>
              </a:lnSpc>
            </a:pPr>
            <a:r>
              <a:rPr lang="zh-CN" altLang="en-US" sz="1800" dirty="0"/>
              <a:t>互联网初期还有其他竞争者</a:t>
            </a:r>
            <a:endParaRPr lang="zh-CN" altLang="en-US" sz="1800" dirty="0"/>
          </a:p>
        </p:txBody>
      </p:sp>
      <p:sp>
        <p:nvSpPr>
          <p:cNvPr id="22" name="右箭头 21"/>
          <p:cNvSpPr/>
          <p:nvPr/>
        </p:nvSpPr>
        <p:spPr>
          <a:xfrm>
            <a:off x="3072835" y="3903908"/>
            <a:ext cx="924560" cy="289268"/>
          </a:xfrm>
          <a:prstGeom prst="rightArrow">
            <a:avLst>
              <a:gd name="adj1" fmla="val 50000"/>
              <a:gd name="adj2" fmla="val 10619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内容占位符 2"/>
          <p:cNvSpPr txBox="1"/>
          <p:nvPr/>
        </p:nvSpPr>
        <p:spPr bwMode="auto">
          <a:xfrm>
            <a:off x="4098995" y="1607539"/>
            <a:ext cx="5019040" cy="1483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8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kern="0" dirty="0"/>
              <a:t>成千上万种应用协议</a:t>
            </a:r>
            <a:endParaRPr lang="en-US" altLang="zh-CN" sz="2000" kern="0" dirty="0"/>
          </a:p>
          <a:p>
            <a:pPr marL="538480" lvl="1" indent="-355600">
              <a:lnSpc>
                <a:spcPct val="120000"/>
              </a:lnSpc>
            </a:pPr>
            <a:r>
              <a:rPr lang="zh-CN" altLang="en-US" sz="1800" kern="0" dirty="0"/>
              <a:t>大都基于</a:t>
            </a:r>
            <a:r>
              <a:rPr lang="en-US" altLang="zh-CN" sz="1800" kern="0" dirty="0"/>
              <a:t>Socket API</a:t>
            </a:r>
            <a:r>
              <a:rPr lang="zh-CN" altLang="en-US" sz="1800" kern="0" dirty="0"/>
              <a:t>开发，只需端节点支持</a:t>
            </a:r>
            <a:endParaRPr lang="en-US" altLang="zh-CN" sz="1800" kern="0" dirty="0"/>
          </a:p>
          <a:p>
            <a:pPr marL="538480" lvl="1" indent="-355600">
              <a:lnSpc>
                <a:spcPct val="120000"/>
              </a:lnSpc>
            </a:pPr>
            <a:r>
              <a:rPr lang="zh-CN" altLang="en-US" sz="1800" kern="0" dirty="0"/>
              <a:t>将</a:t>
            </a:r>
            <a:r>
              <a:rPr lang="en-US" altLang="zh-CN" sz="1800" kern="0" dirty="0"/>
              <a:t>TCP/IP</a:t>
            </a:r>
            <a:r>
              <a:rPr lang="zh-CN" altLang="en-US" sz="1800" kern="0" dirty="0"/>
              <a:t>作为数据载体，在之上定义自己的通信格式</a:t>
            </a:r>
            <a:endParaRPr lang="zh-CN" altLang="en-US" sz="1800" kern="0" dirty="0"/>
          </a:p>
        </p:txBody>
      </p:sp>
      <p:sp>
        <p:nvSpPr>
          <p:cNvPr id="24" name="右箭头 23"/>
          <p:cNvSpPr/>
          <p:nvPr/>
        </p:nvSpPr>
        <p:spPr>
          <a:xfrm rot="1200000" flipV="1">
            <a:off x="2748984" y="5309163"/>
            <a:ext cx="924560" cy="289268"/>
          </a:xfrm>
          <a:prstGeom prst="rightArrow">
            <a:avLst>
              <a:gd name="adj1" fmla="val 50000"/>
              <a:gd name="adj2" fmla="val 10619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内容占位符 2"/>
          <p:cNvSpPr txBox="1"/>
          <p:nvPr/>
        </p:nvSpPr>
        <p:spPr bwMode="auto">
          <a:xfrm>
            <a:off x="4098995" y="4970666"/>
            <a:ext cx="4937760" cy="1483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8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kern="0" dirty="0"/>
              <a:t>多种数据链路层协议</a:t>
            </a:r>
            <a:endParaRPr lang="en-US" altLang="zh-CN" sz="2000" kern="0" dirty="0"/>
          </a:p>
          <a:p>
            <a:pPr marL="558800" lvl="1" indent="-376555">
              <a:lnSpc>
                <a:spcPct val="120000"/>
              </a:lnSpc>
            </a:pPr>
            <a:r>
              <a:rPr lang="en-US" altLang="zh-CN" sz="1800" kern="0" dirty="0"/>
              <a:t>Ethernet</a:t>
            </a:r>
            <a:r>
              <a:rPr lang="zh-CN" altLang="en-US" sz="1800" kern="0" dirty="0"/>
              <a:t>、</a:t>
            </a:r>
            <a:r>
              <a:rPr lang="en-US" altLang="zh-CN" sz="1800" kern="0" dirty="0"/>
              <a:t>WiFi</a:t>
            </a:r>
            <a:r>
              <a:rPr lang="zh-CN" altLang="en-US" sz="1800" kern="0" dirty="0"/>
              <a:t>、</a:t>
            </a:r>
            <a:r>
              <a:rPr lang="en-US" altLang="zh-CN" sz="1800" kern="0" dirty="0"/>
              <a:t>Cellular Network</a:t>
            </a:r>
            <a:endParaRPr lang="en-US" altLang="zh-CN" sz="1800" kern="0" dirty="0"/>
          </a:p>
          <a:p>
            <a:pPr marL="558800" lvl="1" indent="-376555">
              <a:lnSpc>
                <a:spcPct val="120000"/>
              </a:lnSpc>
            </a:pPr>
            <a:r>
              <a:rPr lang="zh-CN" altLang="en-US" sz="1800" kern="0" dirty="0"/>
              <a:t>只需要直连网络内部实现，与网络外部无关</a:t>
            </a:r>
            <a:endParaRPr lang="zh-CN" altLang="en-US" sz="18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build="p"/>
      <p:bldP spid="22" grpId="0" animBg="1"/>
      <p:bldP spid="23" grpId="0"/>
      <p:bldP spid="24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网络安全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zh-CN" altLang="en-US" dirty="0"/>
              <a:t>网络安全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网络协议的安全性</a:t>
            </a:r>
            <a:endParaRPr lang="en-US" altLang="zh-CN" dirty="0"/>
          </a:p>
          <a:p>
            <a:pPr lvl="2"/>
            <a:r>
              <a:rPr lang="zh-CN" altLang="en-US" dirty="0"/>
              <a:t>指具体某个网络协议设计中存在的安全问题</a:t>
            </a:r>
            <a:endParaRPr lang="en-US" altLang="zh-CN" dirty="0"/>
          </a:p>
          <a:p>
            <a:pPr lvl="2"/>
            <a:r>
              <a:rPr lang="zh-CN" altLang="en-US" dirty="0"/>
              <a:t>例如，</a:t>
            </a:r>
            <a:r>
              <a:rPr lang="en-US" altLang="zh-CN" dirty="0"/>
              <a:t>SSL/TLS</a:t>
            </a:r>
            <a:r>
              <a:rPr lang="zh-CN" altLang="en-US" dirty="0"/>
              <a:t>再协商问题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系统实现的安全性</a:t>
            </a:r>
            <a:endParaRPr lang="en-US" altLang="zh-CN" dirty="0"/>
          </a:p>
          <a:p>
            <a:pPr lvl="2"/>
            <a:r>
              <a:rPr lang="zh-CN" altLang="en-US" dirty="0"/>
              <a:t>指网络系统、协议栈实现中存在的漏洞等安全问题</a:t>
            </a:r>
            <a:endParaRPr lang="en-US" altLang="zh-CN" dirty="0"/>
          </a:p>
          <a:p>
            <a:pPr lvl="2"/>
            <a:r>
              <a:rPr lang="zh-CN" altLang="en-US" dirty="0"/>
              <a:t>例如，缓冲区溢出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体系结构的安全性</a:t>
            </a:r>
            <a:endParaRPr lang="en-US" altLang="zh-CN" dirty="0"/>
          </a:p>
          <a:p>
            <a:pPr lvl="2"/>
            <a:r>
              <a:rPr lang="zh-CN" altLang="en-US" dirty="0"/>
              <a:t>指现有网络体系结构中广泛存在的分布式拒绝服务攻击 </a:t>
            </a:r>
            <a:r>
              <a:rPr lang="en-US" altLang="zh-CN" dirty="0"/>
              <a:t>(DDoS, Distributed Denial-of-Service)</a:t>
            </a:r>
            <a:endParaRPr lang="en-US" altLang="zh-CN" dirty="0"/>
          </a:p>
          <a:p>
            <a:pPr lvl="2"/>
            <a:r>
              <a:rPr lang="en-US" altLang="zh-CN" dirty="0"/>
              <a:t>DDoS</a:t>
            </a:r>
            <a:r>
              <a:rPr lang="zh-CN" altLang="en-US" dirty="0"/>
              <a:t>攻击是现有网络体系结构与生俱来的安全问题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5" name="右箭头 4"/>
          <p:cNvSpPr/>
          <p:nvPr/>
        </p:nvSpPr>
        <p:spPr>
          <a:xfrm flipH="1">
            <a:off x="3773347" y="4710896"/>
            <a:ext cx="428263" cy="34724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网络安全示例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861242"/>
          </a:xfrm>
        </p:spPr>
        <p:txBody>
          <a:bodyPr/>
          <a:lstStyle/>
          <a:p>
            <a:r>
              <a:rPr lang="en-US" altLang="zh-CN" dirty="0" err="1"/>
              <a:t>DNSPod</a:t>
            </a:r>
            <a:r>
              <a:rPr lang="zh-CN" altLang="en-US" dirty="0"/>
              <a:t>服务器宕机导致的大规模</a:t>
            </a:r>
            <a:r>
              <a:rPr lang="en-US" altLang="zh-CN" dirty="0"/>
              <a:t>DDoS</a:t>
            </a:r>
            <a:r>
              <a:rPr lang="zh-CN" altLang="en-US" dirty="0"/>
              <a:t>攻击</a:t>
            </a:r>
            <a:endParaRPr lang="zh-CN" altLang="en-US" dirty="0"/>
          </a:p>
        </p:txBody>
      </p:sp>
      <p:sp>
        <p:nvSpPr>
          <p:cNvPr id="36" name="文本框 35"/>
          <p:cNvSpPr txBox="1"/>
          <p:nvPr/>
        </p:nvSpPr>
        <p:spPr>
          <a:xfrm>
            <a:off x="2641744" y="3800575"/>
            <a:ext cx="1523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DNS lookups</a:t>
            </a:r>
            <a:endParaRPr lang="zh-CN" alt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1451114" y="3295358"/>
            <a:ext cx="778601" cy="472467"/>
            <a:chOff x="1693536" y="3173897"/>
            <a:chExt cx="697627" cy="427301"/>
          </a:xfrm>
        </p:grpSpPr>
        <p:cxnSp>
          <p:nvCxnSpPr>
            <p:cNvPr id="38" name="直接箭头连接符 37"/>
            <p:cNvCxnSpPr/>
            <p:nvPr/>
          </p:nvCxnSpPr>
          <p:spPr>
            <a:xfrm>
              <a:off x="1764254" y="3173897"/>
              <a:ext cx="592230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39" name="文本框 38"/>
            <p:cNvSpPr txBox="1"/>
            <p:nvPr/>
          </p:nvSpPr>
          <p:spPr>
            <a:xfrm>
              <a:off x="1693536" y="3231866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DDoS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cxnSp>
        <p:nvCxnSpPr>
          <p:cNvPr id="40" name="直接箭头连接符 39"/>
          <p:cNvCxnSpPr/>
          <p:nvPr/>
        </p:nvCxnSpPr>
        <p:spPr>
          <a:xfrm flipV="1">
            <a:off x="2916998" y="4572833"/>
            <a:ext cx="1248386" cy="220350"/>
          </a:xfrm>
          <a:prstGeom prst="straightConnector1">
            <a:avLst/>
          </a:prstGeom>
          <a:noFill/>
          <a:ln w="12700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1" name="文本框 40"/>
          <p:cNvSpPr txBox="1"/>
          <p:nvPr/>
        </p:nvSpPr>
        <p:spPr>
          <a:xfrm>
            <a:off x="3224087" y="4765937"/>
            <a:ext cx="778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DDoS</a:t>
            </a:r>
            <a:endParaRPr lang="zh-CN" alt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任意多边形 42"/>
          <p:cNvSpPr/>
          <p:nvPr/>
        </p:nvSpPr>
        <p:spPr>
          <a:xfrm>
            <a:off x="2864436" y="3633524"/>
            <a:ext cx="892059" cy="1057537"/>
          </a:xfrm>
          <a:custGeom>
            <a:avLst/>
            <a:gdLst>
              <a:gd name="connsiteX0" fmla="*/ 0 w 799285"/>
              <a:gd name="connsiteY0" fmla="*/ 956441 h 956441"/>
              <a:gd name="connsiteX1" fmla="*/ 798786 w 799285"/>
              <a:gd name="connsiteY1" fmla="*/ 704193 h 956441"/>
              <a:gd name="connsiteX2" fmla="*/ 94593 w 799285"/>
              <a:gd name="connsiteY2" fmla="*/ 0 h 956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9285" h="956441">
                <a:moveTo>
                  <a:pt x="0" y="956441"/>
                </a:moveTo>
                <a:cubicBezTo>
                  <a:pt x="391510" y="910020"/>
                  <a:pt x="783021" y="863600"/>
                  <a:pt x="798786" y="704193"/>
                </a:cubicBezTo>
                <a:cubicBezTo>
                  <a:pt x="814552" y="544786"/>
                  <a:pt x="454572" y="272393"/>
                  <a:pt x="94593" y="0"/>
                </a:cubicBezTo>
              </a:path>
            </a:pathLst>
          </a:custGeom>
          <a:noFill/>
          <a:ln w="28575" cap="flat" cmpd="sng" algn="ctr">
            <a:solidFill>
              <a:srgbClr val="5B9BD5"/>
            </a:solidFill>
            <a:prstDash val="dash"/>
            <a:miter lim="800000"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grpSp>
        <p:nvGrpSpPr>
          <p:cNvPr id="44" name="组合 43"/>
          <p:cNvGrpSpPr/>
          <p:nvPr/>
        </p:nvGrpSpPr>
        <p:grpSpPr>
          <a:xfrm>
            <a:off x="1785891" y="2358129"/>
            <a:ext cx="5667533" cy="3583215"/>
            <a:chOff x="1785891" y="2358129"/>
            <a:chExt cx="5667533" cy="3583215"/>
          </a:xfrm>
        </p:grpSpPr>
        <p:grpSp>
          <p:nvGrpSpPr>
            <p:cNvPr id="45" name="组合 44"/>
            <p:cNvGrpSpPr/>
            <p:nvPr/>
          </p:nvGrpSpPr>
          <p:grpSpPr>
            <a:xfrm>
              <a:off x="1785891" y="2383475"/>
              <a:ext cx="5667533" cy="3557869"/>
              <a:chOff x="2172543" y="2671636"/>
              <a:chExt cx="5078111" cy="3217751"/>
            </a:xfrm>
          </p:grpSpPr>
          <p:sp>
            <p:nvSpPr>
              <p:cNvPr id="48" name="云形 47"/>
              <p:cNvSpPr/>
              <p:nvPr/>
            </p:nvSpPr>
            <p:spPr>
              <a:xfrm>
                <a:off x="2710928" y="2883048"/>
                <a:ext cx="1452281" cy="949873"/>
              </a:xfrm>
              <a:prstGeom prst="cloud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" name="云形 48"/>
              <p:cNvSpPr/>
              <p:nvPr/>
            </p:nvSpPr>
            <p:spPr>
              <a:xfrm>
                <a:off x="4044877" y="3001384"/>
                <a:ext cx="3205777" cy="1957891"/>
              </a:xfrm>
              <a:prstGeom prst="cloud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China Telecom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pic>
            <p:nvPicPr>
              <p:cNvPr id="50" name="图片 49"/>
              <p:cNvPicPr>
                <a:picLocks noChangeAspect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35107" y="3289423"/>
                <a:ext cx="593737" cy="543498"/>
              </a:xfrm>
              <a:prstGeom prst="rect">
                <a:avLst/>
              </a:prstGeom>
            </p:spPr>
          </p:pic>
          <p:pic>
            <p:nvPicPr>
              <p:cNvPr id="51" name="图片 50"/>
              <p:cNvPicPr>
                <a:picLocks noChangeAspect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44761" y="4355412"/>
                <a:ext cx="620237" cy="567756"/>
              </a:xfrm>
              <a:prstGeom prst="rect">
                <a:avLst/>
              </a:prstGeom>
            </p:spPr>
          </p:pic>
          <p:pic>
            <p:nvPicPr>
              <p:cNvPr id="52" name="图片 51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72543" y="4651699"/>
                <a:ext cx="615833" cy="814594"/>
              </a:xfrm>
              <a:prstGeom prst="rect">
                <a:avLst/>
              </a:prstGeom>
            </p:spPr>
          </p:pic>
          <p:pic>
            <p:nvPicPr>
              <p:cNvPr id="53" name="图片 52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71409" y="4543375"/>
                <a:ext cx="553923" cy="814593"/>
              </a:xfrm>
              <a:prstGeom prst="rect">
                <a:avLst/>
              </a:prstGeom>
            </p:spPr>
          </p:pic>
          <p:pic>
            <p:nvPicPr>
              <p:cNvPr id="54" name="图片 53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6741" y="4597537"/>
                <a:ext cx="576732" cy="814593"/>
              </a:xfrm>
              <a:prstGeom prst="rect">
                <a:avLst/>
              </a:prstGeom>
            </p:spPr>
          </p:pic>
          <p:pic>
            <p:nvPicPr>
              <p:cNvPr id="55" name="图片 5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90235" y="4705861"/>
                <a:ext cx="534373" cy="814593"/>
              </a:xfrm>
              <a:prstGeom prst="rect">
                <a:avLst/>
              </a:prstGeom>
            </p:spPr>
          </p:pic>
          <p:sp>
            <p:nvSpPr>
              <p:cNvPr id="56" name="文本框 55"/>
              <p:cNvSpPr txBox="1"/>
              <p:nvPr/>
            </p:nvSpPr>
            <p:spPr>
              <a:xfrm>
                <a:off x="2324800" y="5555362"/>
                <a:ext cx="732797" cy="3340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Clients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57" name="文本框 56"/>
              <p:cNvSpPr txBox="1"/>
              <p:nvPr/>
            </p:nvSpPr>
            <p:spPr>
              <a:xfrm>
                <a:off x="2324800" y="2671636"/>
                <a:ext cx="1399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DNSPod.com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pic>
          <p:nvPicPr>
            <p:cNvPr id="46" name="Picture 2" descr=" 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6645" y="2358129"/>
              <a:ext cx="529959" cy="5299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12" descr="手柄icon 的图像结果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1283" y="2795146"/>
              <a:ext cx="763502" cy="7635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8" name="图片 5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1578" y="3064022"/>
            <a:ext cx="646691" cy="7396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1" grpId="0"/>
      <p:bldP spid="4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如何缓解</a:t>
            </a:r>
            <a:r>
              <a:rPr lang="en-US" altLang="zh-CN" dirty="0"/>
              <a:t>DDoS</a:t>
            </a:r>
            <a:r>
              <a:rPr lang="zh-CN" altLang="en-US" dirty="0"/>
              <a:t>问题？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5" name="云形 4"/>
          <p:cNvSpPr/>
          <p:nvPr/>
        </p:nvSpPr>
        <p:spPr>
          <a:xfrm>
            <a:off x="762000" y="3109345"/>
            <a:ext cx="1724628" cy="1261641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云形 5"/>
          <p:cNvSpPr/>
          <p:nvPr/>
        </p:nvSpPr>
        <p:spPr>
          <a:xfrm>
            <a:off x="2617032" y="3476473"/>
            <a:ext cx="1724628" cy="1261641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云形 6"/>
          <p:cNvSpPr/>
          <p:nvPr/>
        </p:nvSpPr>
        <p:spPr>
          <a:xfrm>
            <a:off x="2249347" y="2083056"/>
            <a:ext cx="1863524" cy="1261642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579" y="1677943"/>
            <a:ext cx="1141272" cy="114127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2" t="6878" r="11372" b="11773"/>
          <a:stretch>
            <a:fillRect/>
          </a:stretch>
        </p:blipFill>
        <p:spPr>
          <a:xfrm>
            <a:off x="3835078" y="1511780"/>
            <a:ext cx="528773" cy="5712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895661"/>
            <a:ext cx="539013" cy="79266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048061"/>
            <a:ext cx="539013" cy="79266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4200461"/>
            <a:ext cx="539013" cy="792666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235882" y="4066186"/>
            <a:ext cx="588792" cy="86587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388282" y="4218586"/>
            <a:ext cx="588792" cy="86587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40682" y="4370986"/>
            <a:ext cx="588792" cy="865870"/>
          </a:xfrm>
          <a:prstGeom prst="rect">
            <a:avLst/>
          </a:prstGeom>
        </p:spPr>
      </p:pic>
      <p:sp>
        <p:nvSpPr>
          <p:cNvPr id="17" name="任意多边形 16"/>
          <p:cNvSpPr/>
          <p:nvPr/>
        </p:nvSpPr>
        <p:spPr>
          <a:xfrm>
            <a:off x="860385" y="2441872"/>
            <a:ext cx="2627453" cy="1608881"/>
          </a:xfrm>
          <a:custGeom>
            <a:avLst/>
            <a:gdLst>
              <a:gd name="connsiteX0" fmla="*/ 0 w 2627453"/>
              <a:gd name="connsiteY0" fmla="*/ 1608881 h 1608881"/>
              <a:gd name="connsiteX1" fmla="*/ 1585731 w 2627453"/>
              <a:gd name="connsiteY1" fmla="*/ 972274 h 1608881"/>
              <a:gd name="connsiteX2" fmla="*/ 2627453 w 2627453"/>
              <a:gd name="connsiteY2" fmla="*/ 0 h 1608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27453" h="1608881">
                <a:moveTo>
                  <a:pt x="0" y="1608881"/>
                </a:moveTo>
                <a:cubicBezTo>
                  <a:pt x="573911" y="1424651"/>
                  <a:pt x="1147822" y="1240421"/>
                  <a:pt x="1585731" y="972274"/>
                </a:cubicBezTo>
                <a:cubicBezTo>
                  <a:pt x="2023640" y="704127"/>
                  <a:pt x="2325546" y="352063"/>
                  <a:pt x="2627453" y="0"/>
                </a:cubicBezTo>
              </a:path>
            </a:pathLst>
          </a:custGeom>
          <a:noFill/>
          <a:ln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1022430" y="2511321"/>
            <a:ext cx="2465408" cy="1736202"/>
          </a:xfrm>
          <a:custGeom>
            <a:avLst/>
            <a:gdLst>
              <a:gd name="connsiteX0" fmla="*/ 0 w 2465408"/>
              <a:gd name="connsiteY0" fmla="*/ 1736202 h 1736202"/>
              <a:gd name="connsiteX1" fmla="*/ 1539433 w 2465408"/>
              <a:gd name="connsiteY1" fmla="*/ 949124 h 1736202"/>
              <a:gd name="connsiteX2" fmla="*/ 2465408 w 2465408"/>
              <a:gd name="connsiteY2" fmla="*/ 0 h 1736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65408" h="1736202">
                <a:moveTo>
                  <a:pt x="0" y="1736202"/>
                </a:moveTo>
                <a:cubicBezTo>
                  <a:pt x="564266" y="1487346"/>
                  <a:pt x="1128532" y="1238491"/>
                  <a:pt x="1539433" y="949124"/>
                </a:cubicBezTo>
                <a:cubicBezTo>
                  <a:pt x="1950334" y="659757"/>
                  <a:pt x="2207871" y="329878"/>
                  <a:pt x="2465408" y="0"/>
                </a:cubicBezTo>
              </a:path>
            </a:pathLst>
          </a:custGeom>
          <a:noFill/>
          <a:ln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/>
        </p:nvSpPr>
        <p:spPr>
          <a:xfrm>
            <a:off x="1219200" y="2592343"/>
            <a:ext cx="2314937" cy="1851950"/>
          </a:xfrm>
          <a:custGeom>
            <a:avLst/>
            <a:gdLst>
              <a:gd name="connsiteX0" fmla="*/ 0 w 2314937"/>
              <a:gd name="connsiteY0" fmla="*/ 1851950 h 1851950"/>
              <a:gd name="connsiteX1" fmla="*/ 1423686 w 2314937"/>
              <a:gd name="connsiteY1" fmla="*/ 891251 h 1851950"/>
              <a:gd name="connsiteX2" fmla="*/ 2314937 w 2314937"/>
              <a:gd name="connsiteY2" fmla="*/ 0 h 185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14937" h="1851950">
                <a:moveTo>
                  <a:pt x="0" y="1851950"/>
                </a:moveTo>
                <a:cubicBezTo>
                  <a:pt x="518931" y="1525929"/>
                  <a:pt x="1037863" y="1199909"/>
                  <a:pt x="1423686" y="891251"/>
                </a:cubicBezTo>
                <a:cubicBezTo>
                  <a:pt x="1809509" y="582593"/>
                  <a:pt x="2062223" y="291296"/>
                  <a:pt x="2314937" y="0"/>
                </a:cubicBezTo>
              </a:path>
            </a:pathLst>
          </a:custGeom>
          <a:noFill/>
          <a:ln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>
            <a:off x="3509057" y="2522895"/>
            <a:ext cx="94527" cy="1563916"/>
          </a:xfrm>
          <a:custGeom>
            <a:avLst/>
            <a:gdLst>
              <a:gd name="connsiteX0" fmla="*/ 0 w 196770"/>
              <a:gd name="connsiteY0" fmla="*/ 1759352 h 1759352"/>
              <a:gd name="connsiteX1" fmla="*/ 196770 w 196770"/>
              <a:gd name="connsiteY1" fmla="*/ 0 h 175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6770" h="1759352">
                <a:moveTo>
                  <a:pt x="0" y="1759352"/>
                </a:moveTo>
                <a:lnTo>
                  <a:pt x="196770" y="0"/>
                </a:lnTo>
              </a:path>
            </a:pathLst>
          </a:custGeom>
          <a:noFill/>
          <a:ln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/>
        </p:nvSpPr>
        <p:spPr>
          <a:xfrm>
            <a:off x="3661458" y="2580770"/>
            <a:ext cx="45719" cy="1701478"/>
          </a:xfrm>
          <a:custGeom>
            <a:avLst/>
            <a:gdLst>
              <a:gd name="connsiteX0" fmla="*/ 92598 w 92598"/>
              <a:gd name="connsiteY0" fmla="*/ 1713053 h 1713053"/>
              <a:gd name="connsiteX1" fmla="*/ 0 w 92598"/>
              <a:gd name="connsiteY1" fmla="*/ 0 h 1713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2598" h="1713053">
                <a:moveTo>
                  <a:pt x="92598" y="1713053"/>
                </a:moveTo>
                <a:lnTo>
                  <a:pt x="0" y="0"/>
                </a:lnTo>
              </a:path>
            </a:pathLst>
          </a:custGeom>
          <a:noFill/>
          <a:ln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>
            <a:off x="3787632" y="2550806"/>
            <a:ext cx="37042" cy="1944547"/>
          </a:xfrm>
          <a:custGeom>
            <a:avLst/>
            <a:gdLst>
              <a:gd name="connsiteX0" fmla="*/ 37042 w 37042"/>
              <a:gd name="connsiteY0" fmla="*/ 1944547 h 1944547"/>
              <a:gd name="connsiteX1" fmla="*/ 2317 w 37042"/>
              <a:gd name="connsiteY1" fmla="*/ 0 h 1944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042" h="1944547">
                <a:moveTo>
                  <a:pt x="37042" y="1944547"/>
                </a:moveTo>
                <a:cubicBezTo>
                  <a:pt x="14857" y="1105382"/>
                  <a:pt x="-7328" y="266218"/>
                  <a:pt x="2317" y="0"/>
                </a:cubicBezTo>
              </a:path>
            </a:pathLst>
          </a:custGeom>
          <a:noFill/>
          <a:ln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2" t="6878" r="11372" b="11773"/>
          <a:stretch>
            <a:fillRect/>
          </a:stretch>
        </p:blipFill>
        <p:spPr>
          <a:xfrm>
            <a:off x="3835078" y="1504226"/>
            <a:ext cx="528773" cy="57127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2" t="6878" r="11372" b="11773"/>
          <a:stretch>
            <a:fillRect/>
          </a:stretch>
        </p:blipFill>
        <p:spPr>
          <a:xfrm>
            <a:off x="3835078" y="1505769"/>
            <a:ext cx="528773" cy="571275"/>
          </a:xfrm>
          <a:prstGeom prst="rect">
            <a:avLst/>
          </a:prstGeom>
        </p:spPr>
      </p:pic>
      <p:sp>
        <p:nvSpPr>
          <p:cNvPr id="25" name="下箭头 24"/>
          <p:cNvSpPr/>
          <p:nvPr/>
        </p:nvSpPr>
        <p:spPr>
          <a:xfrm rot="3360000" flipV="1">
            <a:off x="1298752" y="3902039"/>
            <a:ext cx="144000" cy="612000"/>
          </a:xfrm>
          <a:prstGeom prst="downArrow">
            <a:avLst>
              <a:gd name="adj1" fmla="val 50000"/>
              <a:gd name="adj2" fmla="val 167188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下箭头 25"/>
          <p:cNvSpPr/>
          <p:nvPr/>
        </p:nvSpPr>
        <p:spPr>
          <a:xfrm rot="-2460000" flipV="1">
            <a:off x="3206788" y="3937762"/>
            <a:ext cx="144000" cy="612000"/>
          </a:xfrm>
          <a:prstGeom prst="downArrow">
            <a:avLst>
              <a:gd name="adj1" fmla="val 50000"/>
              <a:gd name="adj2" fmla="val 167188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206290" y="5416453"/>
            <a:ext cx="4355549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利用缓存等技术，对服务请求进行聚合，拉近用户与资源的距离</a:t>
            </a:r>
            <a:endParaRPr lang="zh-CN" altLang="en-US" dirty="0"/>
          </a:p>
        </p:txBody>
      </p:sp>
      <p:grpSp>
        <p:nvGrpSpPr>
          <p:cNvPr id="49" name="组合 48"/>
          <p:cNvGrpSpPr/>
          <p:nvPr/>
        </p:nvGrpSpPr>
        <p:grpSpPr>
          <a:xfrm>
            <a:off x="5150339" y="2477624"/>
            <a:ext cx="2673752" cy="2002421"/>
            <a:chOff x="5150339" y="2477624"/>
            <a:chExt cx="2673752" cy="2002421"/>
          </a:xfrm>
        </p:grpSpPr>
        <p:sp>
          <p:nvSpPr>
            <p:cNvPr id="38" name="任意多边形 37"/>
            <p:cNvSpPr/>
            <p:nvPr/>
          </p:nvSpPr>
          <p:spPr>
            <a:xfrm>
              <a:off x="5150339" y="2477624"/>
              <a:ext cx="2627453" cy="1608881"/>
            </a:xfrm>
            <a:custGeom>
              <a:avLst/>
              <a:gdLst>
                <a:gd name="connsiteX0" fmla="*/ 0 w 2627453"/>
                <a:gd name="connsiteY0" fmla="*/ 1608881 h 1608881"/>
                <a:gd name="connsiteX1" fmla="*/ 1585731 w 2627453"/>
                <a:gd name="connsiteY1" fmla="*/ 972274 h 1608881"/>
                <a:gd name="connsiteX2" fmla="*/ 2627453 w 2627453"/>
                <a:gd name="connsiteY2" fmla="*/ 0 h 1608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7453" h="1608881">
                  <a:moveTo>
                    <a:pt x="0" y="1608881"/>
                  </a:moveTo>
                  <a:cubicBezTo>
                    <a:pt x="573911" y="1424651"/>
                    <a:pt x="1147822" y="1240421"/>
                    <a:pt x="1585731" y="972274"/>
                  </a:cubicBezTo>
                  <a:cubicBezTo>
                    <a:pt x="2023640" y="704127"/>
                    <a:pt x="2325546" y="352063"/>
                    <a:pt x="2627453" y="0"/>
                  </a:cubicBezTo>
                </a:path>
              </a:pathLst>
            </a:custGeom>
            <a:noFill/>
            <a:ln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任意多边形 38"/>
            <p:cNvSpPr/>
            <p:nvPr/>
          </p:nvSpPr>
          <p:spPr>
            <a:xfrm>
              <a:off x="5312384" y="2547073"/>
              <a:ext cx="2465408" cy="1736202"/>
            </a:xfrm>
            <a:custGeom>
              <a:avLst/>
              <a:gdLst>
                <a:gd name="connsiteX0" fmla="*/ 0 w 2465408"/>
                <a:gd name="connsiteY0" fmla="*/ 1736202 h 1736202"/>
                <a:gd name="connsiteX1" fmla="*/ 1539433 w 2465408"/>
                <a:gd name="connsiteY1" fmla="*/ 949124 h 1736202"/>
                <a:gd name="connsiteX2" fmla="*/ 2465408 w 2465408"/>
                <a:gd name="connsiteY2" fmla="*/ 0 h 1736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65408" h="1736202">
                  <a:moveTo>
                    <a:pt x="0" y="1736202"/>
                  </a:moveTo>
                  <a:cubicBezTo>
                    <a:pt x="564266" y="1487346"/>
                    <a:pt x="1128532" y="1238491"/>
                    <a:pt x="1539433" y="949124"/>
                  </a:cubicBezTo>
                  <a:cubicBezTo>
                    <a:pt x="1950334" y="659757"/>
                    <a:pt x="2207871" y="329878"/>
                    <a:pt x="2465408" y="0"/>
                  </a:cubicBezTo>
                </a:path>
              </a:pathLst>
            </a:custGeom>
            <a:noFill/>
            <a:ln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任意多边形 39"/>
            <p:cNvSpPr/>
            <p:nvPr/>
          </p:nvSpPr>
          <p:spPr>
            <a:xfrm>
              <a:off x="5509154" y="2628095"/>
              <a:ext cx="2314937" cy="1851950"/>
            </a:xfrm>
            <a:custGeom>
              <a:avLst/>
              <a:gdLst>
                <a:gd name="connsiteX0" fmla="*/ 0 w 2314937"/>
                <a:gd name="connsiteY0" fmla="*/ 1851950 h 1851950"/>
                <a:gd name="connsiteX1" fmla="*/ 1423686 w 2314937"/>
                <a:gd name="connsiteY1" fmla="*/ 891251 h 1851950"/>
                <a:gd name="connsiteX2" fmla="*/ 2314937 w 2314937"/>
                <a:gd name="connsiteY2" fmla="*/ 0 h 185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14937" h="1851950">
                  <a:moveTo>
                    <a:pt x="0" y="1851950"/>
                  </a:moveTo>
                  <a:cubicBezTo>
                    <a:pt x="518931" y="1525929"/>
                    <a:pt x="1037863" y="1199909"/>
                    <a:pt x="1423686" y="891251"/>
                  </a:cubicBezTo>
                  <a:cubicBezTo>
                    <a:pt x="1809509" y="582593"/>
                    <a:pt x="2062223" y="291296"/>
                    <a:pt x="2314937" y="0"/>
                  </a:cubicBezTo>
                </a:path>
              </a:pathLst>
            </a:custGeom>
            <a:noFill/>
            <a:ln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7799011" y="2558647"/>
            <a:ext cx="315617" cy="1972458"/>
            <a:chOff x="7799011" y="2558647"/>
            <a:chExt cx="315617" cy="1972458"/>
          </a:xfrm>
        </p:grpSpPr>
        <p:sp>
          <p:nvSpPr>
            <p:cNvPr id="41" name="任意多边形 40"/>
            <p:cNvSpPr/>
            <p:nvPr/>
          </p:nvSpPr>
          <p:spPr>
            <a:xfrm>
              <a:off x="7799011" y="2558647"/>
              <a:ext cx="94527" cy="1563916"/>
            </a:xfrm>
            <a:custGeom>
              <a:avLst/>
              <a:gdLst>
                <a:gd name="connsiteX0" fmla="*/ 0 w 196770"/>
                <a:gd name="connsiteY0" fmla="*/ 1759352 h 1759352"/>
                <a:gd name="connsiteX1" fmla="*/ 196770 w 196770"/>
                <a:gd name="connsiteY1" fmla="*/ 0 h 1759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6770" h="1759352">
                  <a:moveTo>
                    <a:pt x="0" y="1759352"/>
                  </a:moveTo>
                  <a:lnTo>
                    <a:pt x="196770" y="0"/>
                  </a:lnTo>
                </a:path>
              </a:pathLst>
            </a:custGeom>
            <a:noFill/>
            <a:ln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任意多边形 41"/>
            <p:cNvSpPr/>
            <p:nvPr/>
          </p:nvSpPr>
          <p:spPr>
            <a:xfrm>
              <a:off x="7951412" y="2616522"/>
              <a:ext cx="45719" cy="1701478"/>
            </a:xfrm>
            <a:custGeom>
              <a:avLst/>
              <a:gdLst>
                <a:gd name="connsiteX0" fmla="*/ 92598 w 92598"/>
                <a:gd name="connsiteY0" fmla="*/ 1713053 h 1713053"/>
                <a:gd name="connsiteX1" fmla="*/ 0 w 92598"/>
                <a:gd name="connsiteY1" fmla="*/ 0 h 1713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598" h="1713053">
                  <a:moveTo>
                    <a:pt x="92598" y="1713053"/>
                  </a:moveTo>
                  <a:lnTo>
                    <a:pt x="0" y="0"/>
                  </a:lnTo>
                </a:path>
              </a:pathLst>
            </a:custGeom>
            <a:noFill/>
            <a:ln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任意多边形 42"/>
            <p:cNvSpPr/>
            <p:nvPr/>
          </p:nvSpPr>
          <p:spPr>
            <a:xfrm>
              <a:off x="8077586" y="2586558"/>
              <a:ext cx="37042" cy="1944547"/>
            </a:xfrm>
            <a:custGeom>
              <a:avLst/>
              <a:gdLst>
                <a:gd name="connsiteX0" fmla="*/ 37042 w 37042"/>
                <a:gd name="connsiteY0" fmla="*/ 1944547 h 1944547"/>
                <a:gd name="connsiteX1" fmla="*/ 2317 w 37042"/>
                <a:gd name="connsiteY1" fmla="*/ 0 h 1944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042" h="1944547">
                  <a:moveTo>
                    <a:pt x="37042" y="1944547"/>
                  </a:moveTo>
                  <a:cubicBezTo>
                    <a:pt x="14857" y="1105382"/>
                    <a:pt x="-7328" y="266218"/>
                    <a:pt x="2317" y="0"/>
                  </a:cubicBezTo>
                </a:path>
              </a:pathLst>
            </a:custGeom>
            <a:noFill/>
            <a:ln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4" name="下箭头 43"/>
          <p:cNvSpPr/>
          <p:nvPr/>
        </p:nvSpPr>
        <p:spPr>
          <a:xfrm rot="-7800000" flipV="1">
            <a:off x="6607940" y="2965230"/>
            <a:ext cx="144000" cy="612000"/>
          </a:xfrm>
          <a:prstGeom prst="downArrow">
            <a:avLst>
              <a:gd name="adj1" fmla="val 50000"/>
              <a:gd name="adj2" fmla="val 16718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8" name="组合 47"/>
          <p:cNvGrpSpPr/>
          <p:nvPr/>
        </p:nvGrpSpPr>
        <p:grpSpPr>
          <a:xfrm>
            <a:off x="4747154" y="1581920"/>
            <a:ext cx="3936660" cy="3690688"/>
            <a:chOff x="4747154" y="1581920"/>
            <a:chExt cx="3936660" cy="3690688"/>
          </a:xfrm>
        </p:grpSpPr>
        <p:sp>
          <p:nvSpPr>
            <p:cNvPr id="28" name="云形 27"/>
            <p:cNvSpPr/>
            <p:nvPr/>
          </p:nvSpPr>
          <p:spPr>
            <a:xfrm>
              <a:off x="5051954" y="3145097"/>
              <a:ext cx="1724628" cy="1261641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云形 28"/>
            <p:cNvSpPr/>
            <p:nvPr/>
          </p:nvSpPr>
          <p:spPr>
            <a:xfrm>
              <a:off x="6906986" y="3512225"/>
              <a:ext cx="1724628" cy="1261641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云形 29"/>
            <p:cNvSpPr/>
            <p:nvPr/>
          </p:nvSpPr>
          <p:spPr>
            <a:xfrm>
              <a:off x="6539301" y="2118808"/>
              <a:ext cx="1863524" cy="1261642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2533" y="1713695"/>
              <a:ext cx="1141272" cy="1141272"/>
            </a:xfrm>
            <a:prstGeom prst="rect">
              <a:avLst/>
            </a:prstGeom>
          </p:spPr>
        </p:pic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7154" y="3931413"/>
              <a:ext cx="539013" cy="792666"/>
            </a:xfrm>
            <a:prstGeom prst="rect">
              <a:avLst/>
            </a:prstGeom>
          </p:spPr>
        </p:pic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99554" y="4083813"/>
              <a:ext cx="539013" cy="792666"/>
            </a:xfrm>
            <a:prstGeom prst="rect">
              <a:avLst/>
            </a:prstGeom>
          </p:spPr>
        </p:pic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51954" y="4236213"/>
              <a:ext cx="539013" cy="792666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5836" y="4101938"/>
              <a:ext cx="588792" cy="865870"/>
            </a:xfrm>
            <a:prstGeom prst="rect">
              <a:avLst/>
            </a:prstGeom>
          </p:spPr>
        </p:pic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678236" y="4254338"/>
              <a:ext cx="588792" cy="865870"/>
            </a:xfrm>
            <a:prstGeom prst="rect">
              <a:avLst/>
            </a:prstGeom>
          </p:spPr>
        </p:pic>
        <p:pic>
          <p:nvPicPr>
            <p:cNvPr id="37" name="图片 3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830636" y="4406738"/>
              <a:ext cx="588792" cy="865870"/>
            </a:xfrm>
            <a:prstGeom prst="rect">
              <a:avLst/>
            </a:prstGeom>
          </p:spPr>
        </p:pic>
        <p:pic>
          <p:nvPicPr>
            <p:cNvPr id="46" name="图片 45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32" t="6878" r="11372" b="11773"/>
            <a:stretch>
              <a:fillRect/>
            </a:stretch>
          </p:blipFill>
          <p:spPr>
            <a:xfrm>
              <a:off x="8155041" y="1581920"/>
              <a:ext cx="528773" cy="571275"/>
            </a:xfrm>
            <a:prstGeom prst="rect">
              <a:avLst/>
            </a:prstGeom>
          </p:spPr>
        </p:pic>
      </p:grpSp>
      <p:sp>
        <p:nvSpPr>
          <p:cNvPr id="51" name="文本框 50"/>
          <p:cNvSpPr txBox="1"/>
          <p:nvPr/>
        </p:nvSpPr>
        <p:spPr>
          <a:xfrm>
            <a:off x="5914268" y="2854967"/>
            <a:ext cx="1811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Shut Up Message</a:t>
            </a:r>
            <a:endParaRPr lang="zh-CN" altLang="en-US" dirty="0"/>
          </a:p>
        </p:txBody>
      </p:sp>
      <p:sp>
        <p:nvSpPr>
          <p:cNvPr id="52" name="文本框 51"/>
          <p:cNvSpPr txBox="1"/>
          <p:nvPr/>
        </p:nvSpPr>
        <p:spPr>
          <a:xfrm>
            <a:off x="1453413" y="4379298"/>
            <a:ext cx="1425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New Request</a:t>
            </a:r>
            <a:endParaRPr lang="zh-CN" altLang="en-US" dirty="0"/>
          </a:p>
        </p:txBody>
      </p:sp>
      <p:sp>
        <p:nvSpPr>
          <p:cNvPr id="53" name="文本框 52"/>
          <p:cNvSpPr txBox="1"/>
          <p:nvPr/>
        </p:nvSpPr>
        <p:spPr>
          <a:xfrm>
            <a:off x="4777633" y="5399416"/>
            <a:ext cx="4163167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域间实现</a:t>
            </a:r>
            <a:r>
              <a:rPr lang="en-US" altLang="zh-CN" dirty="0"/>
              <a:t>Shut Up Message</a:t>
            </a:r>
            <a:r>
              <a:rPr lang="zh-CN" altLang="en-US" dirty="0"/>
              <a:t>机制，被攻击者发送该消息，通知对方停止发送服务请求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3.7037E-7 L -0.24948 0.321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483" y="1606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1.11111E-6 L -0.12569 0.3252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85" y="162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5" grpId="0" animBg="1"/>
      <p:bldP spid="26" grpId="0" animBg="1"/>
      <p:bldP spid="44" grpId="0" animBg="1"/>
      <p:bldP spid="51" grpId="0"/>
      <p:bldP spid="52" grpId="0"/>
      <p:bldP spid="5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互联网传输性能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zh-CN" altLang="en-US" dirty="0"/>
              <a:t>传输性能是互联网最核心的指标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有时网络系统设计为了性能会忽略安全等其他指标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  <a:p>
            <a:pPr>
              <a:spcBef>
                <a:spcPts val="0"/>
              </a:spcBef>
            </a:pPr>
            <a:r>
              <a:rPr lang="zh-CN" altLang="en-US" dirty="0"/>
              <a:t>传输性能，既决定了用户体验，同时也影响了企业营收</a:t>
            </a:r>
            <a:endParaRPr lang="en-US" altLang="zh-CN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796902" y="3962399"/>
          <a:ext cx="4993758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251"/>
                <a:gridCol w="1531088"/>
                <a:gridCol w="1878419"/>
              </a:tblGrid>
              <a:tr h="370840">
                <a:tc>
                  <a:txBody>
                    <a:bodyPr/>
                    <a:lstStyle/>
                    <a:p>
                      <a:endParaRPr lang="zh-CN" altLang="en-US" sz="2000" dirty="0"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a typeface="黑体" panose="02010609060101010101" pitchFamily="49" charset="-122"/>
                        </a:rPr>
                        <a:t>延迟</a:t>
                      </a:r>
                      <a:endParaRPr lang="zh-CN" altLang="en-US" sz="2000" dirty="0"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a typeface="黑体" panose="02010609060101010101" pitchFamily="49" charset="-122"/>
                        </a:rPr>
                        <a:t>结果</a:t>
                      </a:r>
                      <a:endParaRPr lang="zh-CN" altLang="en-US" sz="2000" dirty="0">
                        <a:ea typeface="黑体" panose="02010609060101010101" pitchFamily="49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ea typeface="黑体" panose="02010609060101010101" pitchFamily="49" charset="-122"/>
                        </a:rPr>
                        <a:t>Amazon</a:t>
                      </a:r>
                      <a:endParaRPr lang="zh-CN" altLang="en-US" sz="2000" dirty="0"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ea typeface="黑体" panose="02010609060101010101" pitchFamily="49" charset="-122"/>
                        </a:rPr>
                        <a:t>+100ms</a:t>
                      </a:r>
                      <a:endParaRPr lang="zh-CN" altLang="en-US" sz="2000" dirty="0"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ea typeface="黑体" panose="02010609060101010101" pitchFamily="49" charset="-122"/>
                        </a:rPr>
                        <a:t>-1.0%</a:t>
                      </a:r>
                      <a:r>
                        <a:rPr lang="en-US" altLang="zh-CN" sz="2000" baseline="0" dirty="0">
                          <a:ea typeface="黑体" panose="02010609060101010101" pitchFamily="49" charset="-122"/>
                        </a:rPr>
                        <a:t> </a:t>
                      </a:r>
                      <a:r>
                        <a:rPr lang="zh-CN" altLang="en-US" sz="2000" baseline="0" dirty="0">
                          <a:ea typeface="黑体" panose="02010609060101010101" pitchFamily="49" charset="-122"/>
                        </a:rPr>
                        <a:t>营收额</a:t>
                      </a:r>
                      <a:endParaRPr lang="zh-CN" altLang="en-US" sz="2000" dirty="0">
                        <a:ea typeface="黑体" panose="02010609060101010101" pitchFamily="49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ea typeface="黑体" panose="02010609060101010101" pitchFamily="49" charset="-122"/>
                        </a:rPr>
                        <a:t>Bing</a:t>
                      </a:r>
                      <a:endParaRPr lang="zh-CN" altLang="en-US" sz="2000" dirty="0"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ea typeface="黑体" panose="02010609060101010101" pitchFamily="49" charset="-122"/>
                        </a:rPr>
                        <a:t>+500ms</a:t>
                      </a:r>
                      <a:endParaRPr lang="zh-CN" altLang="en-US" sz="2000" dirty="0"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ea typeface="黑体" panose="02010609060101010101" pitchFamily="49" charset="-122"/>
                        </a:rPr>
                        <a:t>-1.2% </a:t>
                      </a:r>
                      <a:r>
                        <a:rPr lang="zh-CN" altLang="en-US" sz="2000" dirty="0">
                          <a:ea typeface="黑体" panose="02010609060101010101" pitchFamily="49" charset="-122"/>
                        </a:rPr>
                        <a:t>营收额</a:t>
                      </a:r>
                      <a:endParaRPr lang="zh-CN" altLang="en-US" sz="2000" dirty="0">
                        <a:ea typeface="黑体" panose="02010609060101010101" pitchFamily="49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ea typeface="黑体" panose="02010609060101010101" pitchFamily="49" charset="-122"/>
                        </a:rPr>
                        <a:t>Google</a:t>
                      </a:r>
                      <a:endParaRPr lang="zh-CN" altLang="en-US" sz="2000" dirty="0"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ea typeface="黑体" panose="02010609060101010101" pitchFamily="49" charset="-122"/>
                        </a:rPr>
                        <a:t>+400ms</a:t>
                      </a:r>
                      <a:endParaRPr lang="zh-CN" altLang="en-US" sz="2000" dirty="0"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ea typeface="黑体" panose="02010609060101010101" pitchFamily="49" charset="-122"/>
                        </a:rPr>
                        <a:t>-0.7%</a:t>
                      </a:r>
                      <a:r>
                        <a:rPr lang="en-US" altLang="zh-CN" sz="2000" baseline="0" dirty="0">
                          <a:ea typeface="黑体" panose="02010609060101010101" pitchFamily="49" charset="-122"/>
                        </a:rPr>
                        <a:t> </a:t>
                      </a:r>
                      <a:r>
                        <a:rPr lang="zh-CN" altLang="en-US" sz="2000" baseline="0" dirty="0">
                          <a:ea typeface="黑体" panose="02010609060101010101" pitchFamily="49" charset="-122"/>
                        </a:rPr>
                        <a:t>搜索量</a:t>
                      </a:r>
                      <a:endParaRPr lang="zh-CN" altLang="en-US" sz="2000" dirty="0">
                        <a:ea typeface="黑体" panose="02010609060101010101" pitchFamily="49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互联网性能指标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60000"/>
              </a:lnSpc>
            </a:pPr>
            <a:r>
              <a:rPr lang="zh-CN" altLang="en-US" dirty="0"/>
              <a:t>不同应用有不同的性能指标</a:t>
            </a:r>
            <a:endParaRPr lang="en-US" altLang="zh-CN" dirty="0"/>
          </a:p>
          <a:p>
            <a:pPr>
              <a:lnSpc>
                <a:spcPct val="160000"/>
              </a:lnSpc>
            </a:pPr>
            <a:endParaRPr lang="en-US" altLang="zh-CN" dirty="0"/>
          </a:p>
          <a:p>
            <a:pPr>
              <a:lnSpc>
                <a:spcPct val="160000"/>
              </a:lnSpc>
            </a:pPr>
            <a:endParaRPr lang="en-US" altLang="zh-CN" dirty="0"/>
          </a:p>
          <a:p>
            <a:pPr>
              <a:lnSpc>
                <a:spcPct val="160000"/>
              </a:lnSpc>
            </a:pPr>
            <a:r>
              <a:rPr lang="zh-CN" altLang="en-US" dirty="0"/>
              <a:t>不同层关注不同的性能指标</a:t>
            </a:r>
            <a:endParaRPr lang="en-US" altLang="zh-CN" dirty="0"/>
          </a:p>
          <a:p>
            <a:pPr>
              <a:lnSpc>
                <a:spcPct val="160000"/>
              </a:lnSpc>
            </a:pPr>
            <a:endParaRPr lang="en-US" altLang="zh-CN" dirty="0"/>
          </a:p>
          <a:p>
            <a:pPr>
              <a:lnSpc>
                <a:spcPct val="160000"/>
              </a:lnSpc>
            </a:pPr>
            <a:endParaRPr lang="en-US" altLang="zh-CN" dirty="0"/>
          </a:p>
          <a:p>
            <a:pPr>
              <a:lnSpc>
                <a:spcPct val="160000"/>
              </a:lnSpc>
            </a:pPr>
            <a:endParaRPr lang="zh-CN" alt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265817" y="2102046"/>
            <a:ext cx="2133918" cy="1195985"/>
            <a:chOff x="340238" y="2346602"/>
            <a:chExt cx="2133918" cy="1195985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0088" y="2346602"/>
              <a:ext cx="733645" cy="733645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340238" y="3157866"/>
              <a:ext cx="2133918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900" dirty="0">
                  <a:latin typeface="楷体" panose="02010609060101010101" pitchFamily="49" charset="-122"/>
                  <a:ea typeface="楷体" panose="02010609060101010101" pitchFamily="49" charset="-122"/>
                </a:rPr>
                <a:t>缓冲、码率、卡顿</a:t>
              </a:r>
              <a:endParaRPr lang="zh-CN" altLang="en-US" sz="19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458236" y="2113769"/>
            <a:ext cx="1402948" cy="1162994"/>
            <a:chOff x="2202343" y="2358325"/>
            <a:chExt cx="1402948" cy="1162994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27526" y="2358325"/>
              <a:ext cx="779147" cy="623318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2202343" y="3136598"/>
              <a:ext cx="1402948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900" dirty="0">
                  <a:latin typeface="楷体" panose="02010609060101010101" pitchFamily="49" charset="-122"/>
                  <a:ea typeface="楷体" panose="02010609060101010101" pitchFamily="49" charset="-122"/>
                </a:rPr>
                <a:t>流完成时间</a:t>
              </a:r>
              <a:endParaRPr lang="zh-CN" altLang="en-US" sz="19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958155" y="2115588"/>
            <a:ext cx="915635" cy="1161178"/>
            <a:chOff x="3795279" y="2360144"/>
            <a:chExt cx="915635" cy="1161178"/>
          </a:xfrm>
        </p:grpSpPr>
        <p:pic>
          <p:nvPicPr>
            <p:cNvPr id="1026" name="Picture 2" descr="http://www.geek.com/wp-content/uploads/2011/04/ftp-big-icon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03563" y="2360144"/>
              <a:ext cx="660594" cy="5471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文本框 12"/>
            <p:cNvSpPr txBox="1"/>
            <p:nvPr/>
          </p:nvSpPr>
          <p:spPr>
            <a:xfrm>
              <a:off x="3795279" y="3136601"/>
              <a:ext cx="915635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900" dirty="0">
                  <a:latin typeface="楷体" panose="02010609060101010101" pitchFamily="49" charset="-122"/>
                  <a:ea typeface="楷体" panose="02010609060101010101" pitchFamily="49" charset="-122"/>
                </a:rPr>
                <a:t>吞吐率</a:t>
              </a:r>
              <a:endParaRPr lang="zh-CN" altLang="en-US" sz="19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113377" y="2113769"/>
            <a:ext cx="671979" cy="1162995"/>
            <a:chOff x="5199291" y="2358325"/>
            <a:chExt cx="671979" cy="1162995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47" t="9503" r="19547" b="9272"/>
            <a:stretch>
              <a:fillRect/>
            </a:stretch>
          </p:blipFill>
          <p:spPr>
            <a:xfrm>
              <a:off x="5251228" y="2358325"/>
              <a:ext cx="542457" cy="550770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5199291" y="3136599"/>
              <a:ext cx="671979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900" dirty="0">
                  <a:latin typeface="楷体" panose="02010609060101010101" pitchFamily="49" charset="-122"/>
                  <a:ea typeface="楷体" panose="02010609060101010101" pitchFamily="49" charset="-122"/>
                </a:rPr>
                <a:t>延迟</a:t>
              </a:r>
              <a:endParaRPr lang="zh-CN" altLang="en-US" sz="19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090925" y="2086381"/>
            <a:ext cx="1524776" cy="1201021"/>
            <a:chOff x="6463063" y="2330937"/>
            <a:chExt cx="1524776" cy="1201021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45" t="25441" r="10493" b="25364"/>
            <a:stretch>
              <a:fillRect/>
            </a:stretch>
          </p:blipFill>
          <p:spPr>
            <a:xfrm>
              <a:off x="6520398" y="2330937"/>
              <a:ext cx="1283898" cy="617888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6463063" y="3147237"/>
              <a:ext cx="1524776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900" dirty="0">
                  <a:latin typeface="楷体" panose="02010609060101010101" pitchFamily="49" charset="-122"/>
                  <a:ea typeface="楷体" panose="02010609060101010101" pitchFamily="49" charset="-122"/>
                </a:rPr>
                <a:t>吞吐率</a:t>
              </a:r>
              <a:r>
                <a:rPr lang="en-US" altLang="zh-CN" sz="1900" dirty="0">
                  <a:latin typeface="楷体" panose="02010609060101010101" pitchFamily="49" charset="-122"/>
                  <a:ea typeface="楷体" panose="02010609060101010101" pitchFamily="49" charset="-122"/>
                </a:rPr>
                <a:t>/</a:t>
              </a:r>
              <a:r>
                <a:rPr lang="zh-CN" altLang="en-US" sz="1900" dirty="0">
                  <a:latin typeface="楷体" panose="02010609060101010101" pitchFamily="49" charset="-122"/>
                  <a:ea typeface="楷体" panose="02010609060101010101" pitchFamily="49" charset="-122"/>
                </a:rPr>
                <a:t>延迟</a:t>
              </a:r>
              <a:endParaRPr lang="zh-CN" altLang="en-US" sz="19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7825561" y="216903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。。。</a:t>
            </a:r>
            <a:endParaRPr lang="zh-CN" altLang="en-US" dirty="0"/>
          </a:p>
        </p:txBody>
      </p:sp>
      <p:grpSp>
        <p:nvGrpSpPr>
          <p:cNvPr id="27" name="组合 26"/>
          <p:cNvGrpSpPr/>
          <p:nvPr/>
        </p:nvGrpSpPr>
        <p:grpSpPr>
          <a:xfrm>
            <a:off x="478470" y="4014373"/>
            <a:ext cx="2041451" cy="2543067"/>
            <a:chOff x="935667" y="4014373"/>
            <a:chExt cx="2041451" cy="2543067"/>
          </a:xfrm>
        </p:grpSpPr>
        <p:sp>
          <p:nvSpPr>
            <p:cNvPr id="21" name="梯形 20"/>
            <p:cNvSpPr/>
            <p:nvPr/>
          </p:nvSpPr>
          <p:spPr>
            <a:xfrm>
              <a:off x="935667" y="6036445"/>
              <a:ext cx="2041451" cy="520995"/>
            </a:xfrm>
            <a:prstGeom prst="trapezoid">
              <a:avLst>
                <a:gd name="adj" fmla="val 3316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梯形 23"/>
            <p:cNvSpPr/>
            <p:nvPr/>
          </p:nvSpPr>
          <p:spPr>
            <a:xfrm>
              <a:off x="1137684" y="5345595"/>
              <a:ext cx="1637416" cy="533809"/>
            </a:xfrm>
            <a:prstGeom prst="trapezoid">
              <a:avLst>
                <a:gd name="adj" fmla="val 3559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梯形 24"/>
            <p:cNvSpPr/>
            <p:nvPr/>
          </p:nvSpPr>
          <p:spPr>
            <a:xfrm flipV="1">
              <a:off x="935667" y="4014373"/>
              <a:ext cx="2041451" cy="520995"/>
            </a:xfrm>
            <a:prstGeom prst="trapezoid">
              <a:avLst>
                <a:gd name="adj" fmla="val 3316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梯形 25"/>
            <p:cNvSpPr/>
            <p:nvPr/>
          </p:nvSpPr>
          <p:spPr>
            <a:xfrm flipV="1">
              <a:off x="1137024" y="4711586"/>
              <a:ext cx="1637416" cy="533809"/>
            </a:xfrm>
            <a:prstGeom prst="trapezoid">
              <a:avLst>
                <a:gd name="adj" fmla="val 3559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490608" y="4079068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应用层</a:t>
              </a:r>
              <a:endPara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490608" y="4750015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传输层</a:t>
              </a:r>
              <a:endPara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490608" y="5412444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网络层</a:t>
              </a:r>
              <a:endPara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234127" y="6079711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数据链路层</a:t>
              </a:r>
              <a:endPara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2658137" y="4082898"/>
            <a:ext cx="5493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ea typeface="黑体" panose="02010609060101010101" pitchFamily="49" charset="-122"/>
              </a:rPr>
              <a:t>QoE</a:t>
            </a:r>
            <a:r>
              <a:rPr lang="en-US" altLang="zh-CN" dirty="0">
                <a:ea typeface="黑体" panose="02010609060101010101" pitchFamily="49" charset="-122"/>
              </a:rPr>
              <a:t> (Quality of Experience): </a:t>
            </a:r>
            <a:r>
              <a:rPr lang="zh-CN" altLang="en-US" dirty="0">
                <a:ea typeface="黑体" panose="02010609060101010101" pitchFamily="49" charset="-122"/>
              </a:rPr>
              <a:t>如上，与用户感受相关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658137" y="4765404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ea typeface="黑体" panose="02010609060101010101" pitchFamily="49" charset="-122"/>
              </a:rPr>
              <a:t>吞吐率、延迟、完成时间，。。。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658136" y="5427833"/>
            <a:ext cx="6494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ea typeface="黑体" panose="02010609060101010101" pitchFamily="49" charset="-122"/>
              </a:rPr>
              <a:t>QoS</a:t>
            </a:r>
            <a:r>
              <a:rPr lang="en-US" altLang="zh-CN" dirty="0">
                <a:ea typeface="黑体" panose="02010609060101010101" pitchFamily="49" charset="-122"/>
              </a:rPr>
              <a:t> (Quality of Service):</a:t>
            </a:r>
            <a:r>
              <a:rPr lang="zh-CN" altLang="en-US" dirty="0">
                <a:ea typeface="黑体" panose="02010609060101010101" pitchFamily="49" charset="-122"/>
              </a:rPr>
              <a:t> 网络延迟、丢包、延迟抖动，。。。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32" name="不等于号 31"/>
          <p:cNvSpPr/>
          <p:nvPr/>
        </p:nvSpPr>
        <p:spPr>
          <a:xfrm>
            <a:off x="3562566" y="4452404"/>
            <a:ext cx="630164" cy="323711"/>
          </a:xfrm>
          <a:prstGeom prst="mathNotEqual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上下箭头 34"/>
          <p:cNvSpPr/>
          <p:nvPr/>
        </p:nvSpPr>
        <p:spPr>
          <a:xfrm>
            <a:off x="5405043" y="4501493"/>
            <a:ext cx="302728" cy="877076"/>
          </a:xfrm>
          <a:prstGeom prst="upDown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1" grpId="0"/>
      <p:bldP spid="33" grpId="0"/>
      <p:bldP spid="34" grpId="0"/>
      <p:bldP spid="32" grpId="0" animBg="1"/>
      <p:bldP spid="3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传输性能与用户参与度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713320"/>
          </a:xfrm>
        </p:spPr>
        <p:txBody>
          <a:bodyPr/>
          <a:lstStyle/>
          <a:p>
            <a:r>
              <a:rPr lang="zh-CN" altLang="en-US" dirty="0"/>
              <a:t>视频传输性能对用户观看的影响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20" y="4447952"/>
            <a:ext cx="8935560" cy="195284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2158298"/>
            <a:ext cx="6743700" cy="2009775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理想性能模型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光速网络</a:t>
            </a:r>
            <a:r>
              <a:rPr lang="en-US" altLang="zh-CN" dirty="0"/>
              <a:t>(Networking at the Speed of Light)</a:t>
            </a:r>
            <a:r>
              <a:rPr lang="zh-CN" altLang="en-US" dirty="0"/>
              <a:t>性能模型</a:t>
            </a:r>
            <a:endParaRPr lang="en-US" altLang="zh-CN" dirty="0"/>
          </a:p>
          <a:p>
            <a:endParaRPr lang="en-US" altLang="zh-CN" sz="2000" dirty="0"/>
          </a:p>
          <a:p>
            <a:r>
              <a:rPr lang="zh-CN" altLang="en-US" sz="2000" dirty="0"/>
              <a:t>文件大小</a:t>
            </a:r>
            <a:r>
              <a:rPr lang="en-US" altLang="zh-CN" sz="2000" dirty="0"/>
              <a:t>: K</a:t>
            </a:r>
            <a:endParaRPr lang="en-US" altLang="zh-CN" sz="2000" dirty="0"/>
          </a:p>
          <a:p>
            <a:r>
              <a:rPr lang="zh-CN" altLang="en-US" sz="2000" dirty="0"/>
              <a:t>连接距离：</a:t>
            </a:r>
            <a:r>
              <a:rPr lang="en-US" altLang="zh-CN" sz="2000" dirty="0"/>
              <a:t>D</a:t>
            </a:r>
            <a:endParaRPr lang="en-US" altLang="zh-CN" sz="2000" dirty="0"/>
          </a:p>
          <a:p>
            <a:r>
              <a:rPr lang="zh-CN" altLang="en-US" sz="2000" dirty="0"/>
              <a:t>单位时间内的传输量： </a:t>
            </a:r>
            <a:r>
              <a:rPr lang="en-US" altLang="zh-CN" sz="2000" dirty="0"/>
              <a:t>I</a:t>
            </a:r>
            <a:endParaRPr lang="en-US" altLang="zh-CN" sz="2000" dirty="0"/>
          </a:p>
          <a:p>
            <a:r>
              <a:rPr lang="zh-CN" altLang="en-US" sz="2000" dirty="0"/>
              <a:t>光纤传播时延</a:t>
            </a:r>
            <a:r>
              <a:rPr lang="en-US" altLang="zh-CN" sz="2000" dirty="0"/>
              <a:t>: L = D / (0.6*C)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dirty="0"/>
              <a:t>理想性能</a:t>
            </a:r>
            <a:endParaRPr lang="en-US" altLang="zh-CN" dirty="0"/>
          </a:p>
          <a:p>
            <a:pPr lvl="1"/>
            <a:r>
              <a:rPr lang="en-US" altLang="zh-CN" dirty="0"/>
              <a:t>T = K / I * L</a:t>
            </a:r>
            <a:endParaRPr lang="en-US" altLang="zh-CN" dirty="0"/>
          </a:p>
          <a:p>
            <a:r>
              <a:rPr lang="zh-CN" altLang="en-US" dirty="0"/>
              <a:t>实际性能</a:t>
            </a:r>
            <a:endParaRPr lang="en-US" altLang="zh-CN" dirty="0"/>
          </a:p>
          <a:p>
            <a:pPr lvl="1"/>
            <a:r>
              <a:rPr lang="en-US" altLang="zh-CN" dirty="0"/>
              <a:t>T’ = (10 ~ 100) * T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002" y="2083443"/>
            <a:ext cx="5118998" cy="405782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634210" y="6390853"/>
            <a:ext cx="2372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sz="1600" dirty="0">
                <a:ea typeface="黑体" panose="02010609060101010101" pitchFamily="49" charset="-122"/>
              </a:rPr>
              <a:t>[www.telegeography.com]</a:t>
            </a:r>
            <a:endParaRPr lang="zh-CN" altLang="en-US" sz="1600" dirty="0"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传输性能的例子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ping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  <a:hlinkClick r:id="rId1"/>
              </a:rPr>
              <a:t>www.thesaurus.com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dirty="0">
                <a:cs typeface="Courier New" panose="02070309020205020404" pitchFamily="49" charset="0"/>
              </a:rPr>
              <a:t>IP</a:t>
            </a:r>
            <a:r>
              <a:rPr lang="zh-CN" altLang="en-US" dirty="0">
                <a:cs typeface="Courier New" panose="02070309020205020404" pitchFamily="49" charset="0"/>
              </a:rPr>
              <a:t>地址： </a:t>
            </a:r>
            <a:r>
              <a:rPr lang="en-US" altLang="zh-CN" dirty="0">
                <a:cs typeface="Courier New" panose="02070309020205020404" pitchFamily="49" charset="0"/>
              </a:rPr>
              <a:t>184.50.87.107</a:t>
            </a:r>
            <a:r>
              <a:rPr lang="zh-CN" altLang="en-US" dirty="0">
                <a:cs typeface="Courier New" panose="02070309020205020404" pitchFamily="49" charset="0"/>
              </a:rPr>
              <a:t>，</a:t>
            </a:r>
            <a:r>
              <a:rPr lang="en-US" altLang="zh-CN" dirty="0">
                <a:cs typeface="Courier New" panose="02070309020205020404" pitchFamily="49" charset="0"/>
              </a:rPr>
              <a:t>RTT</a:t>
            </a:r>
            <a:r>
              <a:rPr lang="zh-CN" altLang="en-US" dirty="0">
                <a:cs typeface="Courier New" panose="02070309020205020404" pitchFamily="49" charset="0"/>
              </a:rPr>
              <a:t>：</a:t>
            </a:r>
            <a:r>
              <a:rPr lang="en-US" altLang="zh-CN" dirty="0">
                <a:cs typeface="Courier New" panose="02070309020205020404" pitchFamily="49" charset="0"/>
              </a:rPr>
              <a:t>40</a:t>
            </a:r>
            <a:r>
              <a:rPr lang="zh-CN" altLang="en-US" dirty="0">
                <a:cs typeface="Courier New" panose="02070309020205020404" pitchFamily="49" charset="0"/>
              </a:rPr>
              <a:t>毫秒</a:t>
            </a:r>
            <a:endParaRPr lang="en-US" altLang="zh-CN" dirty="0">
              <a:cs typeface="Courier New" panose="02070309020205020404" pitchFamily="49" charset="0"/>
            </a:endParaRPr>
          </a:p>
          <a:p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wget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  <a:hlinkClick r:id="rId1"/>
              </a:rPr>
              <a:t>http://www.thesaurus.com/</a:t>
            </a:r>
            <a:endParaRPr lang="en-US" altLang="zh-CN" sz="2000" dirty="0"/>
          </a:p>
          <a:p>
            <a:pPr lvl="1"/>
            <a:r>
              <a:rPr lang="zh-CN" altLang="en-US" dirty="0">
                <a:cs typeface="Courier New" panose="02070309020205020404" pitchFamily="49" charset="0"/>
              </a:rPr>
              <a:t>文件大小：</a:t>
            </a:r>
            <a:r>
              <a:rPr lang="en-US" altLang="zh-CN" dirty="0">
                <a:cs typeface="Courier New" panose="02070309020205020404" pitchFamily="49" charset="0"/>
              </a:rPr>
              <a:t>52KB</a:t>
            </a:r>
            <a:r>
              <a:rPr lang="zh-CN" altLang="en-US" dirty="0">
                <a:cs typeface="Courier New" panose="02070309020205020404" pitchFamily="49" charset="0"/>
              </a:rPr>
              <a:t>，用时：</a:t>
            </a:r>
            <a:r>
              <a:rPr lang="en-US" altLang="zh-CN" dirty="0">
                <a:cs typeface="Courier New" panose="02070309020205020404" pitchFamily="49" charset="0"/>
              </a:rPr>
              <a:t>0.6</a:t>
            </a:r>
            <a:r>
              <a:rPr lang="zh-CN" altLang="en-US" dirty="0">
                <a:cs typeface="Courier New" panose="02070309020205020404" pitchFamily="49" charset="0"/>
              </a:rPr>
              <a:t>秒</a:t>
            </a:r>
            <a:endParaRPr lang="en-US" altLang="zh-CN" dirty="0">
              <a:cs typeface="Courier New" panose="02070309020205020404" pitchFamily="49" charset="0"/>
            </a:endParaRPr>
          </a:p>
          <a:p>
            <a:pPr lvl="1"/>
            <a:endParaRPr lang="en-US" altLang="zh-CN" dirty="0">
              <a:cs typeface="Courier New" panose="02070309020205020404" pitchFamily="49" charset="0"/>
            </a:endParaRPr>
          </a:p>
          <a:p>
            <a:r>
              <a:rPr lang="zh-CN" altLang="en-US" dirty="0">
                <a:cs typeface="Courier New" panose="02070309020205020404" pitchFamily="49" charset="0"/>
              </a:rPr>
              <a:t>性能比较</a:t>
            </a:r>
            <a:endParaRPr lang="en-US" altLang="zh-CN" dirty="0">
              <a:cs typeface="Courier New" panose="02070309020205020404" pitchFamily="49" charset="0"/>
            </a:endParaRPr>
          </a:p>
          <a:p>
            <a:pPr lvl="1"/>
            <a:r>
              <a:rPr lang="zh-CN" altLang="en-US" dirty="0">
                <a:cs typeface="Courier New" panose="02070309020205020404" pitchFamily="49" charset="0"/>
              </a:rPr>
              <a:t>源、目的节点间的距离不超过</a:t>
            </a:r>
            <a:r>
              <a:rPr lang="en-US" altLang="zh-CN" dirty="0">
                <a:cs typeface="Courier New" panose="02070309020205020404" pitchFamily="49" charset="0"/>
              </a:rPr>
              <a:t>100KM</a:t>
            </a:r>
            <a:r>
              <a:rPr lang="zh-CN" altLang="en-US" dirty="0">
                <a:cs typeface="Courier New" panose="02070309020205020404" pitchFamily="49" charset="0"/>
              </a:rPr>
              <a:t>，直线光纤的往返时延不超过</a:t>
            </a:r>
            <a:r>
              <a:rPr lang="en-US" altLang="zh-CN" dirty="0">
                <a:cs typeface="Courier New" panose="02070309020205020404" pitchFamily="49" charset="0"/>
              </a:rPr>
              <a:t>1</a:t>
            </a:r>
            <a:r>
              <a:rPr lang="zh-CN" altLang="en-US" dirty="0">
                <a:cs typeface="Courier New" panose="02070309020205020404" pitchFamily="49" charset="0"/>
              </a:rPr>
              <a:t>毫秒</a:t>
            </a:r>
            <a:endParaRPr lang="en-US" altLang="zh-CN" dirty="0">
              <a:cs typeface="Courier New" panose="02070309020205020404" pitchFamily="49" charset="0"/>
            </a:endParaRPr>
          </a:p>
          <a:p>
            <a:pPr lvl="1"/>
            <a:r>
              <a:rPr lang="zh-CN" altLang="en-US" dirty="0">
                <a:cs typeface="Courier New" panose="02070309020205020404" pitchFamily="49" charset="0"/>
              </a:rPr>
              <a:t>按光速网络模型计算，时延性能相差</a:t>
            </a:r>
            <a:r>
              <a:rPr lang="en-US" altLang="zh-CN" dirty="0">
                <a:cs typeface="Courier New" panose="02070309020205020404" pitchFamily="49" charset="0"/>
              </a:rPr>
              <a:t>40</a:t>
            </a:r>
            <a:r>
              <a:rPr lang="zh-CN" altLang="en-US" dirty="0">
                <a:cs typeface="Courier New" panose="02070309020205020404" pitchFamily="49" charset="0"/>
              </a:rPr>
              <a:t>倍，传输性能相差</a:t>
            </a:r>
            <a:r>
              <a:rPr lang="en-US" altLang="zh-CN" dirty="0">
                <a:cs typeface="Courier New" panose="02070309020205020404" pitchFamily="49" charset="0"/>
              </a:rPr>
              <a:t>600</a:t>
            </a:r>
            <a:r>
              <a:rPr lang="zh-CN" altLang="en-US" dirty="0">
                <a:cs typeface="Courier New" panose="02070309020205020404" pitchFamily="49" charset="0"/>
              </a:rPr>
              <a:t>倍</a:t>
            </a:r>
            <a:endParaRPr lang="en-US" altLang="zh-CN" dirty="0">
              <a:cs typeface="Courier New" panose="02070309020205020404" pitchFamily="49" charset="0"/>
            </a:endParaRPr>
          </a:p>
          <a:p>
            <a:pPr lvl="1"/>
            <a:endParaRPr lang="en-US" altLang="zh-CN" dirty="0">
              <a:cs typeface="Courier New" panose="020703090202050204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网络延迟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</a:rPr>
              <a:t>网络延迟 </a:t>
            </a:r>
            <a:r>
              <a:rPr lang="en-US" altLang="zh-CN" dirty="0">
                <a:solidFill>
                  <a:srgbClr val="0070C0"/>
                </a:solidFill>
              </a:rPr>
              <a:t>= </a:t>
            </a:r>
            <a:r>
              <a:rPr lang="zh-CN" altLang="en-US" dirty="0">
                <a:solidFill>
                  <a:srgbClr val="0070C0"/>
                </a:solidFill>
              </a:rPr>
              <a:t>传播时延 </a:t>
            </a:r>
            <a:r>
              <a:rPr lang="en-US" altLang="zh-CN" dirty="0">
                <a:solidFill>
                  <a:srgbClr val="0070C0"/>
                </a:solidFill>
              </a:rPr>
              <a:t>+ </a:t>
            </a:r>
            <a:r>
              <a:rPr lang="zh-CN" altLang="en-US" dirty="0">
                <a:solidFill>
                  <a:srgbClr val="0070C0"/>
                </a:solidFill>
              </a:rPr>
              <a:t>发送延迟 </a:t>
            </a:r>
            <a:r>
              <a:rPr lang="en-US" altLang="zh-CN" dirty="0">
                <a:solidFill>
                  <a:srgbClr val="0070C0"/>
                </a:solidFill>
              </a:rPr>
              <a:t>+ </a:t>
            </a:r>
            <a:r>
              <a:rPr lang="zh-CN" altLang="en-US" dirty="0">
                <a:solidFill>
                  <a:srgbClr val="0070C0"/>
                </a:solidFill>
              </a:rPr>
              <a:t>队列延迟</a:t>
            </a:r>
            <a:endParaRPr lang="en-US" altLang="zh-CN" dirty="0">
              <a:solidFill>
                <a:srgbClr val="0070C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传播时延 </a:t>
            </a:r>
            <a:r>
              <a:rPr lang="en-US" altLang="zh-CN" dirty="0"/>
              <a:t>:= </a:t>
            </a:r>
            <a:r>
              <a:rPr lang="zh-CN" altLang="en-US" dirty="0"/>
              <a:t>传播距离 </a:t>
            </a:r>
            <a:r>
              <a:rPr lang="en-US" altLang="zh-CN" dirty="0"/>
              <a:t>/ (0.6 x </a:t>
            </a:r>
            <a:r>
              <a:rPr lang="zh-CN" altLang="en-US" dirty="0"/>
              <a:t>光速</a:t>
            </a:r>
            <a:r>
              <a:rPr lang="en-US" altLang="zh-CN" dirty="0"/>
              <a:t>)</a:t>
            </a:r>
            <a:endParaRPr lang="en-US" altLang="zh-CN" dirty="0"/>
          </a:p>
          <a:p>
            <a:pPr lvl="1"/>
            <a:r>
              <a:rPr lang="zh-CN" altLang="en-US" dirty="0"/>
              <a:t>传播距离通常大于地理距离</a:t>
            </a:r>
            <a:endParaRPr lang="en-US" altLang="zh-CN" dirty="0"/>
          </a:p>
          <a:p>
            <a:r>
              <a:rPr lang="zh-CN" altLang="en-US" dirty="0"/>
              <a:t>发送延迟</a:t>
            </a:r>
            <a:r>
              <a:rPr lang="en-US" altLang="zh-CN" dirty="0"/>
              <a:t> := </a:t>
            </a:r>
            <a:r>
              <a:rPr lang="zh-CN" altLang="en-US" dirty="0"/>
              <a:t>数据从端节点进入到传输介质所需要的时间</a:t>
            </a:r>
            <a:endParaRPr lang="en-US" altLang="zh-CN" dirty="0"/>
          </a:p>
          <a:p>
            <a:pPr lvl="1"/>
            <a:r>
              <a:rPr lang="zh-CN" altLang="en-US" dirty="0"/>
              <a:t>发送端设备的发送延迟最多可达</a:t>
            </a:r>
            <a:r>
              <a:rPr lang="en-US" altLang="zh-CN" dirty="0"/>
              <a:t>4</a:t>
            </a:r>
            <a:r>
              <a:rPr lang="zh-CN" altLang="en-US" dirty="0"/>
              <a:t>秒</a:t>
            </a:r>
            <a:endParaRPr lang="zh-CN" altLang="en-US" dirty="0"/>
          </a:p>
          <a:p>
            <a:r>
              <a:rPr lang="zh-CN" altLang="en-US" dirty="0"/>
              <a:t>队列延迟 </a:t>
            </a:r>
            <a:r>
              <a:rPr lang="en-US" altLang="zh-CN" dirty="0"/>
              <a:t>:= </a:t>
            </a:r>
            <a:r>
              <a:rPr lang="zh-CN" altLang="en-US" dirty="0"/>
              <a:t>队列长度 </a:t>
            </a:r>
            <a:r>
              <a:rPr lang="en-US" altLang="zh-CN" dirty="0"/>
              <a:t>/ </a:t>
            </a:r>
            <a:r>
              <a:rPr lang="zh-CN" altLang="en-US" dirty="0"/>
              <a:t>处理速度</a:t>
            </a:r>
            <a:endParaRPr lang="en-US" altLang="zh-CN" dirty="0"/>
          </a:p>
          <a:p>
            <a:pPr lvl="1"/>
            <a:r>
              <a:rPr lang="zh-CN" altLang="en-US" dirty="0"/>
              <a:t>网络中间设备为了减少丢包而增大</a:t>
            </a:r>
            <a:r>
              <a:rPr lang="en-US" altLang="zh-CN" dirty="0"/>
              <a:t>Buffer</a:t>
            </a:r>
            <a:r>
              <a:rPr lang="zh-CN" altLang="en-US" dirty="0"/>
              <a:t>，造成了队列延迟增大，该问题叫作</a:t>
            </a:r>
            <a:r>
              <a:rPr lang="en-US" altLang="zh-CN" dirty="0" err="1"/>
              <a:t>BufferBloat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Android/Linux</a:t>
            </a:r>
            <a:r>
              <a:rPr lang="zh-CN" altLang="en-US" dirty="0"/>
              <a:t>设备的发送延迟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497" y="1432515"/>
            <a:ext cx="4214351" cy="480879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326" y="1432515"/>
            <a:ext cx="4551674" cy="198385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837258"/>
            <a:ext cx="4551674" cy="240405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97442" y="2243467"/>
            <a:ext cx="1945758" cy="6698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365793" y="3501987"/>
            <a:ext cx="1823974" cy="5809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376426" y="4391746"/>
            <a:ext cx="1823974" cy="488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365793" y="5225355"/>
            <a:ext cx="1823974" cy="488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队列延迟引起的</a:t>
            </a:r>
            <a:r>
              <a:rPr lang="en-US" altLang="zh-CN" dirty="0" err="1"/>
              <a:t>BufferBloat</a:t>
            </a:r>
            <a:r>
              <a:rPr lang="zh-CN" altLang="en-US" dirty="0"/>
              <a:t>问题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29167" y="1375084"/>
            <a:ext cx="3977019" cy="2403379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533400" y="3778463"/>
            <a:ext cx="351980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ea typeface="楷体" panose="02010609060101010101" pitchFamily="49" charset="-122"/>
              </a:rPr>
              <a:t>移动数据网络中的</a:t>
            </a:r>
            <a:r>
              <a:rPr lang="en-US" altLang="zh-CN" dirty="0" err="1">
                <a:ea typeface="楷体" panose="02010609060101010101" pitchFamily="49" charset="-122"/>
              </a:rPr>
              <a:t>BufferBloat</a:t>
            </a:r>
            <a:r>
              <a:rPr lang="zh-CN" altLang="en-US" dirty="0">
                <a:ea typeface="楷体" panose="02010609060101010101" pitchFamily="49" charset="-122"/>
              </a:rPr>
              <a:t>问题</a:t>
            </a:r>
            <a:endParaRPr lang="zh-CN" altLang="en-US" dirty="0">
              <a:ea typeface="楷体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848447" y="1400256"/>
            <a:ext cx="4012786" cy="2378207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5559163" y="3785188"/>
            <a:ext cx="28816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ea typeface="楷体" panose="02010609060101010101" pitchFamily="49" charset="-122"/>
              </a:rPr>
              <a:t>Internet</a:t>
            </a:r>
            <a:r>
              <a:rPr lang="zh-CN" altLang="en-US" dirty="0">
                <a:ea typeface="楷体" panose="02010609060101010101" pitchFamily="49" charset="-122"/>
              </a:rPr>
              <a:t>边缘网络的</a:t>
            </a:r>
            <a:r>
              <a:rPr lang="en-US" altLang="zh-CN" dirty="0">
                <a:ea typeface="楷体" panose="02010609060101010101" pitchFamily="49" charset="-122"/>
              </a:rPr>
              <a:t>RTT</a:t>
            </a:r>
            <a:r>
              <a:rPr lang="zh-CN" altLang="en-US" dirty="0">
                <a:ea typeface="楷体" panose="02010609060101010101" pitchFamily="49" charset="-122"/>
              </a:rPr>
              <a:t>分布</a:t>
            </a:r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内容占位符 2"/>
          <p:cNvSpPr>
            <a:spLocks noGrp="1"/>
          </p:cNvSpPr>
          <p:nvPr>
            <p:ph idx="1"/>
          </p:nvPr>
        </p:nvSpPr>
        <p:spPr>
          <a:xfrm>
            <a:off x="457200" y="4125430"/>
            <a:ext cx="8229600" cy="2626244"/>
          </a:xfrm>
        </p:spPr>
        <p:txBody>
          <a:bodyPr/>
          <a:lstStyle/>
          <a:p>
            <a:r>
              <a:rPr lang="zh-CN" altLang="en-US" sz="2000" dirty="0"/>
              <a:t>移动网络的</a:t>
            </a:r>
            <a:r>
              <a:rPr lang="en-US" altLang="zh-CN" sz="2000" dirty="0" err="1"/>
              <a:t>BufferBloat</a:t>
            </a:r>
            <a:r>
              <a:rPr lang="zh-CN" altLang="en-US" sz="2000" dirty="0"/>
              <a:t>问题比固网中更严重</a:t>
            </a:r>
            <a:endParaRPr lang="en-US" altLang="zh-CN" sz="2000" dirty="0"/>
          </a:p>
          <a:p>
            <a:pPr lvl="1"/>
            <a:r>
              <a:rPr lang="zh-CN" altLang="en-US" sz="1800" dirty="0"/>
              <a:t>移动网络为了达到</a:t>
            </a:r>
            <a:r>
              <a:rPr lang="en-US" altLang="zh-CN" sz="1800" dirty="0" err="1"/>
              <a:t>QoS</a:t>
            </a:r>
            <a:r>
              <a:rPr lang="zh-CN" altLang="en-US" sz="1800" dirty="0"/>
              <a:t>要求，在基站部署了大量的</a:t>
            </a:r>
            <a:r>
              <a:rPr lang="en-US" altLang="zh-CN" sz="1800" dirty="0"/>
              <a:t>buffer</a:t>
            </a:r>
            <a:endParaRPr lang="en-US" altLang="zh-CN" sz="1800" dirty="0"/>
          </a:p>
          <a:p>
            <a:r>
              <a:rPr lang="en-US" altLang="zh-CN" sz="2000" dirty="0" err="1"/>
              <a:t>BufferBloat</a:t>
            </a:r>
            <a:r>
              <a:rPr lang="zh-CN" altLang="en-US" sz="2000" dirty="0"/>
              <a:t>问题具有瞬时性</a:t>
            </a:r>
            <a:endParaRPr lang="en-US" altLang="zh-CN" sz="2000" dirty="0"/>
          </a:p>
          <a:p>
            <a:pPr lvl="1"/>
            <a:r>
              <a:rPr lang="zh-CN" altLang="en-US" sz="1600" dirty="0"/>
              <a:t>不会一直存在；一旦发生，对网络传输性能影响非常大</a:t>
            </a:r>
            <a:endParaRPr lang="en-US" altLang="zh-CN" sz="1600" dirty="0"/>
          </a:p>
          <a:p>
            <a:pPr lvl="1"/>
            <a:r>
              <a:rPr lang="en-US" altLang="zh-CN" sz="1600" dirty="0" err="1"/>
              <a:t>BufferBloat</a:t>
            </a:r>
            <a:r>
              <a:rPr lang="zh-CN" altLang="en-US" sz="1600" dirty="0"/>
              <a:t>通常对延迟敏感的流（例如，</a:t>
            </a:r>
            <a:r>
              <a:rPr lang="en-US" altLang="zh-CN" sz="1600" dirty="0"/>
              <a:t>Web</a:t>
            </a:r>
            <a:r>
              <a:rPr lang="zh-CN" altLang="en-US" sz="1600" dirty="0"/>
              <a:t>搜索）影响非常大，对以吞吐率为目标的流（例如，大文件下载）影响不大</a:t>
            </a:r>
            <a:endParaRPr lang="en-US" altLang="zh-CN" dirty="0"/>
          </a:p>
          <a:p>
            <a:endParaRPr lang="zh-CN" altLang="en-US" sz="20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Buffer</a:t>
            </a:r>
            <a:r>
              <a:rPr lang="zh-CN" altLang="en-US" dirty="0"/>
              <a:t>与传输性能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856922" cy="2138194"/>
          </a:xfrm>
        </p:spPr>
        <p:txBody>
          <a:bodyPr/>
          <a:lstStyle/>
          <a:p>
            <a:r>
              <a:rPr lang="zh-CN" altLang="en-US" dirty="0"/>
              <a:t>给定带宽和延迟，端节点单位时间内可发送的数据是固定的</a:t>
            </a:r>
            <a:endParaRPr lang="en-US" altLang="zh-CN" dirty="0"/>
          </a:p>
          <a:p>
            <a:pPr lvl="1"/>
            <a:r>
              <a:rPr lang="en-US" altLang="zh-CN" dirty="0"/>
              <a:t>BDP = </a:t>
            </a:r>
            <a:r>
              <a:rPr lang="en-US" altLang="zh-CN" dirty="0" err="1"/>
              <a:t>Bw</a:t>
            </a:r>
            <a:r>
              <a:rPr lang="en-US" altLang="zh-CN" dirty="0"/>
              <a:t> * Delay  (</a:t>
            </a:r>
            <a:r>
              <a:rPr lang="en-US" altLang="zh-CN" dirty="0" err="1"/>
              <a:t>Bw</a:t>
            </a:r>
            <a:r>
              <a:rPr lang="en-US" altLang="zh-CN" dirty="0"/>
              <a:t>-Delay Product)</a:t>
            </a:r>
            <a:endParaRPr lang="en-US" altLang="zh-CN" dirty="0"/>
          </a:p>
          <a:p>
            <a:pPr lvl="1"/>
            <a:r>
              <a:rPr lang="zh-CN" altLang="en-US" dirty="0"/>
              <a:t>发送方单位时间内发送的数据叫作在途数据量（</a:t>
            </a:r>
            <a:r>
              <a:rPr lang="en-US" altLang="zh-CN" dirty="0"/>
              <a:t>inflight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Inflight</a:t>
            </a:r>
            <a:r>
              <a:rPr lang="zh-CN" altLang="en-US" dirty="0"/>
              <a:t>值在合理范围内，才能同时获得高吞吐率与低延迟</a:t>
            </a:r>
            <a:endParaRPr lang="en-US" altLang="zh-CN" sz="1800" dirty="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510" y="3455580"/>
            <a:ext cx="6013237" cy="3327991"/>
          </a:xfrm>
          <a:prstGeom prst="rect">
            <a:avLst/>
          </a:prstGeom>
        </p:spPr>
      </p:pic>
      <p:grpSp>
        <p:nvGrpSpPr>
          <p:cNvPr id="29" name="组合 28"/>
          <p:cNvGrpSpPr/>
          <p:nvPr/>
        </p:nvGrpSpPr>
        <p:grpSpPr>
          <a:xfrm>
            <a:off x="2647507" y="4253023"/>
            <a:ext cx="159488" cy="2371061"/>
            <a:chOff x="2647507" y="4253023"/>
            <a:chExt cx="159488" cy="2371061"/>
          </a:xfrm>
        </p:grpSpPr>
        <p:sp>
          <p:nvSpPr>
            <p:cNvPr id="26" name="椭圆 25"/>
            <p:cNvSpPr/>
            <p:nvPr/>
          </p:nvSpPr>
          <p:spPr>
            <a:xfrm>
              <a:off x="2647507" y="6422065"/>
              <a:ext cx="159488" cy="20201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" name="直接连接符 27"/>
            <p:cNvCxnSpPr/>
            <p:nvPr/>
          </p:nvCxnSpPr>
          <p:spPr>
            <a:xfrm flipV="1">
              <a:off x="2711302" y="4253023"/>
              <a:ext cx="0" cy="214777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29"/>
          <p:cNvGrpSpPr/>
          <p:nvPr/>
        </p:nvGrpSpPr>
        <p:grpSpPr>
          <a:xfrm>
            <a:off x="6925339" y="4253023"/>
            <a:ext cx="159488" cy="2371061"/>
            <a:chOff x="2647507" y="4253023"/>
            <a:chExt cx="159488" cy="2371061"/>
          </a:xfrm>
        </p:grpSpPr>
        <p:sp>
          <p:nvSpPr>
            <p:cNvPr id="31" name="椭圆 30"/>
            <p:cNvSpPr/>
            <p:nvPr/>
          </p:nvSpPr>
          <p:spPr>
            <a:xfrm>
              <a:off x="2647507" y="6422065"/>
              <a:ext cx="159488" cy="20201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" name="直接连接符 31"/>
            <p:cNvCxnSpPr/>
            <p:nvPr/>
          </p:nvCxnSpPr>
          <p:spPr>
            <a:xfrm flipV="1">
              <a:off x="2711302" y="4253023"/>
              <a:ext cx="0" cy="214777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/>
          <p:cNvGrpSpPr/>
          <p:nvPr/>
        </p:nvGrpSpPr>
        <p:grpSpPr>
          <a:xfrm>
            <a:off x="3250018" y="4253023"/>
            <a:ext cx="159488" cy="2371061"/>
            <a:chOff x="2647507" y="4253023"/>
            <a:chExt cx="159488" cy="2371061"/>
          </a:xfrm>
        </p:grpSpPr>
        <p:sp>
          <p:nvSpPr>
            <p:cNvPr id="34" name="椭圆 33"/>
            <p:cNvSpPr/>
            <p:nvPr/>
          </p:nvSpPr>
          <p:spPr>
            <a:xfrm>
              <a:off x="2647507" y="6422065"/>
              <a:ext cx="159488" cy="20201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" name="直接连接符 34"/>
            <p:cNvCxnSpPr/>
            <p:nvPr/>
          </p:nvCxnSpPr>
          <p:spPr>
            <a:xfrm flipV="1">
              <a:off x="2711302" y="4253023"/>
              <a:ext cx="0" cy="214777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灯片编号占位符 3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吞吐率与流完成时间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为什么吞吐率不能刻画所有应用的性能？</a:t>
            </a:r>
            <a:endParaRPr lang="en-US" altLang="zh-CN" dirty="0"/>
          </a:p>
          <a:p>
            <a:pPr lvl="1"/>
            <a:r>
              <a:rPr lang="zh-CN" altLang="en-US" dirty="0"/>
              <a:t>传输控制协议</a:t>
            </a:r>
            <a:r>
              <a:rPr lang="en-US" altLang="zh-CN" dirty="0"/>
              <a:t>TCP</a:t>
            </a:r>
            <a:r>
              <a:rPr lang="zh-CN" altLang="en-US" dirty="0"/>
              <a:t>使用慢启动机制探测可用网络带宽</a:t>
            </a:r>
            <a:endParaRPr lang="en-US" altLang="zh-CN" dirty="0"/>
          </a:p>
          <a:p>
            <a:pPr lvl="1"/>
            <a:r>
              <a:rPr lang="zh-CN" altLang="en-US" dirty="0"/>
              <a:t>对于较小的传输文件，在未探测到可用带宽上限时传输已经结束</a:t>
            </a:r>
            <a:endParaRPr lang="en-US" altLang="zh-CN" dirty="0"/>
          </a:p>
          <a:p>
            <a:pPr lvl="1"/>
            <a:r>
              <a:rPr lang="en-US" altLang="zh-CN" dirty="0"/>
              <a:t>Log2(K / 3pkts) * RTT </a:t>
            </a:r>
            <a:r>
              <a:rPr lang="en-US" altLang="zh-CN" dirty="0">
                <a:solidFill>
                  <a:srgbClr val="0070C0"/>
                </a:solidFill>
              </a:rPr>
              <a:t>vs</a:t>
            </a:r>
            <a:r>
              <a:rPr lang="en-US" altLang="zh-CN" dirty="0"/>
              <a:t> K/B * RTT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5880" y="3503633"/>
            <a:ext cx="4763385" cy="3354367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TCP</a:t>
            </a:r>
            <a:r>
              <a:rPr lang="zh-CN" altLang="en-US" dirty="0"/>
              <a:t>传输的性能问题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1606565"/>
          </a:xfrm>
        </p:spPr>
        <p:txBody>
          <a:bodyPr/>
          <a:lstStyle/>
          <a:p>
            <a:r>
              <a:rPr lang="zh-CN" altLang="en-US" dirty="0"/>
              <a:t>现有</a:t>
            </a:r>
            <a:r>
              <a:rPr lang="en-US" altLang="zh-CN" dirty="0"/>
              <a:t>TCP</a:t>
            </a:r>
            <a:r>
              <a:rPr lang="zh-CN" altLang="en-US" dirty="0"/>
              <a:t>的传输控制策略过于保守</a:t>
            </a:r>
            <a:endParaRPr lang="en-US" altLang="zh-CN" dirty="0"/>
          </a:p>
          <a:p>
            <a:pPr lvl="1"/>
            <a:r>
              <a:rPr lang="zh-CN" altLang="en-US" dirty="0"/>
              <a:t>拥塞避免：判断网络拥塞后，发送速率减半</a:t>
            </a:r>
            <a:endParaRPr lang="en-US" altLang="zh-CN" dirty="0"/>
          </a:p>
          <a:p>
            <a:pPr lvl="1"/>
            <a:r>
              <a:rPr lang="zh-CN" altLang="en-US" dirty="0"/>
              <a:t>快速重传：后发的数据包先收到确认，判断网络丢包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206044" y="3363090"/>
            <a:ext cx="4101725" cy="2708101"/>
            <a:chOff x="1663282" y="4077070"/>
            <a:chExt cx="5341596" cy="3547368"/>
          </a:xfrm>
        </p:grpSpPr>
        <p:sp>
          <p:nvSpPr>
            <p:cNvPr id="6" name="TextBox 4"/>
            <p:cNvSpPr txBox="1"/>
            <p:nvPr/>
          </p:nvSpPr>
          <p:spPr>
            <a:xfrm rot="16200000">
              <a:off x="1108082" y="5115545"/>
              <a:ext cx="1525700" cy="415299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rtlCol="0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200" dirty="0">
                  <a:latin typeface="Calibri" panose="020F0502020204030204" pitchFamily="34" charset="0"/>
                  <a:ea typeface="黑体" panose="02010609060101010101" pitchFamily="49" charset="-122"/>
                </a:rPr>
                <a:t>吞吐率 </a:t>
              </a:r>
              <a:r>
                <a:rPr lang="en-US" altLang="zh-CN" sz="1200" dirty="0">
                  <a:latin typeface="Calibri" panose="020F0502020204030204" pitchFamily="34" charset="0"/>
                  <a:ea typeface="黑体" panose="02010609060101010101" pitchFamily="49" charset="-122"/>
                </a:rPr>
                <a:t>(Mbps)</a:t>
              </a:r>
              <a:endParaRPr lang="zh-CN" altLang="en-US" sz="1200" dirty="0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" name="TextBox 5"/>
            <p:cNvSpPr txBox="1"/>
            <p:nvPr/>
          </p:nvSpPr>
          <p:spPr>
            <a:xfrm>
              <a:off x="6210622" y="6864931"/>
              <a:ext cx="794256" cy="275716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rtlCol="0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200" dirty="0">
                  <a:latin typeface="Calibri" panose="020F0502020204030204" pitchFamily="34" charset="0"/>
                  <a:ea typeface="黑体" panose="02010609060101010101" pitchFamily="49" charset="-122"/>
                </a:rPr>
                <a:t>丢包率</a:t>
              </a:r>
              <a:r>
                <a:rPr lang="en-US" altLang="zh-CN" sz="1200" dirty="0">
                  <a:latin typeface="Calibri" panose="020F0502020204030204" pitchFamily="34" charset="0"/>
                  <a:ea typeface="黑体" panose="02010609060101010101" pitchFamily="49" charset="-122"/>
                </a:rPr>
                <a:t>(%)</a:t>
              </a:r>
              <a:endParaRPr lang="zh-CN" altLang="en-US" sz="1200" dirty="0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8" name="图表 7"/>
            <p:cNvGraphicFramePr/>
            <p:nvPr/>
          </p:nvGraphicFramePr>
          <p:xfrm>
            <a:off x="2090239" y="4077070"/>
            <a:ext cx="4800531" cy="347167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sp>
          <p:nvSpPr>
            <p:cNvPr id="9" name="TextBox 7"/>
            <p:cNvSpPr txBox="1"/>
            <p:nvPr/>
          </p:nvSpPr>
          <p:spPr>
            <a:xfrm>
              <a:off x="2605398" y="7059843"/>
              <a:ext cx="3191215" cy="564595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rtlCol="0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600" dirty="0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10" name="Group 186"/>
          <p:cNvGrpSpPr/>
          <p:nvPr/>
        </p:nvGrpSpPr>
        <p:grpSpPr>
          <a:xfrm>
            <a:off x="4370353" y="3354059"/>
            <a:ext cx="4847599" cy="2750017"/>
            <a:chOff x="3389320" y="875251"/>
            <a:chExt cx="5400600" cy="3888433"/>
          </a:xfrm>
        </p:grpSpPr>
        <p:graphicFrame>
          <p:nvGraphicFramePr>
            <p:cNvPr id="11" name="Chart 179"/>
            <p:cNvGraphicFramePr/>
            <p:nvPr/>
          </p:nvGraphicFramePr>
          <p:xfrm>
            <a:off x="3389320" y="875251"/>
            <a:ext cx="5400600" cy="388843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cxnSp>
          <p:nvCxnSpPr>
            <p:cNvPr id="12" name="Straight Arrow Connector 174"/>
            <p:cNvCxnSpPr/>
            <p:nvPr/>
          </p:nvCxnSpPr>
          <p:spPr bwMode="auto">
            <a:xfrm>
              <a:off x="6145983" y="2238736"/>
              <a:ext cx="864096" cy="0"/>
            </a:xfrm>
            <a:prstGeom prst="straightConnector1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cxnSp>
          <p:nvCxnSpPr>
            <p:cNvPr id="13" name="Straight Arrow Connector 190"/>
            <p:cNvCxnSpPr/>
            <p:nvPr/>
          </p:nvCxnSpPr>
          <p:spPr bwMode="auto">
            <a:xfrm flipV="1">
              <a:off x="5508500" y="2241990"/>
              <a:ext cx="540000" cy="0"/>
            </a:xfrm>
            <a:prstGeom prst="straightConnector1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cxnSp>
          <p:nvCxnSpPr>
            <p:cNvPr id="14" name="Straight Arrow Connector 192"/>
            <p:cNvCxnSpPr/>
            <p:nvPr/>
          </p:nvCxnSpPr>
          <p:spPr bwMode="auto">
            <a:xfrm flipV="1">
              <a:off x="7375331" y="1857665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cxnSp>
          <p:nvCxnSpPr>
            <p:cNvPr id="15" name="Straight Arrow Connector 193"/>
            <p:cNvCxnSpPr/>
            <p:nvPr/>
          </p:nvCxnSpPr>
          <p:spPr bwMode="auto">
            <a:xfrm>
              <a:off x="7591331" y="1877465"/>
              <a:ext cx="282605" cy="1534"/>
            </a:xfrm>
            <a:prstGeom prst="straightConnector1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cxnSp>
          <p:nvCxnSpPr>
            <p:cNvPr id="16" name="Straight Arrow Connector 195"/>
            <p:cNvCxnSpPr/>
            <p:nvPr/>
          </p:nvCxnSpPr>
          <p:spPr bwMode="auto">
            <a:xfrm flipV="1">
              <a:off x="7873936" y="1853558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cxnSp>
          <p:nvCxnSpPr>
            <p:cNvPr id="17" name="Straight Arrow Connector 196"/>
            <p:cNvCxnSpPr/>
            <p:nvPr/>
          </p:nvCxnSpPr>
          <p:spPr bwMode="auto">
            <a:xfrm flipV="1">
              <a:off x="4978040" y="2662258"/>
              <a:ext cx="17106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sp>
          <p:nvSpPr>
            <p:cNvPr id="18" name="TextBox 205"/>
            <p:cNvSpPr txBox="1"/>
            <p:nvPr/>
          </p:nvSpPr>
          <p:spPr>
            <a:xfrm>
              <a:off x="5508500" y="2336682"/>
              <a:ext cx="897252" cy="3766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en-US" sz="16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timeout </a:t>
              </a:r>
              <a:endPara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TextBox 208"/>
            <p:cNvSpPr txBox="1"/>
            <p:nvPr/>
          </p:nvSpPr>
          <p:spPr>
            <a:xfrm>
              <a:off x="6434746" y="2285597"/>
              <a:ext cx="897252" cy="3766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en-US" sz="16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timeout </a:t>
              </a:r>
              <a:endPara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TextBox 209"/>
            <p:cNvSpPr txBox="1"/>
            <p:nvPr/>
          </p:nvSpPr>
          <p:spPr>
            <a:xfrm>
              <a:off x="7375331" y="1898797"/>
              <a:ext cx="897252" cy="3766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en-US" sz="16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timeout </a:t>
              </a:r>
              <a:endPara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929479" y="6013406"/>
            <a:ext cx="30733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黑体" panose="02010609060101010101" pitchFamily="49" charset="-122"/>
              </a:rPr>
              <a:t>TCP</a:t>
            </a:r>
            <a:r>
              <a:rPr lang="zh-CN" altLang="en-US" dirty="0">
                <a:latin typeface="Calibri" panose="020F0502020204030204" pitchFamily="34" charset="0"/>
                <a:ea typeface="黑体" panose="02010609060101010101" pitchFamily="49" charset="-122"/>
              </a:rPr>
              <a:t>在不同网络环境的吞吐率</a:t>
            </a:r>
            <a:endParaRPr lang="zh-CN" altLang="en-US" dirty="0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647404" y="5953967"/>
            <a:ext cx="26116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黑体" panose="02010609060101010101" pitchFamily="49" charset="-122"/>
              </a:rPr>
              <a:t>TCP</a:t>
            </a:r>
            <a:r>
              <a:rPr lang="zh-CN" altLang="en-US" dirty="0">
                <a:latin typeface="Calibri" panose="020F0502020204030204" pitchFamily="34" charset="0"/>
                <a:ea typeface="黑体" panose="02010609060101010101" pitchFamily="49" charset="-122"/>
              </a:rPr>
              <a:t>丢包恢复效率的例子</a:t>
            </a:r>
            <a:endParaRPr lang="zh-CN" altLang="en-US" dirty="0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传输中的其他开销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数据传输前的流程</a:t>
            </a:r>
            <a:endParaRPr lang="en-US" altLang="zh-CN" dirty="0"/>
          </a:p>
          <a:p>
            <a:pPr lvl="1"/>
            <a:r>
              <a:rPr lang="en-US" altLang="zh-CN" dirty="0"/>
              <a:t>DNS</a:t>
            </a:r>
            <a:r>
              <a:rPr lang="zh-CN" altLang="en-US" dirty="0"/>
              <a:t>解析：将域名解析到特定的</a:t>
            </a:r>
            <a:r>
              <a:rPr lang="en-US" altLang="zh-CN" dirty="0"/>
              <a:t>IP</a:t>
            </a:r>
            <a:r>
              <a:rPr lang="zh-CN" altLang="en-US" dirty="0"/>
              <a:t>地址，通常花费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RTT</a:t>
            </a:r>
            <a:endParaRPr lang="en-US" altLang="zh-CN" dirty="0"/>
          </a:p>
          <a:p>
            <a:pPr lvl="1"/>
            <a:r>
              <a:rPr lang="en-US" altLang="zh-CN" dirty="0"/>
              <a:t>TCP</a:t>
            </a:r>
            <a:r>
              <a:rPr lang="zh-CN" altLang="en-US" dirty="0"/>
              <a:t>三次握手：建立连接，需要花费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RTT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grpSp>
        <p:nvGrpSpPr>
          <p:cNvPr id="44" name="组合 43"/>
          <p:cNvGrpSpPr/>
          <p:nvPr/>
        </p:nvGrpSpPr>
        <p:grpSpPr>
          <a:xfrm>
            <a:off x="95692" y="3406337"/>
            <a:ext cx="5521499" cy="2906058"/>
            <a:chOff x="712381" y="3459500"/>
            <a:chExt cx="5521499" cy="2906058"/>
          </a:xfrm>
        </p:grpSpPr>
        <p:grpSp>
          <p:nvGrpSpPr>
            <p:cNvPr id="5" name="组合 4"/>
            <p:cNvGrpSpPr/>
            <p:nvPr/>
          </p:nvGrpSpPr>
          <p:grpSpPr>
            <a:xfrm>
              <a:off x="712381" y="3820838"/>
              <a:ext cx="4860856" cy="2323126"/>
              <a:chOff x="183473" y="2653818"/>
              <a:chExt cx="7271727" cy="3486396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64308" y="3961419"/>
                <a:ext cx="690892" cy="632432"/>
              </a:xfrm>
              <a:prstGeom prst="rect">
                <a:avLst/>
              </a:prstGeom>
            </p:spPr>
          </p:pic>
          <p:grpSp>
            <p:nvGrpSpPr>
              <p:cNvPr id="7" name="组合 6"/>
              <p:cNvGrpSpPr/>
              <p:nvPr/>
            </p:nvGrpSpPr>
            <p:grpSpPr>
              <a:xfrm>
                <a:off x="183473" y="2653818"/>
                <a:ext cx="7063308" cy="3486396"/>
                <a:chOff x="183473" y="2653818"/>
                <a:chExt cx="7063308" cy="3486396"/>
              </a:xfrm>
            </p:grpSpPr>
            <p:pic>
              <p:nvPicPr>
                <p:cNvPr id="8" name="图片 7"/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8661" y="3804994"/>
                  <a:ext cx="835371" cy="547442"/>
                </a:xfrm>
                <a:prstGeom prst="rect">
                  <a:avLst/>
                </a:prstGeom>
              </p:spPr>
            </p:pic>
            <p:sp>
              <p:nvSpPr>
                <p:cNvPr id="9" name="矩形 8"/>
                <p:cNvSpPr/>
                <p:nvPr/>
              </p:nvSpPr>
              <p:spPr>
                <a:xfrm>
                  <a:off x="183473" y="4474421"/>
                  <a:ext cx="180555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 dirty="0"/>
                    <a:t>pc1.cs.ucas.ac.cn</a:t>
                  </a:r>
                  <a:endParaRPr lang="zh-CN" altLang="en-US" b="1" dirty="0"/>
                </a:p>
              </p:txBody>
            </p:sp>
            <p:pic>
              <p:nvPicPr>
                <p:cNvPr id="10" name="图片 9"/>
                <p:cNvPicPr>
                  <a:picLocks noChangeAspect="1"/>
                </p:cNvPicPr>
                <p:nvPr/>
              </p:nvPicPr>
              <p:blipFill>
                <a:blip r:embed="rId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16996" y="3804994"/>
                  <a:ext cx="690892" cy="632432"/>
                </a:xfrm>
                <a:prstGeom prst="rect">
                  <a:avLst/>
                </a:prstGeom>
              </p:spPr>
            </p:pic>
            <p:pic>
              <p:nvPicPr>
                <p:cNvPr id="11" name="图片 10"/>
                <p:cNvPicPr>
                  <a:picLocks noChangeAspect="1"/>
                </p:cNvPicPr>
                <p:nvPr/>
              </p:nvPicPr>
              <p:blipFill>
                <a:blip r:embed="rId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80482" y="3841989"/>
                  <a:ext cx="690892" cy="632432"/>
                </a:xfrm>
                <a:prstGeom prst="rect">
                  <a:avLst/>
                </a:prstGeom>
              </p:spPr>
            </p:pic>
            <p:pic>
              <p:nvPicPr>
                <p:cNvPr id="12" name="图片 11"/>
                <p:cNvPicPr>
                  <a:picLocks noChangeAspect="1"/>
                </p:cNvPicPr>
                <p:nvPr/>
              </p:nvPicPr>
              <p:blipFill>
                <a:blip r:embed="rId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55889" y="2653818"/>
                  <a:ext cx="690892" cy="632432"/>
                </a:xfrm>
                <a:prstGeom prst="rect">
                  <a:avLst/>
                </a:prstGeom>
              </p:spPr>
            </p:pic>
            <p:pic>
              <p:nvPicPr>
                <p:cNvPr id="13" name="图片 12"/>
                <p:cNvPicPr>
                  <a:picLocks noChangeAspect="1"/>
                </p:cNvPicPr>
                <p:nvPr/>
              </p:nvPicPr>
              <p:blipFill>
                <a:blip r:embed="rId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03740" y="5507782"/>
                  <a:ext cx="690892" cy="632432"/>
                </a:xfrm>
                <a:prstGeom prst="rect">
                  <a:avLst/>
                </a:prstGeom>
              </p:spPr>
            </p:pic>
            <p:cxnSp>
              <p:nvCxnSpPr>
                <p:cNvPr id="14" name="直接箭头连接符 13"/>
                <p:cNvCxnSpPr/>
                <p:nvPr/>
              </p:nvCxnSpPr>
              <p:spPr>
                <a:xfrm>
                  <a:off x="1798832" y="3984173"/>
                  <a:ext cx="914400" cy="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箭头连接符 14"/>
                <p:cNvCxnSpPr/>
                <p:nvPr/>
              </p:nvCxnSpPr>
              <p:spPr>
                <a:xfrm flipH="1">
                  <a:off x="1777148" y="4272192"/>
                  <a:ext cx="881655" cy="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箭头连接符 15"/>
                <p:cNvCxnSpPr/>
                <p:nvPr/>
              </p:nvCxnSpPr>
              <p:spPr>
                <a:xfrm>
                  <a:off x="3573204" y="3984173"/>
                  <a:ext cx="925286" cy="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箭头连接符 16"/>
                <p:cNvCxnSpPr/>
                <p:nvPr/>
              </p:nvCxnSpPr>
              <p:spPr>
                <a:xfrm flipH="1">
                  <a:off x="3573204" y="4253842"/>
                  <a:ext cx="925286" cy="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接箭头连接符 17"/>
                <p:cNvCxnSpPr/>
                <p:nvPr/>
              </p:nvCxnSpPr>
              <p:spPr>
                <a:xfrm flipV="1">
                  <a:off x="5271374" y="3080658"/>
                  <a:ext cx="957943" cy="669906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箭头连接符 18"/>
                <p:cNvCxnSpPr/>
                <p:nvPr/>
              </p:nvCxnSpPr>
              <p:spPr>
                <a:xfrm flipH="1">
                  <a:off x="5380232" y="3310251"/>
                  <a:ext cx="914400" cy="632431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箭头连接符 19"/>
                <p:cNvCxnSpPr/>
                <p:nvPr/>
              </p:nvCxnSpPr>
              <p:spPr>
                <a:xfrm>
                  <a:off x="5554490" y="4158205"/>
                  <a:ext cx="1001399" cy="0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箭头连接符 20"/>
                <p:cNvCxnSpPr/>
                <p:nvPr/>
              </p:nvCxnSpPr>
              <p:spPr>
                <a:xfrm flipH="1">
                  <a:off x="5456433" y="4408967"/>
                  <a:ext cx="1099456" cy="1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箭头连接符 21"/>
                <p:cNvCxnSpPr/>
                <p:nvPr/>
              </p:nvCxnSpPr>
              <p:spPr>
                <a:xfrm>
                  <a:off x="5271374" y="4659087"/>
                  <a:ext cx="451933" cy="664029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箭头连接符 22"/>
                <p:cNvCxnSpPr/>
                <p:nvPr/>
              </p:nvCxnSpPr>
              <p:spPr>
                <a:xfrm flipH="1" flipV="1">
                  <a:off x="5086317" y="4796586"/>
                  <a:ext cx="468173" cy="669426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4" name="文本框 23"/>
            <p:cNvSpPr txBox="1"/>
            <p:nvPr/>
          </p:nvSpPr>
          <p:spPr>
            <a:xfrm>
              <a:off x="1710459" y="4189614"/>
              <a:ext cx="16531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/>
                <a:t>dns.cs.ucas.ac.cn</a:t>
              </a:r>
              <a:endParaRPr lang="zh-CN" altLang="en-US" sz="1600" b="1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3107414" y="4025811"/>
              <a:ext cx="15094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/>
                <a:t>dns.ucas.ac.cn</a:t>
              </a:r>
              <a:endParaRPr lang="zh-CN" altLang="en-US" sz="1600" b="1" dirty="0"/>
            </a:p>
          </p:txBody>
        </p:sp>
        <p:sp>
          <p:nvSpPr>
            <p:cNvPr id="26" name="矩形 25"/>
            <p:cNvSpPr/>
            <p:nvPr/>
          </p:nvSpPr>
          <p:spPr>
            <a:xfrm>
              <a:off x="4185067" y="3459500"/>
              <a:ext cx="1829351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dirty="0"/>
                <a:t>root DNS Server</a:t>
              </a:r>
              <a:endParaRPr lang="en-US" altLang="zh-CN" sz="1600" dirty="0"/>
            </a:p>
          </p:txBody>
        </p:sp>
        <p:sp>
          <p:nvSpPr>
            <p:cNvPr id="27" name="Text Box 63"/>
            <p:cNvSpPr txBox="1">
              <a:spLocks noChangeArrowheads="1"/>
            </p:cNvSpPr>
            <p:nvPr/>
          </p:nvSpPr>
          <p:spPr bwMode="auto">
            <a:xfrm>
              <a:off x="4720202" y="5297570"/>
              <a:ext cx="151367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600" b="0" dirty="0">
                  <a:latin typeface="Calibri" panose="020F0502020204030204" pitchFamily="34" charset="0"/>
                  <a:cs typeface="Calibri" panose="020F0502020204030204" pitchFamily="34" charset="0"/>
                </a:rPr>
                <a:t>TLD DNS server</a:t>
              </a:r>
              <a:endParaRPr lang="en-US" altLang="zh-CN" sz="1600" b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Text Box 58"/>
            <p:cNvSpPr txBox="1">
              <a:spLocks noChangeArrowheads="1"/>
            </p:cNvSpPr>
            <p:nvPr/>
          </p:nvSpPr>
          <p:spPr bwMode="auto">
            <a:xfrm>
              <a:off x="3261636" y="6027004"/>
              <a:ext cx="155410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dns.baidu.com</a:t>
              </a:r>
              <a:endParaRPr lang="en-US" altLang="zh-CN" sz="1600" b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919324" y="4387722"/>
              <a:ext cx="1960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  <a:endParaRPr lang="zh-CN" altLang="en-US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3153244" y="4379839"/>
              <a:ext cx="1969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  <a:endParaRPr lang="zh-CN" altLang="en-US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3132771" y="4928894"/>
              <a:ext cx="2874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>
                      <a:lumMod val="75000"/>
                    </a:schemeClr>
                  </a:solidFill>
                </a:rPr>
                <a:t>9</a:t>
              </a:r>
              <a:endParaRPr lang="zh-CN" altLang="en-US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838748" y="4916557"/>
              <a:ext cx="5795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>
                      <a:lumMod val="75000"/>
                    </a:schemeClr>
                  </a:solidFill>
                </a:rPr>
                <a:t>10</a:t>
              </a:r>
              <a:endParaRPr lang="zh-CN" altLang="en-US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4185067" y="3975700"/>
              <a:ext cx="1969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3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4744381" y="4258180"/>
              <a:ext cx="1969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4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4523242" y="4452891"/>
              <a:ext cx="1969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5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4464496" y="5009328"/>
              <a:ext cx="1969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6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4204209" y="5080442"/>
              <a:ext cx="1969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7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3776800" y="5401268"/>
              <a:ext cx="1969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8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1066616" y="5652716"/>
              <a:ext cx="1847664" cy="707435"/>
              <a:chOff x="1106474" y="5324899"/>
              <a:chExt cx="2764062" cy="1061673"/>
            </a:xfrm>
          </p:grpSpPr>
          <p:cxnSp>
            <p:nvCxnSpPr>
              <p:cNvPr id="40" name="直接箭头连接符 39"/>
              <p:cNvCxnSpPr/>
              <p:nvPr/>
            </p:nvCxnSpPr>
            <p:spPr>
              <a:xfrm>
                <a:off x="1106474" y="5513419"/>
                <a:ext cx="914400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/>
              <p:cNvCxnSpPr/>
              <p:nvPr/>
            </p:nvCxnSpPr>
            <p:spPr>
              <a:xfrm flipV="1">
                <a:off x="1106474" y="5992009"/>
                <a:ext cx="914400" cy="11974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文本框 41"/>
              <p:cNvSpPr txBox="1"/>
              <p:nvPr/>
            </p:nvSpPr>
            <p:spPr>
              <a:xfrm>
                <a:off x="2213000" y="5324899"/>
                <a:ext cx="1657536" cy="55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ea typeface="楷体" panose="02010609060101010101" pitchFamily="49" charset="-122"/>
                  </a:rPr>
                  <a:t>递归查询</a:t>
                </a:r>
                <a:endParaRPr lang="zh-CN" altLang="en-US" dirty="0">
                  <a:ea typeface="楷体" panose="02010609060101010101" pitchFamily="49" charset="-122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2204035" y="5832302"/>
                <a:ext cx="1657536" cy="55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ea typeface="楷体" panose="02010609060101010101" pitchFamily="49" charset="-122"/>
                  </a:rPr>
                  <a:t>迭代查询</a:t>
                </a:r>
                <a:endParaRPr lang="zh-CN" altLang="en-US" dirty="0">
                  <a:ea typeface="楷体" panose="02010609060101010101" pitchFamily="49" charset="-122"/>
                </a:endParaRPr>
              </a:p>
            </p:txBody>
          </p:sp>
        </p:grpSp>
      </p:grpSp>
      <p:grpSp>
        <p:nvGrpSpPr>
          <p:cNvPr id="45" name="组合 44"/>
          <p:cNvGrpSpPr/>
          <p:nvPr/>
        </p:nvGrpSpPr>
        <p:grpSpPr>
          <a:xfrm>
            <a:off x="6240090" y="3763062"/>
            <a:ext cx="2541914" cy="2418849"/>
            <a:chOff x="6251568" y="2405399"/>
            <a:chExt cx="2541914" cy="2418849"/>
          </a:xfrm>
        </p:grpSpPr>
        <p:cxnSp>
          <p:nvCxnSpPr>
            <p:cNvPr id="46" name="直接连接符 45"/>
            <p:cNvCxnSpPr/>
            <p:nvPr/>
          </p:nvCxnSpPr>
          <p:spPr>
            <a:xfrm>
              <a:off x="6542032" y="2774731"/>
              <a:ext cx="0" cy="204951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8567244" y="2774731"/>
              <a:ext cx="0" cy="204951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47"/>
            <p:cNvSpPr txBox="1"/>
            <p:nvPr/>
          </p:nvSpPr>
          <p:spPr>
            <a:xfrm>
              <a:off x="6251568" y="2405399"/>
              <a:ext cx="785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Server</a:t>
              </a:r>
              <a:endParaRPr lang="zh-CN" altLang="en-US" dirty="0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8067514" y="2405399"/>
              <a:ext cx="7259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Client</a:t>
              </a:r>
              <a:endParaRPr lang="zh-CN" altLang="en-US" dirty="0"/>
            </a:p>
          </p:txBody>
        </p:sp>
        <p:cxnSp>
          <p:nvCxnSpPr>
            <p:cNvPr id="50" name="直接箭头连接符 49"/>
            <p:cNvCxnSpPr/>
            <p:nvPr/>
          </p:nvCxnSpPr>
          <p:spPr>
            <a:xfrm flipH="1">
              <a:off x="6832497" y="2911365"/>
              <a:ext cx="1418897" cy="4624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/>
            <p:cNvCxnSpPr/>
            <p:nvPr/>
          </p:nvCxnSpPr>
          <p:spPr>
            <a:xfrm flipH="1">
              <a:off x="6832496" y="4153248"/>
              <a:ext cx="1418897" cy="4624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/>
            <p:cNvCxnSpPr/>
            <p:nvPr/>
          </p:nvCxnSpPr>
          <p:spPr>
            <a:xfrm rot="10800000" flipH="1" flipV="1">
              <a:off x="6857883" y="3537098"/>
              <a:ext cx="1418897" cy="4624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/>
            <p:cNvSpPr txBox="1"/>
            <p:nvPr/>
          </p:nvSpPr>
          <p:spPr>
            <a:xfrm>
              <a:off x="6989380" y="2711669"/>
              <a:ext cx="10242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SYN: </a:t>
              </a:r>
              <a:r>
                <a:rPr lang="en-US" altLang="zh-CN" sz="1600" dirty="0" err="1"/>
                <a:t>SeqC</a:t>
              </a:r>
              <a:endParaRPr lang="zh-CN" altLang="en-US" sz="1600" dirty="0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6985061" y="3553208"/>
              <a:ext cx="10098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SYN: </a:t>
              </a:r>
              <a:r>
                <a:rPr lang="en-US" altLang="zh-CN" sz="1600" dirty="0" err="1"/>
                <a:t>SeqS</a:t>
              </a:r>
              <a:endParaRPr lang="zh-CN" altLang="en-US" sz="1600" dirty="0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6900978" y="3346073"/>
              <a:ext cx="12395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ACK: SeqC+1</a:t>
              </a:r>
              <a:endParaRPr lang="zh-CN" altLang="en-US" sz="1600" dirty="0"/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6857882" y="4095728"/>
              <a:ext cx="122514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ACK: SeqS+1</a:t>
              </a:r>
              <a:endParaRPr lang="zh-CN" altLang="en-US" sz="1600" dirty="0"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现实网络中的传输性能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8262" y="1619634"/>
            <a:ext cx="6467475" cy="36385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57200" y="5360597"/>
            <a:ext cx="81977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Total time (24.6x) = DNS resolution (5.4x) + TCP handshake (3.2x) + TCP transfer (8.7x)</a:t>
            </a:r>
            <a:endParaRPr lang="en-US" altLang="zh-CN" dirty="0"/>
          </a:p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互联网是一个</a:t>
            </a:r>
            <a:r>
              <a:rPr lang="zh-CN" altLang="en-US" dirty="0">
                <a:solidFill>
                  <a:srgbClr val="0070C0"/>
                </a:solidFill>
              </a:rPr>
              <a:t>分层设计</a:t>
            </a:r>
            <a:r>
              <a:rPr lang="zh-CN" altLang="en-US" dirty="0"/>
              <a:t>的分布式网络系统</a:t>
            </a:r>
            <a:endParaRPr lang="en-US" altLang="zh-CN" dirty="0"/>
          </a:p>
          <a:p>
            <a:pPr lvl="1"/>
            <a:r>
              <a:rPr lang="zh-CN" altLang="en-US" dirty="0"/>
              <a:t>现有体系结构模型不是一蹴而就，而是逐渐演化来的</a:t>
            </a:r>
            <a:endParaRPr lang="en-US" altLang="zh-CN" dirty="0"/>
          </a:p>
          <a:p>
            <a:r>
              <a:rPr lang="zh-CN" altLang="en-US" dirty="0"/>
              <a:t>网络测量，是互联网研究领域的重要工作</a:t>
            </a:r>
            <a:endParaRPr lang="en-US" altLang="zh-CN" dirty="0"/>
          </a:p>
          <a:p>
            <a:pPr lvl="1"/>
            <a:r>
              <a:rPr lang="zh-CN" altLang="en-US" dirty="0"/>
              <a:t>是认识互联网的有效途径</a:t>
            </a:r>
            <a:endParaRPr lang="en-US" altLang="zh-CN" dirty="0"/>
          </a:p>
          <a:p>
            <a:pPr lvl="1"/>
            <a:r>
              <a:rPr lang="zh-CN" altLang="en-US" dirty="0"/>
              <a:t>是性能分析、诊断、资源调度、网络规划的重要前提</a:t>
            </a:r>
            <a:endParaRPr lang="en-US" altLang="zh-CN" dirty="0"/>
          </a:p>
          <a:p>
            <a:r>
              <a:rPr lang="zh-CN" altLang="en-US" dirty="0"/>
              <a:t>互联网传输性能至关重要</a:t>
            </a:r>
            <a:endParaRPr lang="en-US" altLang="zh-CN" dirty="0"/>
          </a:p>
          <a:p>
            <a:pPr lvl="1"/>
            <a:r>
              <a:rPr lang="zh-CN" altLang="en-US" dirty="0"/>
              <a:t>决定了用户体验，影响服务营收</a:t>
            </a:r>
            <a:endParaRPr lang="en-US" altLang="zh-CN" dirty="0"/>
          </a:p>
          <a:p>
            <a:pPr lvl="1"/>
            <a:r>
              <a:rPr lang="zh-CN" altLang="en-US" dirty="0"/>
              <a:t>受很多因素影响，有较大的改进空间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网络实验：搭建一个简单的网络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975732" y="4036741"/>
            <a:ext cx="7192536" cy="1405055"/>
            <a:chOff x="892098" y="3267307"/>
            <a:chExt cx="7192536" cy="1405055"/>
          </a:xfrm>
        </p:grpSpPr>
        <p:sp>
          <p:nvSpPr>
            <p:cNvPr id="7" name="圆柱形 6"/>
            <p:cNvSpPr/>
            <p:nvPr/>
          </p:nvSpPr>
          <p:spPr>
            <a:xfrm>
              <a:off x="3802566" y="4014440"/>
              <a:ext cx="1371600" cy="657922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Router</a:t>
              </a:r>
              <a:endParaRPr lang="zh-CN" altLang="en-US" dirty="0"/>
            </a:p>
          </p:txBody>
        </p:sp>
        <p:sp>
          <p:nvSpPr>
            <p:cNvPr id="8" name="立方体 7"/>
            <p:cNvSpPr/>
            <p:nvPr/>
          </p:nvSpPr>
          <p:spPr>
            <a:xfrm>
              <a:off x="892098" y="4014440"/>
              <a:ext cx="1449659" cy="657922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Host</a:t>
              </a:r>
              <a:endParaRPr lang="zh-CN" altLang="en-US" dirty="0"/>
            </a:p>
          </p:txBody>
        </p:sp>
        <p:sp>
          <p:nvSpPr>
            <p:cNvPr id="9" name="立方体 8"/>
            <p:cNvSpPr/>
            <p:nvPr/>
          </p:nvSpPr>
          <p:spPr>
            <a:xfrm>
              <a:off x="6634975" y="4014440"/>
              <a:ext cx="1449659" cy="657922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Host</a:t>
              </a:r>
              <a:endParaRPr lang="zh-CN" altLang="en-US" dirty="0"/>
            </a:p>
          </p:txBody>
        </p:sp>
        <p:cxnSp>
          <p:nvCxnSpPr>
            <p:cNvPr id="11" name="直接连接符 10"/>
            <p:cNvCxnSpPr/>
            <p:nvPr/>
          </p:nvCxnSpPr>
          <p:spPr>
            <a:xfrm flipV="1">
              <a:off x="2341757" y="4343401"/>
              <a:ext cx="14914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stCxn id="7" idx="4"/>
            </p:cNvCxnSpPr>
            <p:nvPr/>
          </p:nvCxnSpPr>
          <p:spPr>
            <a:xfrm flipV="1">
              <a:off x="5174166" y="4334109"/>
              <a:ext cx="1491475" cy="92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立方体 16"/>
            <p:cNvSpPr/>
            <p:nvPr/>
          </p:nvSpPr>
          <p:spPr>
            <a:xfrm>
              <a:off x="1304692" y="3691054"/>
              <a:ext cx="624469" cy="479502"/>
            </a:xfrm>
            <a:prstGeom prst="cub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立方体 17"/>
            <p:cNvSpPr/>
            <p:nvPr/>
          </p:nvSpPr>
          <p:spPr>
            <a:xfrm>
              <a:off x="7047569" y="3691054"/>
              <a:ext cx="624469" cy="479502"/>
            </a:xfrm>
            <a:prstGeom prst="cub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15122" y="3267307"/>
              <a:ext cx="11491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Client APP</a:t>
              </a:r>
              <a:endParaRPr lang="zh-CN" altLang="en-US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6823963" y="3321722"/>
              <a:ext cx="12088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Server APP</a:t>
              </a:r>
              <a:endParaRPr lang="zh-CN" altLang="en-US" dirty="0"/>
            </a:p>
          </p:txBody>
        </p:sp>
      </p:grpSp>
      <p:sp>
        <p:nvSpPr>
          <p:cNvPr id="22" name="内容占位符 2"/>
          <p:cNvSpPr>
            <a:spLocks noGrp="1"/>
          </p:cNvSpPr>
          <p:nvPr>
            <p:ph idx="1"/>
          </p:nvPr>
        </p:nvSpPr>
        <p:spPr>
          <a:xfrm>
            <a:off x="457200" y="2016254"/>
            <a:ext cx="8229600" cy="1226634"/>
          </a:xfrm>
        </p:spPr>
        <p:txBody>
          <a:bodyPr/>
          <a:lstStyle/>
          <a:p>
            <a:r>
              <a:rPr lang="zh-CN" altLang="en-US" dirty="0"/>
              <a:t>通过路由器（</a:t>
            </a:r>
            <a:r>
              <a:rPr lang="en-US" altLang="zh-CN" dirty="0"/>
              <a:t>Router</a:t>
            </a:r>
            <a:r>
              <a:rPr lang="zh-CN" altLang="en-US" dirty="0"/>
              <a:t>）将两台主机互连，每台主机上运行相应的网络程序</a:t>
            </a:r>
            <a:endParaRPr lang="zh-CN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网络实验平台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87658" y="1764987"/>
          <a:ext cx="7642302" cy="4000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434"/>
                <a:gridCol w="2547434"/>
                <a:gridCol w="2547434"/>
              </a:tblGrid>
              <a:tr h="1000048">
                <a:tc>
                  <a:txBody>
                    <a:bodyPr/>
                    <a:lstStyle/>
                    <a:p>
                      <a:r>
                        <a:rPr lang="zh-CN" altLang="en-US" dirty="0"/>
                        <a:t>平台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优点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缺点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1000048">
                <a:tc>
                  <a:txBody>
                    <a:bodyPr/>
                    <a:lstStyle/>
                    <a:p>
                      <a:r>
                        <a:rPr lang="zh-CN" altLang="en-US" dirty="0"/>
                        <a:t>硬件网络平台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真实；高效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价格昂贵；不易配置；不易扩展；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1000048">
                <a:tc>
                  <a:txBody>
                    <a:bodyPr/>
                    <a:lstStyle/>
                    <a:p>
                      <a:r>
                        <a:rPr lang="zh-CN" altLang="en-US" dirty="0"/>
                        <a:t>模拟平台（</a:t>
                      </a:r>
                      <a:r>
                        <a:rPr lang="en-US" altLang="zh-CN" dirty="0"/>
                        <a:t>Simulator</a:t>
                      </a:r>
                      <a:r>
                        <a:rPr lang="zh-CN" altLang="en-US" dirty="0"/>
                        <a:t>）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软件实现；快速实验；容易扩展；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模拟结果可能和实际结果差别较大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1000048">
                <a:tc>
                  <a:txBody>
                    <a:bodyPr/>
                    <a:lstStyle/>
                    <a:p>
                      <a:r>
                        <a:rPr lang="zh-CN" altLang="en-US" dirty="0"/>
                        <a:t>仿真平台（</a:t>
                      </a:r>
                      <a:r>
                        <a:rPr lang="en-US" altLang="zh-CN" dirty="0"/>
                        <a:t>Emulator</a:t>
                      </a:r>
                      <a:r>
                        <a:rPr lang="zh-CN" altLang="en-US" dirty="0"/>
                        <a:t>）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软件实现；容易扩展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比硬件平台速度稍慢</a:t>
                      </a:r>
                      <a:endParaRPr lang="zh-CN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网络仿真平台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借助虚拟化技术，在物理机器上虚拟出多个节点，不同节点间通过虚拟链路（例如</a:t>
            </a:r>
            <a:r>
              <a:rPr lang="en-US" altLang="zh-CN" dirty="0"/>
              <a:t> open </a:t>
            </a:r>
            <a:r>
              <a:rPr lang="en-US" altLang="zh-CN" dirty="0" err="1"/>
              <a:t>vswitch</a:t>
            </a:r>
            <a:r>
              <a:rPr lang="zh-CN" altLang="en-US" dirty="0"/>
              <a:t>）互连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相比于硬件网络平台：</a:t>
            </a:r>
            <a:endParaRPr lang="en-US" altLang="zh-CN" dirty="0"/>
          </a:p>
          <a:p>
            <a:pPr lvl="1"/>
            <a:r>
              <a:rPr lang="zh-CN" altLang="en-US" dirty="0"/>
              <a:t>成本低、部署快、可扩展</a:t>
            </a:r>
            <a:endParaRPr lang="en-US" altLang="zh-CN" dirty="0"/>
          </a:p>
          <a:p>
            <a:r>
              <a:rPr lang="zh-CN" altLang="en-US" dirty="0"/>
              <a:t>相比于网络模拟器：</a:t>
            </a:r>
            <a:endParaRPr lang="en-US" altLang="zh-CN" dirty="0"/>
          </a:p>
          <a:p>
            <a:pPr lvl="1"/>
            <a:r>
              <a:rPr lang="zh-CN" altLang="en-US" dirty="0"/>
              <a:t>更接近真实网络结果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				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602166" y="1572322"/>
            <a:ext cx="7839307" cy="43378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全虚拟化技术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722863" y="4828478"/>
            <a:ext cx="5698274" cy="5575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Linux Kernel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724508" y="4315520"/>
            <a:ext cx="680224" cy="423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tap1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463991" y="4315520"/>
            <a:ext cx="680224" cy="423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tap3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2033239" y="4315520"/>
            <a:ext cx="680224" cy="423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tap0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372200" y="2127406"/>
            <a:ext cx="1980000" cy="208775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570849" y="2127405"/>
            <a:ext cx="1980000" cy="208775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802952" y="2127405"/>
            <a:ext cx="1980000" cy="208775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724402" y="4315520"/>
            <a:ext cx="680224" cy="423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tap2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2033239" y="3657597"/>
            <a:ext cx="680224" cy="423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eth0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3724508" y="3657597"/>
            <a:ext cx="680224" cy="423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eth0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4718827" y="3646445"/>
            <a:ext cx="680224" cy="423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eth1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6463991" y="3657597"/>
            <a:ext cx="680224" cy="423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eth0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605776" y="3178098"/>
            <a:ext cx="1505414" cy="3345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init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1605776" y="2725233"/>
            <a:ext cx="1505414" cy="3345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bash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1895706" y="2251305"/>
            <a:ext cx="936000" cy="33453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client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3800680" y="3149597"/>
            <a:ext cx="1505414" cy="3345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init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3800680" y="2696732"/>
            <a:ext cx="1505414" cy="3345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bash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4090610" y="2222804"/>
            <a:ext cx="936000" cy="33453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router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6039330" y="3183045"/>
            <a:ext cx="1505414" cy="3345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init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6039330" y="2730180"/>
            <a:ext cx="1505414" cy="3345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bash</a:t>
            </a:r>
            <a:endParaRPr lang="zh-CN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6329260" y="2256252"/>
            <a:ext cx="936000" cy="33453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server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692727" y="1738871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VM 1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4052587" y="1738871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VM 2</a:t>
            </a:r>
            <a:endParaRPr lang="zh-CN" altLang="en-US" dirty="0"/>
          </a:p>
        </p:txBody>
      </p:sp>
      <p:sp>
        <p:nvSpPr>
          <p:cNvPr id="36" name="文本框 35"/>
          <p:cNvSpPr txBox="1"/>
          <p:nvPr/>
        </p:nvSpPr>
        <p:spPr>
          <a:xfrm>
            <a:off x="7265260" y="1738871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VM 3</a:t>
            </a:r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2154998" y="4001265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10.0.1.2</a:t>
            </a:r>
            <a:endParaRPr lang="zh-CN" altLang="en-US" dirty="0"/>
          </a:p>
        </p:txBody>
      </p:sp>
      <p:sp>
        <p:nvSpPr>
          <p:cNvPr id="39" name="文本框 38"/>
          <p:cNvSpPr txBox="1"/>
          <p:nvPr/>
        </p:nvSpPr>
        <p:spPr>
          <a:xfrm>
            <a:off x="3188018" y="4008860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10.0.1.1</a:t>
            </a:r>
            <a:endParaRPr lang="zh-CN" altLang="en-US" dirty="0"/>
          </a:p>
        </p:txBody>
      </p:sp>
      <p:sp>
        <p:nvSpPr>
          <p:cNvPr id="40" name="文本框 39"/>
          <p:cNvSpPr txBox="1"/>
          <p:nvPr/>
        </p:nvSpPr>
        <p:spPr>
          <a:xfrm>
            <a:off x="4970385" y="4004421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10.0.2.1</a:t>
            </a:r>
            <a:endParaRPr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5936988" y="4004421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10.0.2.2</a:t>
            </a:r>
            <a:endParaRPr lang="zh-CN" altLang="en-US" dirty="0"/>
          </a:p>
        </p:txBody>
      </p:sp>
      <p:sp>
        <p:nvSpPr>
          <p:cNvPr id="42" name="文本框 41"/>
          <p:cNvSpPr txBox="1"/>
          <p:nvPr/>
        </p:nvSpPr>
        <p:spPr>
          <a:xfrm>
            <a:off x="4130905" y="5956613"/>
            <a:ext cx="667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Host </a:t>
            </a:r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网络命名空间</a:t>
            </a:r>
            <a:r>
              <a:rPr lang="en-US" altLang="zh-CN" dirty="0"/>
              <a:t>(Network Namespace)</a:t>
            </a:r>
            <a:r>
              <a:rPr lang="zh-CN" altLang="en-US" dirty="0"/>
              <a:t>技术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02166" y="1572322"/>
            <a:ext cx="7839307" cy="43378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722863" y="4828478"/>
            <a:ext cx="5698274" cy="5575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Linux Kernel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3657601" y="4315520"/>
            <a:ext cx="798467" cy="423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veth2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397084" y="4315520"/>
            <a:ext cx="798467" cy="423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veth4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966332" y="4315520"/>
            <a:ext cx="798467" cy="423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veth1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372200" y="2127406"/>
            <a:ext cx="1980000" cy="208775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70849" y="2127405"/>
            <a:ext cx="1980000" cy="208775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802952" y="2127405"/>
            <a:ext cx="1980000" cy="208775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657495" y="4315520"/>
            <a:ext cx="798467" cy="423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veth3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2033239" y="3657597"/>
            <a:ext cx="680224" cy="423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eth0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3724508" y="3657597"/>
            <a:ext cx="680224" cy="423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eth0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4718827" y="3646445"/>
            <a:ext cx="680224" cy="423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eth1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6463991" y="3657597"/>
            <a:ext cx="680224" cy="423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eth0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895706" y="2251305"/>
            <a:ext cx="936000" cy="33453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client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4090610" y="2222804"/>
            <a:ext cx="936000" cy="33453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router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6329260" y="2256252"/>
            <a:ext cx="936000" cy="33453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server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4130905" y="5956613"/>
            <a:ext cx="667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Host </a:t>
            </a:r>
            <a:endParaRPr lang="zh-CN" altLang="en-US" dirty="0"/>
          </a:p>
        </p:txBody>
      </p:sp>
      <p:cxnSp>
        <p:nvCxnSpPr>
          <p:cNvPr id="36" name="直接连接符 35"/>
          <p:cNvCxnSpPr>
            <a:stCxn id="9" idx="3"/>
            <a:endCxn id="7" idx="1"/>
          </p:cNvCxnSpPr>
          <p:nvPr/>
        </p:nvCxnSpPr>
        <p:spPr>
          <a:xfrm>
            <a:off x="2764799" y="4527393"/>
            <a:ext cx="8928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>
            <a:stCxn id="13" idx="3"/>
            <a:endCxn id="8" idx="1"/>
          </p:cNvCxnSpPr>
          <p:nvPr/>
        </p:nvCxnSpPr>
        <p:spPr>
          <a:xfrm>
            <a:off x="5455962" y="4527393"/>
            <a:ext cx="9411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1335150" y="3010682"/>
            <a:ext cx="20764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Network Namespace 1</a:t>
            </a:r>
            <a:endParaRPr lang="zh-CN" altLang="en-US" sz="1600" dirty="0"/>
          </a:p>
        </p:txBody>
      </p:sp>
      <p:sp>
        <p:nvSpPr>
          <p:cNvPr id="40" name="文本框 39"/>
          <p:cNvSpPr txBox="1"/>
          <p:nvPr/>
        </p:nvSpPr>
        <p:spPr>
          <a:xfrm>
            <a:off x="3557544" y="3006807"/>
            <a:ext cx="20764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Network Namespace 2</a:t>
            </a:r>
            <a:endParaRPr lang="zh-CN" altLang="en-US" sz="1600" dirty="0"/>
          </a:p>
        </p:txBody>
      </p:sp>
      <p:sp>
        <p:nvSpPr>
          <p:cNvPr id="41" name="文本框 40"/>
          <p:cNvSpPr txBox="1"/>
          <p:nvPr/>
        </p:nvSpPr>
        <p:spPr>
          <a:xfrm>
            <a:off x="5779938" y="3002004"/>
            <a:ext cx="20764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Network Namespace 3</a:t>
            </a:r>
            <a:endParaRPr lang="zh-CN" altLang="en-US" sz="1600" dirty="0"/>
          </a:p>
        </p:txBody>
      </p:sp>
      <p:cxnSp>
        <p:nvCxnSpPr>
          <p:cNvPr id="43" name="直接连接符 42"/>
          <p:cNvCxnSpPr/>
          <p:nvPr/>
        </p:nvCxnSpPr>
        <p:spPr>
          <a:xfrm flipV="1">
            <a:off x="2362200" y="4070191"/>
            <a:ext cx="0" cy="30040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>
            <a:stCxn id="7" idx="0"/>
            <a:endCxn id="15" idx="2"/>
          </p:cNvCxnSpPr>
          <p:nvPr/>
        </p:nvCxnSpPr>
        <p:spPr>
          <a:xfrm flipV="1">
            <a:off x="4056835" y="4081343"/>
            <a:ext cx="7785" cy="23417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>
            <a:stCxn id="13" idx="0"/>
            <a:endCxn id="16" idx="2"/>
          </p:cNvCxnSpPr>
          <p:nvPr/>
        </p:nvCxnSpPr>
        <p:spPr>
          <a:xfrm flipV="1">
            <a:off x="5056729" y="4070191"/>
            <a:ext cx="2210" cy="24532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stCxn id="8" idx="0"/>
            <a:endCxn id="17" idx="2"/>
          </p:cNvCxnSpPr>
          <p:nvPr/>
        </p:nvCxnSpPr>
        <p:spPr>
          <a:xfrm flipV="1">
            <a:off x="6796318" y="4081343"/>
            <a:ext cx="7785" cy="23417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2154998" y="4001265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10.0.1.2</a:t>
            </a:r>
            <a:endParaRPr lang="zh-CN" altLang="en-US" dirty="0"/>
          </a:p>
        </p:txBody>
      </p:sp>
      <p:sp>
        <p:nvSpPr>
          <p:cNvPr id="53" name="文本框 52"/>
          <p:cNvSpPr txBox="1"/>
          <p:nvPr/>
        </p:nvSpPr>
        <p:spPr>
          <a:xfrm>
            <a:off x="3188018" y="4008860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10.0.1.1</a:t>
            </a:r>
            <a:endParaRPr lang="zh-CN" altLang="en-US" dirty="0"/>
          </a:p>
        </p:txBody>
      </p:sp>
      <p:sp>
        <p:nvSpPr>
          <p:cNvPr id="54" name="文本框 53"/>
          <p:cNvSpPr txBox="1"/>
          <p:nvPr/>
        </p:nvSpPr>
        <p:spPr>
          <a:xfrm>
            <a:off x="4970385" y="4004421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10.0.2.1</a:t>
            </a:r>
            <a:endParaRPr lang="zh-CN" altLang="en-US" dirty="0"/>
          </a:p>
        </p:txBody>
      </p:sp>
      <p:sp>
        <p:nvSpPr>
          <p:cNvPr id="55" name="文本框 54"/>
          <p:cNvSpPr txBox="1"/>
          <p:nvPr/>
        </p:nvSpPr>
        <p:spPr>
          <a:xfrm>
            <a:off x="5936988" y="4004421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10.0.2.2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6906343" y="4029046"/>
            <a:ext cx="2201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virtual Ethernet pairs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基于网络命名空间的网络环境搭建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GB" altLang="zh-CN" sz="1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# Create link</a:t>
            </a:r>
            <a:endParaRPr lang="en-GB" altLang="zh-CN" sz="1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zh-CN" sz="1800" dirty="0"/>
              <a:t>sudo </a:t>
            </a:r>
            <a:r>
              <a:rPr lang="en-GB" altLang="zh-CN" sz="1800" dirty="0" err="1"/>
              <a:t>ip</a:t>
            </a:r>
            <a:r>
              <a:rPr lang="en-GB" altLang="zh-CN" sz="1800" dirty="0"/>
              <a:t> link add name h1-eth0 type </a:t>
            </a:r>
            <a:r>
              <a:rPr lang="en-GB" altLang="zh-CN" sz="1800" dirty="0" err="1"/>
              <a:t>veth</a:t>
            </a:r>
            <a:r>
              <a:rPr lang="en-GB" altLang="zh-CN" sz="1800" dirty="0"/>
              <a:t> peer name h2-eth0 </a:t>
            </a:r>
            <a:r>
              <a:rPr lang="en-GB" altLang="zh-CN" sz="1800" dirty="0" err="1"/>
              <a:t>netns</a:t>
            </a:r>
            <a:r>
              <a:rPr lang="en-GB" altLang="zh-CN" sz="1800" dirty="0"/>
              <a:t> 1</a:t>
            </a:r>
            <a:endParaRPr lang="en-GB" altLang="zh-CN" sz="1800" dirty="0"/>
          </a:p>
          <a:p>
            <a:pPr marL="0" indent="0">
              <a:lnSpc>
                <a:spcPct val="90000"/>
              </a:lnSpc>
              <a:buNone/>
            </a:pPr>
            <a:endParaRPr lang="en-GB" altLang="zh-CN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GB" altLang="zh-CN" sz="1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# Create host namespaces</a:t>
            </a:r>
            <a:endParaRPr lang="en-GB" altLang="zh-CN" sz="1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zh-CN" sz="1800" dirty="0"/>
              <a:t>sudo </a:t>
            </a:r>
            <a:r>
              <a:rPr lang="en-GB" altLang="zh-CN" sz="1800" dirty="0" err="1"/>
              <a:t>ip</a:t>
            </a:r>
            <a:r>
              <a:rPr lang="en-GB" altLang="zh-CN" sz="1800" dirty="0"/>
              <a:t> </a:t>
            </a:r>
            <a:r>
              <a:rPr lang="en-GB" altLang="zh-CN" sz="1800" dirty="0" err="1"/>
              <a:t>netns</a:t>
            </a:r>
            <a:r>
              <a:rPr lang="en-GB" altLang="zh-CN" sz="1800" dirty="0"/>
              <a:t> add h1</a:t>
            </a:r>
            <a:endParaRPr lang="en-GB" altLang="zh-CN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GB" altLang="zh-CN" sz="1800" dirty="0"/>
              <a:t>sudo </a:t>
            </a:r>
            <a:r>
              <a:rPr lang="en-GB" altLang="zh-CN" sz="1800" dirty="0" err="1"/>
              <a:t>ip</a:t>
            </a:r>
            <a:r>
              <a:rPr lang="en-GB" altLang="zh-CN" sz="1800" dirty="0"/>
              <a:t> </a:t>
            </a:r>
            <a:r>
              <a:rPr lang="en-GB" altLang="zh-CN" sz="1800" dirty="0" err="1"/>
              <a:t>netns</a:t>
            </a:r>
            <a:r>
              <a:rPr lang="en-GB" altLang="zh-CN" sz="1800" dirty="0"/>
              <a:t> add h2</a:t>
            </a:r>
            <a:endParaRPr lang="en-GB" altLang="zh-CN" sz="1800" dirty="0"/>
          </a:p>
          <a:p>
            <a:pPr marL="0" indent="0">
              <a:lnSpc>
                <a:spcPct val="90000"/>
              </a:lnSpc>
              <a:buNone/>
            </a:pPr>
            <a:endParaRPr lang="en-GB" altLang="zh-CN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GB" altLang="zh-CN" sz="1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# Move host ports into namespaces</a:t>
            </a:r>
            <a:endParaRPr lang="en-GB" altLang="zh-CN" sz="1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zh-CN" sz="1800" dirty="0"/>
              <a:t>sudo </a:t>
            </a:r>
            <a:r>
              <a:rPr lang="en-GB" altLang="zh-CN" sz="1800" dirty="0" err="1"/>
              <a:t>ip</a:t>
            </a:r>
            <a:r>
              <a:rPr lang="en-GB" altLang="zh-CN" sz="1800" dirty="0"/>
              <a:t> link set h1-eth0 </a:t>
            </a:r>
            <a:r>
              <a:rPr lang="en-GB" altLang="zh-CN" sz="1800" dirty="0" err="1"/>
              <a:t>netns</a:t>
            </a:r>
            <a:r>
              <a:rPr lang="en-GB" altLang="zh-CN" sz="1800" dirty="0"/>
              <a:t> h1</a:t>
            </a:r>
            <a:endParaRPr lang="en-GB" altLang="zh-CN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GB" altLang="zh-CN" sz="1800" dirty="0"/>
              <a:t>sudo </a:t>
            </a:r>
            <a:r>
              <a:rPr lang="en-GB" altLang="zh-CN" sz="1800" dirty="0" err="1"/>
              <a:t>ip</a:t>
            </a:r>
            <a:r>
              <a:rPr lang="en-GB" altLang="zh-CN" sz="1800" dirty="0"/>
              <a:t> link set h2-eth0 </a:t>
            </a:r>
            <a:r>
              <a:rPr lang="en-GB" altLang="zh-CN" sz="1800" dirty="0" err="1"/>
              <a:t>netns</a:t>
            </a:r>
            <a:r>
              <a:rPr lang="en-GB" altLang="zh-CN" sz="1800" dirty="0"/>
              <a:t> h2</a:t>
            </a:r>
            <a:endParaRPr lang="en-GB" altLang="zh-CN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GB" altLang="zh-CN" sz="1800" dirty="0"/>
              <a:t>sudo </a:t>
            </a:r>
            <a:r>
              <a:rPr lang="en-GB" altLang="zh-CN" sz="1800" dirty="0" err="1"/>
              <a:t>ip</a:t>
            </a:r>
            <a:r>
              <a:rPr lang="en-GB" altLang="zh-CN" sz="1800" dirty="0"/>
              <a:t> </a:t>
            </a:r>
            <a:r>
              <a:rPr lang="en-GB" altLang="zh-CN" sz="1800" dirty="0" err="1"/>
              <a:t>netns</a:t>
            </a:r>
            <a:r>
              <a:rPr lang="en-GB" altLang="zh-CN" sz="1800" dirty="0"/>
              <a:t> exec h1 </a:t>
            </a:r>
            <a:r>
              <a:rPr lang="en-GB" altLang="zh-CN" sz="1800" dirty="0" err="1"/>
              <a:t>ip</a:t>
            </a:r>
            <a:r>
              <a:rPr lang="en-GB" altLang="zh-CN" sz="1800" dirty="0"/>
              <a:t> link show</a:t>
            </a:r>
            <a:endParaRPr lang="en-GB" altLang="zh-CN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GB" altLang="zh-CN" sz="1800" dirty="0"/>
              <a:t>sudo </a:t>
            </a:r>
            <a:r>
              <a:rPr lang="en-GB" altLang="zh-CN" sz="1800" dirty="0" err="1"/>
              <a:t>ip</a:t>
            </a:r>
            <a:r>
              <a:rPr lang="en-GB" altLang="zh-CN" sz="1800" dirty="0"/>
              <a:t> </a:t>
            </a:r>
            <a:r>
              <a:rPr lang="en-GB" altLang="zh-CN" sz="1800" dirty="0" err="1"/>
              <a:t>netns</a:t>
            </a:r>
            <a:r>
              <a:rPr lang="en-GB" altLang="zh-CN" sz="1800" dirty="0"/>
              <a:t> exec h2 </a:t>
            </a:r>
            <a:r>
              <a:rPr lang="en-GB" altLang="zh-CN" sz="1800" dirty="0" err="1"/>
              <a:t>ip</a:t>
            </a:r>
            <a:r>
              <a:rPr lang="en-GB" altLang="zh-CN" sz="1800" dirty="0"/>
              <a:t> link show</a:t>
            </a:r>
            <a:endParaRPr lang="en-GB" altLang="zh-CN" sz="1800" dirty="0"/>
          </a:p>
          <a:p>
            <a:pPr marL="0" indent="0">
              <a:lnSpc>
                <a:spcPct val="90000"/>
              </a:lnSpc>
              <a:buNone/>
            </a:pPr>
            <a:endParaRPr lang="en-GB" altLang="zh-CN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GB" altLang="zh-CN" sz="1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# Configure </a:t>
            </a:r>
            <a:r>
              <a:rPr lang="en-US" altLang="zh-CN" sz="1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ports</a:t>
            </a:r>
            <a:endParaRPr lang="en-GB" altLang="zh-CN" sz="1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zh-CN" sz="1800" dirty="0"/>
              <a:t>sudo </a:t>
            </a:r>
            <a:r>
              <a:rPr lang="en-GB" altLang="zh-CN" sz="1800" dirty="0" err="1"/>
              <a:t>ip</a:t>
            </a:r>
            <a:r>
              <a:rPr lang="en-GB" altLang="zh-CN" sz="1800" dirty="0"/>
              <a:t> </a:t>
            </a:r>
            <a:r>
              <a:rPr lang="en-GB" altLang="zh-CN" sz="1800" dirty="0" err="1"/>
              <a:t>netns</a:t>
            </a:r>
            <a:r>
              <a:rPr lang="en-GB" altLang="zh-CN" sz="1800" dirty="0"/>
              <a:t> exec h1 </a:t>
            </a:r>
            <a:r>
              <a:rPr lang="en-GB" altLang="zh-CN" sz="1800" dirty="0" err="1"/>
              <a:t>ifconfig</a:t>
            </a:r>
            <a:r>
              <a:rPr lang="en-GB" altLang="zh-CN" sz="1800" dirty="0"/>
              <a:t> h1-eth0 10.0.0.1</a:t>
            </a:r>
            <a:endParaRPr lang="en-GB" altLang="zh-CN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GB" altLang="zh-CN" sz="1800" dirty="0"/>
              <a:t>sudo </a:t>
            </a:r>
            <a:r>
              <a:rPr lang="en-GB" altLang="zh-CN" sz="1800" dirty="0" err="1"/>
              <a:t>ip</a:t>
            </a:r>
            <a:r>
              <a:rPr lang="en-GB" altLang="zh-CN" sz="1800" dirty="0"/>
              <a:t> </a:t>
            </a:r>
            <a:r>
              <a:rPr lang="en-GB" altLang="zh-CN" sz="1800" dirty="0" err="1"/>
              <a:t>netns</a:t>
            </a:r>
            <a:r>
              <a:rPr lang="en-GB" altLang="zh-CN" sz="1800" dirty="0"/>
              <a:t> exec h2 </a:t>
            </a:r>
            <a:r>
              <a:rPr lang="en-GB" altLang="zh-CN" sz="1800" dirty="0" err="1"/>
              <a:t>ifconfig</a:t>
            </a:r>
            <a:r>
              <a:rPr lang="en-GB" altLang="zh-CN" sz="1800" dirty="0"/>
              <a:t> h2-eth0 10.0.0.2</a:t>
            </a:r>
            <a:endParaRPr lang="en-GB" altLang="zh-CN" sz="1800" dirty="0"/>
          </a:p>
          <a:p>
            <a:pPr marL="0" indent="0">
              <a:lnSpc>
                <a:spcPct val="90000"/>
              </a:lnSpc>
              <a:buNone/>
            </a:pPr>
            <a:endParaRPr lang="en-GB" altLang="zh-CN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GB" altLang="zh-CN" sz="1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# Test connectivity</a:t>
            </a:r>
            <a:endParaRPr lang="en-GB" altLang="zh-CN" sz="1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zh-CN" sz="1800" dirty="0"/>
              <a:t>sudo </a:t>
            </a:r>
            <a:r>
              <a:rPr lang="en-GB" altLang="zh-CN" sz="1800" dirty="0" err="1"/>
              <a:t>ip</a:t>
            </a:r>
            <a:r>
              <a:rPr lang="en-GB" altLang="zh-CN" sz="1800" dirty="0"/>
              <a:t> </a:t>
            </a:r>
            <a:r>
              <a:rPr lang="en-GB" altLang="zh-CN" sz="1800" dirty="0" err="1"/>
              <a:t>netns</a:t>
            </a:r>
            <a:r>
              <a:rPr lang="en-GB" altLang="zh-CN" sz="1800" dirty="0"/>
              <a:t> exec h1 ping 10.0.0.2</a:t>
            </a:r>
            <a:endParaRPr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5642517" y="2756383"/>
            <a:ext cx="2940205" cy="1206016"/>
            <a:chOff x="5185317" y="2994019"/>
            <a:chExt cx="2940205" cy="1206016"/>
          </a:xfrm>
        </p:grpSpPr>
        <p:sp>
          <p:nvSpPr>
            <p:cNvPr id="5" name="矩形 4"/>
            <p:cNvSpPr/>
            <p:nvPr/>
          </p:nvSpPr>
          <p:spPr>
            <a:xfrm>
              <a:off x="5185317" y="3434577"/>
              <a:ext cx="624468" cy="41259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7501054" y="3438293"/>
              <a:ext cx="624468" cy="41259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连接符 8"/>
            <p:cNvCxnSpPr>
              <a:stCxn id="7" idx="1"/>
              <a:endCxn id="5" idx="3"/>
            </p:cNvCxnSpPr>
            <p:nvPr/>
          </p:nvCxnSpPr>
          <p:spPr>
            <a:xfrm flipH="1" flipV="1">
              <a:off x="5809785" y="3640875"/>
              <a:ext cx="1691269" cy="37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5330281" y="2999679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h1</a:t>
              </a:r>
              <a:endParaRPr lang="zh-CN" altLang="en-US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7501054" y="2994019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h2</a:t>
              </a:r>
              <a:endParaRPr lang="zh-CN" altLang="en-US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570030" y="3830703"/>
              <a:ext cx="10853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h1-eth0</a:t>
              </a:r>
              <a:endParaRPr lang="zh-CN" altLang="en-US" dirty="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861719" y="3830703"/>
              <a:ext cx="10444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h2-eth0</a:t>
              </a:r>
              <a:endParaRPr lang="zh-CN" altLang="en-US" dirty="0"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Mininet</a:t>
            </a:r>
            <a:r>
              <a:rPr lang="zh-CN" altLang="en-US" dirty="0"/>
              <a:t>环境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Mininet</a:t>
            </a:r>
            <a:r>
              <a:rPr lang="zh-CN" altLang="en-US" dirty="0"/>
              <a:t>是基于</a:t>
            </a:r>
            <a:r>
              <a:rPr lang="en-US" altLang="zh-CN" dirty="0"/>
              <a:t>Linux Network Namespace</a:t>
            </a:r>
            <a:r>
              <a:rPr lang="zh-CN" altLang="en-US" dirty="0"/>
              <a:t>的</a:t>
            </a:r>
            <a:r>
              <a:rPr lang="en-US" altLang="zh-CN" dirty="0"/>
              <a:t>python</a:t>
            </a:r>
            <a:r>
              <a:rPr lang="zh-CN" altLang="en-US" dirty="0"/>
              <a:t>封装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支持</a:t>
            </a:r>
            <a:r>
              <a:rPr lang="en-US" altLang="zh-CN" dirty="0"/>
              <a:t>python API</a:t>
            </a:r>
            <a:r>
              <a:rPr lang="zh-CN" altLang="en-US" dirty="0"/>
              <a:t>以及命令行工具（</a:t>
            </a:r>
            <a:r>
              <a:rPr lang="en-US" altLang="zh-CN" dirty="0"/>
              <a:t>CLI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可以很方便地创建拓扑、设置网络条件、运行网络程序</a:t>
            </a:r>
            <a:endParaRPr lang="en-US" altLang="zh-CN" dirty="0"/>
          </a:p>
          <a:p>
            <a:r>
              <a:rPr lang="zh-CN" altLang="en-US" dirty="0"/>
              <a:t>支持不同层次的抽象和语法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pic>
        <p:nvPicPr>
          <p:cNvPr id="1026" name="Picture 2" descr="http://mininet.org/images/frontpage_diagram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067" y="4398731"/>
            <a:ext cx="7136730" cy="1533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组合 5"/>
          <p:cNvGrpSpPr/>
          <p:nvPr/>
        </p:nvGrpSpPr>
        <p:grpSpPr>
          <a:xfrm>
            <a:off x="5164015" y="4695092"/>
            <a:ext cx="2784231" cy="493946"/>
            <a:chOff x="5164015" y="4695092"/>
            <a:chExt cx="2784231" cy="493946"/>
          </a:xfrm>
        </p:grpSpPr>
        <p:sp>
          <p:nvSpPr>
            <p:cNvPr id="5" name="矩形: 圆角 4"/>
            <p:cNvSpPr/>
            <p:nvPr/>
          </p:nvSpPr>
          <p:spPr>
            <a:xfrm>
              <a:off x="5164015" y="4695092"/>
              <a:ext cx="2784231" cy="34583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矩形: 圆角 6"/>
            <p:cNvSpPr/>
            <p:nvPr/>
          </p:nvSpPr>
          <p:spPr>
            <a:xfrm>
              <a:off x="5779476" y="4843207"/>
              <a:ext cx="709247" cy="34583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Mininet</a:t>
            </a:r>
            <a:r>
              <a:rPr lang="zh-CN" altLang="en-US" dirty="0"/>
              <a:t>安装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$ sudo apt install </a:t>
            </a:r>
            <a:r>
              <a:rPr lang="en-US" altLang="zh-CN" dirty="0" err="1"/>
              <a:t>mininet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$ sudo </a:t>
            </a:r>
            <a:r>
              <a:rPr lang="en-US" altLang="zh-CN" dirty="0" err="1"/>
              <a:t>mn</a:t>
            </a:r>
            <a:endParaRPr lang="en-US" altLang="zh-CN" dirty="0"/>
          </a:p>
          <a:p>
            <a:r>
              <a:rPr lang="en-US" altLang="zh-CN" dirty="0" err="1"/>
              <a:t>mininet</a:t>
            </a:r>
            <a:r>
              <a:rPr lang="en-US" altLang="zh-CN" dirty="0"/>
              <a:t>&gt; </a:t>
            </a:r>
            <a:r>
              <a:rPr lang="en-US" altLang="zh-CN" dirty="0" err="1"/>
              <a:t>pingall</a:t>
            </a:r>
            <a:endParaRPr lang="zh-CN" altLang="zh-CN" dirty="0"/>
          </a:p>
          <a:p>
            <a:r>
              <a:rPr lang="en-US" altLang="zh-CN" dirty="0" err="1"/>
              <a:t>mininet</a:t>
            </a:r>
            <a:r>
              <a:rPr lang="en-US" altLang="zh-CN" dirty="0"/>
              <a:t>&gt; quit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 descr="D:\Desktop\mininet\Screenshot from 2017-09-12 23-25-46.png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784" y="2296384"/>
            <a:ext cx="7443427" cy="3904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Mininet</a:t>
            </a:r>
            <a:r>
              <a:rPr lang="en-US" altLang="zh-CN" dirty="0"/>
              <a:t> API</a:t>
            </a:r>
            <a:r>
              <a:rPr lang="zh-CN" altLang="en-US" dirty="0"/>
              <a:t>举例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GB" altLang="zh-CN" sz="2000" dirty="0"/>
              <a:t>#!/</a:t>
            </a:r>
            <a:r>
              <a:rPr lang="en-GB" altLang="zh-CN" sz="2000" dirty="0" err="1"/>
              <a:t>usr</a:t>
            </a:r>
            <a:r>
              <a:rPr lang="en-GB" altLang="zh-CN" sz="2000" dirty="0"/>
              <a:t>/bin/python</a:t>
            </a: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sz="2000" dirty="0"/>
              <a:t>from mininet.net import </a:t>
            </a:r>
            <a:r>
              <a:rPr lang="en-GB" altLang="zh-CN" sz="2000" dirty="0" err="1"/>
              <a:t>Mininet</a:t>
            </a: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sz="2000" dirty="0"/>
              <a:t>from </a:t>
            </a:r>
            <a:r>
              <a:rPr lang="en-GB" altLang="zh-CN" sz="2000" dirty="0" err="1"/>
              <a:t>mininet.cli</a:t>
            </a:r>
            <a:r>
              <a:rPr lang="en-GB" altLang="zh-CN" sz="2000" dirty="0"/>
              <a:t> import CLI</a:t>
            </a: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sz="2000" dirty="0"/>
              <a:t>from time import sleep</a:t>
            </a: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sz="2000" dirty="0"/>
              <a:t>net = </a:t>
            </a:r>
            <a:r>
              <a:rPr lang="en-GB" altLang="zh-CN" sz="2000" dirty="0" err="1"/>
              <a:t>Mininet</a:t>
            </a:r>
            <a:r>
              <a:rPr lang="en-GB" altLang="zh-CN" sz="2000" dirty="0"/>
              <a:t>()</a:t>
            </a: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sz="2000" dirty="0"/>
              <a:t>h1 = </a:t>
            </a:r>
            <a:r>
              <a:rPr lang="en-GB" altLang="zh-CN" sz="2000" dirty="0" err="1"/>
              <a:t>net.addHost</a:t>
            </a:r>
            <a:r>
              <a:rPr lang="en-GB" altLang="zh-CN" sz="2000" dirty="0"/>
              <a:t>('h1')</a:t>
            </a: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sz="2000" dirty="0"/>
              <a:t>h2 = </a:t>
            </a:r>
            <a:r>
              <a:rPr lang="en-GB" altLang="zh-CN" sz="2000" dirty="0" err="1"/>
              <a:t>net.addHost</a:t>
            </a:r>
            <a:r>
              <a:rPr lang="en-GB" altLang="zh-CN" sz="2000" dirty="0"/>
              <a:t>('h2')</a:t>
            </a: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sz="2000" dirty="0" err="1"/>
              <a:t>net.addLink</a:t>
            </a:r>
            <a:r>
              <a:rPr lang="en-GB" altLang="zh-CN" sz="2000" dirty="0"/>
              <a:t>(h1, h2)</a:t>
            </a: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sz="2000" dirty="0" err="1"/>
              <a:t>net.start</a:t>
            </a:r>
            <a:r>
              <a:rPr lang="en-GB" altLang="zh-CN" sz="2000" dirty="0"/>
              <a:t>()</a:t>
            </a: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sz="2000" dirty="0"/>
              <a:t>h2.cmd('</a:t>
            </a:r>
            <a:r>
              <a:rPr sz="2000">
                <a:sym typeface="+mn-ea"/>
              </a:rPr>
              <a:t>python3 -m http.server 80</a:t>
            </a:r>
            <a:r>
              <a:rPr lang="en-GB" altLang="zh-CN" sz="2000" dirty="0"/>
              <a:t> &amp;')</a:t>
            </a: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sz="2000" dirty="0"/>
              <a:t>sleep(2)</a:t>
            </a: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sz="2000" dirty="0"/>
              <a:t>h1.cmd('</a:t>
            </a:r>
            <a:r>
              <a:rPr lang="en-GB" altLang="zh-CN" sz="2000" dirty="0" err="1"/>
              <a:t>wget</a:t>
            </a:r>
            <a:r>
              <a:rPr lang="en-GB" altLang="zh-CN" sz="2000" dirty="0"/>
              <a:t> %s -O result.txt' % (h2.IP()))</a:t>
            </a: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sz="2000" dirty="0" err="1"/>
              <a:t>net.stop</a:t>
            </a:r>
            <a:r>
              <a:rPr lang="en-GB" altLang="zh-CN" sz="2000" dirty="0"/>
              <a:t>()</a:t>
            </a:r>
            <a:endParaRPr lang="en-GB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Mininet</a:t>
            </a:r>
            <a:r>
              <a:rPr lang="zh-CN" altLang="en-US" dirty="0"/>
              <a:t>支持设置性能参数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from </a:t>
            </a:r>
            <a:r>
              <a:rPr lang="en-US" altLang="zh-CN" dirty="0" err="1"/>
              <a:t>mininet.node</a:t>
            </a:r>
            <a:r>
              <a:rPr lang="en-US" altLang="zh-CN" dirty="0"/>
              <a:t> import </a:t>
            </a:r>
            <a:r>
              <a:rPr lang="en-US" altLang="zh-CN" dirty="0" err="1"/>
              <a:t>CPULimitedHost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from </a:t>
            </a:r>
            <a:r>
              <a:rPr lang="en-US" altLang="zh-CN" dirty="0" err="1"/>
              <a:t>mininet.link</a:t>
            </a:r>
            <a:r>
              <a:rPr lang="en-US" altLang="zh-CN" dirty="0"/>
              <a:t> import </a:t>
            </a:r>
            <a:r>
              <a:rPr lang="en-US" altLang="zh-CN" dirty="0" err="1"/>
              <a:t>TCLink</a:t>
            </a:r>
            <a:endParaRPr lang="en-GB" altLang="zh-CN" dirty="0"/>
          </a:p>
          <a:p>
            <a:pPr marL="0" indent="0">
              <a:lnSpc>
                <a:spcPct val="100000"/>
              </a:lnSpc>
              <a:buNone/>
            </a:pPr>
            <a:endParaRPr lang="en-GB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dirty="0">
                <a:solidFill>
                  <a:schemeClr val="bg2">
                    <a:lumMod val="60000"/>
                    <a:lumOff val="40000"/>
                  </a:schemeClr>
                </a:solidFill>
              </a:rPr>
              <a:t># Use performance-</a:t>
            </a:r>
            <a:r>
              <a:rPr lang="en-GB" altLang="zh-CN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modeling</a:t>
            </a:r>
            <a:r>
              <a:rPr lang="en-GB" altLang="zh-CN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link and host</a:t>
            </a:r>
            <a:endParaRPr lang="en-GB" altLang="zh-CN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dirty="0"/>
              <a:t>net = </a:t>
            </a:r>
            <a:r>
              <a:rPr lang="en-GB" altLang="zh-CN" dirty="0" err="1"/>
              <a:t>Mininet</a:t>
            </a:r>
            <a:r>
              <a:rPr lang="en-GB" altLang="zh-CN" dirty="0"/>
              <a:t>(link=</a:t>
            </a:r>
            <a:r>
              <a:rPr lang="en-GB" altLang="zh-CN" dirty="0" err="1"/>
              <a:t>TCLink</a:t>
            </a:r>
            <a:r>
              <a:rPr lang="en-GB" altLang="zh-CN" dirty="0"/>
              <a:t>, host=</a:t>
            </a:r>
            <a:r>
              <a:rPr lang="en-GB" altLang="zh-CN" dirty="0" err="1"/>
              <a:t>CPULimitedHost</a:t>
            </a:r>
            <a:r>
              <a:rPr lang="en-GB" altLang="zh-CN" dirty="0"/>
              <a:t>)</a:t>
            </a:r>
            <a:endParaRPr lang="en-GB" altLang="zh-CN" dirty="0"/>
          </a:p>
          <a:p>
            <a:pPr marL="0" indent="0">
              <a:lnSpc>
                <a:spcPct val="100000"/>
              </a:lnSpc>
              <a:buNone/>
            </a:pPr>
            <a:endParaRPr lang="en-GB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dirty="0">
                <a:solidFill>
                  <a:schemeClr val="bg2">
                    <a:lumMod val="60000"/>
                    <a:lumOff val="40000"/>
                  </a:schemeClr>
                </a:solidFill>
              </a:rPr>
              <a:t># Limit CPU</a:t>
            </a:r>
            <a:endParaRPr lang="en-GB" altLang="zh-CN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dirty="0" err="1"/>
              <a:t>net.addHost</a:t>
            </a:r>
            <a:r>
              <a:rPr lang="en-GB" altLang="zh-CN" dirty="0"/>
              <a:t>('h1', </a:t>
            </a:r>
            <a:r>
              <a:rPr lang="en-GB" altLang="zh-CN" dirty="0" err="1"/>
              <a:t>cpu</a:t>
            </a:r>
            <a:r>
              <a:rPr lang="en-GB" altLang="zh-CN" dirty="0"/>
              <a:t>=0.2)</a:t>
            </a:r>
            <a:endParaRPr lang="zh-CN" altLang="en-US" dirty="0"/>
          </a:p>
          <a:p>
            <a:pPr marL="0" indent="0">
              <a:lnSpc>
                <a:spcPct val="100000"/>
              </a:lnSpc>
              <a:buNone/>
            </a:pPr>
            <a:endParaRPr lang="en-GB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bg2">
                    <a:lumMod val="60000"/>
                    <a:lumOff val="40000"/>
                  </a:schemeClr>
                </a:solidFill>
              </a:rPr>
              <a:t># Set</a:t>
            </a:r>
            <a:r>
              <a:rPr lang="en-GB" altLang="zh-CN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link bandwidth, delay and loss rate</a:t>
            </a:r>
            <a:endParaRPr lang="en-GB" altLang="zh-CN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dirty="0" err="1"/>
              <a:t>net.addLink</a:t>
            </a:r>
            <a:r>
              <a:rPr lang="en-GB" altLang="zh-CN" dirty="0"/>
              <a:t>(h2, s1, </a:t>
            </a:r>
            <a:r>
              <a:rPr lang="en-GB" altLang="zh-CN" dirty="0" err="1"/>
              <a:t>bw</a:t>
            </a:r>
            <a:r>
              <a:rPr lang="en-GB" altLang="zh-CN" dirty="0"/>
              <a:t>=10, delay='50ms'</a:t>
            </a:r>
            <a:r>
              <a:rPr lang="en-US" altLang="zh-CN" dirty="0"/>
              <a:t>, loss=2</a:t>
            </a:r>
            <a:r>
              <a:rPr lang="en-GB" altLang="zh-CN" dirty="0"/>
              <a:t>)</a:t>
            </a:r>
            <a:endParaRPr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Mininet</a:t>
            </a:r>
            <a:r>
              <a:rPr lang="en-US" altLang="zh-CN" dirty="0"/>
              <a:t> CLI</a:t>
            </a:r>
            <a:r>
              <a:rPr lang="zh-CN" altLang="en-US" dirty="0"/>
              <a:t>举例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GB" altLang="zh-CN" dirty="0"/>
              <a:t>$ sudo </a:t>
            </a:r>
            <a:r>
              <a:rPr lang="en-GB" altLang="zh-CN" dirty="0" err="1"/>
              <a:t>mn</a:t>
            </a:r>
            <a:endParaRPr lang="en-GB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dirty="0" err="1"/>
              <a:t>mininet</a:t>
            </a:r>
            <a:r>
              <a:rPr lang="en-GB" altLang="zh-CN" dirty="0"/>
              <a:t>&gt; </a:t>
            </a:r>
            <a:r>
              <a:rPr lang="en-GB" altLang="zh-CN" dirty="0" err="1"/>
              <a:t>xterm</a:t>
            </a:r>
            <a:r>
              <a:rPr lang="en-GB" altLang="zh-CN" dirty="0"/>
              <a:t> h1 h2</a:t>
            </a:r>
            <a:endParaRPr lang="en-GB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dirty="0"/>
              <a:t>h2# </a:t>
            </a:r>
            <a:r>
              <a:rPr>
                <a:sym typeface="+mn-ea"/>
              </a:rPr>
              <a:t>python3 -m http.server 80</a:t>
            </a:r>
            <a:r>
              <a:rPr lang="en-GB" altLang="zh-CN" dirty="0">
                <a:sym typeface="+mn-ea"/>
              </a:rPr>
              <a:t> </a:t>
            </a:r>
            <a:endParaRPr lang="en-GB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dirty="0"/>
              <a:t>h1# </a:t>
            </a:r>
            <a:r>
              <a:rPr lang="en-US" altLang="zh-CN" dirty="0" err="1"/>
              <a:t>wget</a:t>
            </a:r>
            <a:r>
              <a:rPr lang="en-GB" altLang="zh-CN" dirty="0"/>
              <a:t> 10.0.0.2</a:t>
            </a:r>
            <a:endParaRPr lang="en-GB" altLang="zh-CN" dirty="0"/>
          </a:p>
          <a:p>
            <a:pPr marL="0" indent="0">
              <a:lnSpc>
                <a:spcPct val="100000"/>
              </a:lnSpc>
              <a:buNone/>
            </a:pPr>
            <a:endParaRPr lang="en-GB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dirty="0"/>
              <a:t>$ sudo </a:t>
            </a:r>
            <a:r>
              <a:rPr lang="en-GB" altLang="zh-CN" dirty="0" err="1"/>
              <a:t>mn</a:t>
            </a:r>
            <a:r>
              <a:rPr lang="en-GB" altLang="zh-CN" dirty="0"/>
              <a:t> --</a:t>
            </a:r>
            <a:r>
              <a:rPr lang="en-GB" altLang="zh-CN" dirty="0" err="1"/>
              <a:t>topo</a:t>
            </a:r>
            <a:r>
              <a:rPr lang="en-GB" altLang="zh-CN" dirty="0"/>
              <a:t> </a:t>
            </a:r>
            <a:r>
              <a:rPr lang="en-GB" altLang="zh-CN" dirty="0" err="1"/>
              <a:t>tree,depth</a:t>
            </a:r>
            <a:r>
              <a:rPr lang="en-GB" altLang="zh-CN" dirty="0"/>
              <a:t>=3,fanout=3 --link=</a:t>
            </a:r>
            <a:r>
              <a:rPr lang="en-GB" altLang="zh-CN" dirty="0" err="1"/>
              <a:t>tc,bw</a:t>
            </a:r>
            <a:r>
              <a:rPr lang="en-GB" altLang="zh-CN" dirty="0"/>
              <a:t>=10</a:t>
            </a:r>
            <a:endParaRPr lang="en-GB" altLang="zh-CN" dirty="0"/>
          </a:p>
          <a:p>
            <a:pPr marL="0" indent="0">
              <a:lnSpc>
                <a:spcPct val="100000"/>
              </a:lnSpc>
              <a:buNone/>
            </a:pPr>
            <a:endParaRPr lang="en-GB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dirty="0"/>
              <a:t>$ sudo </a:t>
            </a:r>
            <a:r>
              <a:rPr lang="en-GB" altLang="zh-CN" dirty="0" err="1"/>
              <a:t>mn</a:t>
            </a:r>
            <a:r>
              <a:rPr lang="en-GB" altLang="zh-CN" dirty="0"/>
              <a:t> --</a:t>
            </a:r>
            <a:r>
              <a:rPr lang="en-GB" altLang="zh-CN" dirty="0" err="1"/>
              <a:t>topo</a:t>
            </a:r>
            <a:r>
              <a:rPr lang="en-GB" altLang="zh-CN" dirty="0"/>
              <a:t> linear,20</a:t>
            </a:r>
            <a:endParaRPr lang="en-GB" altLang="zh-CN" dirty="0"/>
          </a:p>
          <a:p>
            <a:pPr marL="0" indent="0">
              <a:lnSpc>
                <a:spcPct val="100000"/>
              </a:lnSpc>
              <a:buNone/>
            </a:pPr>
            <a:endParaRPr lang="en-GB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dirty="0">
                <a:solidFill>
                  <a:schemeClr val="bg2">
                    <a:lumMod val="60000"/>
                    <a:lumOff val="40000"/>
                  </a:schemeClr>
                </a:solidFill>
              </a:rPr>
              <a:t># To test this, you need to implement custom.py</a:t>
            </a:r>
            <a:endParaRPr lang="en-GB" altLang="zh-CN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dirty="0"/>
              <a:t>$ sudo </a:t>
            </a:r>
            <a:r>
              <a:rPr lang="en-GB" altLang="zh-CN" dirty="0" err="1"/>
              <a:t>mn</a:t>
            </a:r>
            <a:r>
              <a:rPr lang="en-GB" altLang="zh-CN" dirty="0"/>
              <a:t> --custom custom.py --</a:t>
            </a:r>
            <a:r>
              <a:rPr lang="en-GB" altLang="zh-CN" dirty="0" err="1"/>
              <a:t>topo</a:t>
            </a:r>
            <a:r>
              <a:rPr lang="en-GB" altLang="zh-CN" dirty="0"/>
              <a:t> </a:t>
            </a:r>
            <a:r>
              <a:rPr lang="en-GB" altLang="zh-CN" dirty="0" err="1"/>
              <a:t>mytopo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Mininet</a:t>
            </a:r>
            <a:r>
              <a:rPr lang="zh-CN" altLang="en-US" dirty="0"/>
              <a:t>自定义网络拓扑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GB" altLang="zh-CN" sz="2000" dirty="0"/>
              <a:t>$ cat custom.py</a:t>
            </a: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sz="2000" dirty="0"/>
              <a:t>---------------------------------------------------------------</a:t>
            </a: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sz="2000" dirty="0"/>
              <a:t>from </a:t>
            </a:r>
            <a:r>
              <a:rPr lang="en-GB" altLang="zh-CN" sz="2000" dirty="0" err="1"/>
              <a:t>mininet.topo</a:t>
            </a:r>
            <a:r>
              <a:rPr lang="en-GB" altLang="zh-CN" sz="2000" dirty="0"/>
              <a:t> import </a:t>
            </a:r>
            <a:r>
              <a:rPr lang="en-GB" altLang="zh-CN" sz="2000" dirty="0" err="1"/>
              <a:t>Topo</a:t>
            </a: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sz="2000" dirty="0"/>
              <a:t>class </a:t>
            </a:r>
            <a:r>
              <a:rPr lang="en-GB" altLang="zh-CN" sz="2000" dirty="0" err="1"/>
              <a:t>StarTopo</a:t>
            </a:r>
            <a:r>
              <a:rPr lang="en-GB" altLang="zh-CN" sz="2000" dirty="0"/>
              <a:t>(</a:t>
            </a:r>
            <a:r>
              <a:rPr lang="en-GB" altLang="zh-CN" sz="2000" dirty="0" err="1"/>
              <a:t>Topo</a:t>
            </a:r>
            <a:r>
              <a:rPr lang="en-GB" altLang="zh-CN" sz="2000" dirty="0"/>
              <a:t>):</a:t>
            </a: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sz="2000" dirty="0"/>
              <a:t>    “</a:t>
            </a:r>
            <a:r>
              <a:rPr lang="en-US" altLang="zh-CN" sz="2000" dirty="0"/>
              <a:t>Star </a:t>
            </a:r>
            <a:r>
              <a:rPr lang="en-GB" altLang="zh-CN" sz="2000" dirty="0"/>
              <a:t>Topology"</a:t>
            </a: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sz="2000" dirty="0"/>
              <a:t>    </a:t>
            </a:r>
            <a:r>
              <a:rPr lang="en-GB" altLang="zh-CN" sz="2000" dirty="0" err="1"/>
              <a:t>def</a:t>
            </a:r>
            <a:r>
              <a:rPr lang="en-GB" altLang="zh-CN" sz="2000" dirty="0"/>
              <a:t> build(self, count=10):</a:t>
            </a: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sz="2000" dirty="0"/>
              <a:t>        hosts = [ </a:t>
            </a:r>
            <a:r>
              <a:rPr lang="en-GB" altLang="zh-CN" sz="2000" dirty="0" err="1"/>
              <a:t>self.addHost</a:t>
            </a:r>
            <a:r>
              <a:rPr lang="en-GB" altLang="zh-CN" sz="2000" dirty="0"/>
              <a:t>('</a:t>
            </a:r>
            <a:r>
              <a:rPr lang="en-GB" altLang="zh-CN" sz="2000" dirty="0" err="1"/>
              <a:t>h%d</a:t>
            </a:r>
            <a:r>
              <a:rPr lang="en-GB" altLang="zh-CN" sz="2000" dirty="0"/>
              <a:t>' % </a:t>
            </a:r>
            <a:r>
              <a:rPr lang="en-GB" altLang="zh-CN" sz="2000" dirty="0" err="1"/>
              <a:t>i</a:t>
            </a:r>
            <a:r>
              <a:rPr lang="en-GB" altLang="zh-CN" sz="2000" dirty="0"/>
              <a:t>) for </a:t>
            </a:r>
            <a:r>
              <a:rPr lang="en-GB" altLang="zh-CN" sz="2000" dirty="0" err="1"/>
              <a:t>i</a:t>
            </a:r>
            <a:r>
              <a:rPr lang="en-GB" altLang="zh-CN" sz="2000" dirty="0"/>
              <a:t> in range(1, count + 1) ]</a:t>
            </a: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sz="2000" dirty="0"/>
              <a:t>        s1 = </a:t>
            </a:r>
            <a:r>
              <a:rPr lang="en-GB" altLang="zh-CN" sz="2000" dirty="0" err="1"/>
              <a:t>self.addHost</a:t>
            </a:r>
            <a:r>
              <a:rPr lang="en-GB" altLang="zh-CN" sz="2000" dirty="0"/>
              <a:t>('s1')</a:t>
            </a: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sz="2000" dirty="0"/>
              <a:t>        for h in hosts:</a:t>
            </a: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sz="2000" dirty="0"/>
              <a:t>            </a:t>
            </a:r>
            <a:r>
              <a:rPr lang="en-GB" altLang="zh-CN" sz="2000" dirty="0" err="1"/>
              <a:t>self.addLink</a:t>
            </a:r>
            <a:r>
              <a:rPr lang="en-GB" altLang="zh-CN" sz="2000" dirty="0"/>
              <a:t>(h, s1)</a:t>
            </a: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sz="2000" dirty="0" err="1"/>
              <a:t>topos</a:t>
            </a:r>
            <a:r>
              <a:rPr lang="en-GB" altLang="zh-CN" sz="2000" dirty="0"/>
              <a:t> = { '</a:t>
            </a:r>
            <a:r>
              <a:rPr lang="en-GB" altLang="zh-CN" sz="2000" dirty="0" err="1"/>
              <a:t>mytopo</a:t>
            </a:r>
            <a:r>
              <a:rPr lang="en-GB" altLang="zh-CN" sz="2000" dirty="0"/>
              <a:t>': </a:t>
            </a:r>
            <a:r>
              <a:rPr lang="en-GB" altLang="zh-CN" sz="2000" dirty="0" err="1"/>
              <a:t>StarTopo</a:t>
            </a:r>
            <a:r>
              <a:rPr lang="en-GB" altLang="zh-CN" sz="2000" dirty="0"/>
              <a:t> }</a:t>
            </a: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sz="2000" dirty="0"/>
              <a:t>---------------------------------------------------------------</a:t>
            </a: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endParaRPr lang="en-GB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zh-CN" sz="2000" dirty="0"/>
              <a:t>$ sudo </a:t>
            </a:r>
            <a:r>
              <a:rPr lang="en-US" altLang="zh-CN" sz="2000" dirty="0" err="1"/>
              <a:t>mn</a:t>
            </a:r>
            <a:r>
              <a:rPr lang="en-US" altLang="zh-CN" sz="2000" dirty="0"/>
              <a:t> --custom custom.py --topo </a:t>
            </a:r>
            <a:r>
              <a:rPr lang="en-US" altLang="zh-CN" sz="2000" dirty="0" err="1"/>
              <a:t>mytopo</a:t>
            </a:r>
            <a:r>
              <a:rPr lang="en-US" altLang="zh-CN" sz="2000" dirty="0"/>
              <a:t>, 20</a:t>
            </a:r>
            <a:br>
              <a:rPr lang="en-US" altLang="zh-CN" sz="2000" dirty="0"/>
            </a:br>
            <a:endParaRPr lang="en-GB" altLang="zh-CN" sz="20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网络环境搭建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1825347"/>
          </a:xfrm>
        </p:spPr>
        <p:txBody>
          <a:bodyPr/>
          <a:lstStyle/>
          <a:p>
            <a:r>
              <a:rPr lang="zh-CN" altLang="en-US" dirty="0"/>
              <a:t>网络由网络前缀</a:t>
            </a:r>
            <a:r>
              <a:rPr lang="en-US" altLang="zh-CN" dirty="0"/>
              <a:t>(e.g. 192.168.0.0/24)</a:t>
            </a:r>
            <a:r>
              <a:rPr lang="zh-CN" altLang="en-US" dirty="0"/>
              <a:t>来表示</a:t>
            </a:r>
            <a:endParaRPr lang="en-US" altLang="zh-CN" dirty="0"/>
          </a:p>
          <a:p>
            <a:r>
              <a:rPr lang="zh-CN" altLang="en-US" dirty="0"/>
              <a:t>交换机</a:t>
            </a:r>
            <a:r>
              <a:rPr lang="en-US" altLang="zh-CN" dirty="0"/>
              <a:t>(Switch)</a:t>
            </a:r>
            <a:r>
              <a:rPr lang="zh-CN" altLang="en-US" dirty="0"/>
              <a:t>用于组网</a:t>
            </a:r>
            <a:endParaRPr lang="en-US" altLang="zh-CN" dirty="0"/>
          </a:p>
          <a:p>
            <a:r>
              <a:rPr lang="zh-CN" altLang="en-US" dirty="0"/>
              <a:t>路由器</a:t>
            </a:r>
            <a:r>
              <a:rPr lang="en-US" altLang="zh-CN" dirty="0"/>
              <a:t>(Router)</a:t>
            </a:r>
            <a:r>
              <a:rPr lang="zh-CN" altLang="en-US" dirty="0"/>
              <a:t>连接不同网络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1893346" y="3446543"/>
            <a:ext cx="4776395" cy="1188695"/>
            <a:chOff x="1323191" y="4292302"/>
            <a:chExt cx="4776395" cy="1188695"/>
          </a:xfrm>
        </p:grpSpPr>
        <p:sp>
          <p:nvSpPr>
            <p:cNvPr id="5" name="椭圆 4"/>
            <p:cNvSpPr/>
            <p:nvPr/>
          </p:nvSpPr>
          <p:spPr>
            <a:xfrm>
              <a:off x="3130475" y="4292302"/>
              <a:ext cx="1237130" cy="7207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Switch</a:t>
              </a:r>
              <a:endParaRPr lang="zh-CN" altLang="en-US" dirty="0"/>
            </a:p>
          </p:txBody>
        </p:sp>
        <p:cxnSp>
          <p:nvCxnSpPr>
            <p:cNvPr id="7" name="直接连接符 6"/>
            <p:cNvCxnSpPr>
              <a:stCxn id="5" idx="2"/>
            </p:cNvCxnSpPr>
            <p:nvPr/>
          </p:nvCxnSpPr>
          <p:spPr>
            <a:xfrm flipH="1" flipV="1">
              <a:off x="2312894" y="4652683"/>
              <a:ext cx="817581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>
              <a:stCxn id="5" idx="6"/>
              <a:endCxn id="14" idx="1"/>
            </p:cNvCxnSpPr>
            <p:nvPr/>
          </p:nvCxnSpPr>
          <p:spPr>
            <a:xfrm flipV="1">
              <a:off x="4367605" y="4652683"/>
              <a:ext cx="742278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1323191" y="4351469"/>
              <a:ext cx="989703" cy="6024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Host 1</a:t>
              </a:r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5109883" y="4351469"/>
              <a:ext cx="989703" cy="6024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Host 2</a:t>
              </a:r>
              <a:endParaRPr lang="zh-CN" altLang="en-US" dirty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088337" y="5111665"/>
              <a:ext cx="12666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10.0.0.1/24</a:t>
              </a:r>
              <a:endParaRPr lang="zh-CN" altLang="en-US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4367605" y="5111665"/>
              <a:ext cx="12666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10.0.0.2/24</a:t>
              </a:r>
              <a:endParaRPr lang="zh-CN" altLang="en-US" dirty="0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762683" y="3434602"/>
            <a:ext cx="7078530" cy="968713"/>
            <a:chOff x="684904" y="4943125"/>
            <a:chExt cx="7078530" cy="968713"/>
          </a:xfrm>
        </p:grpSpPr>
        <p:sp>
          <p:nvSpPr>
            <p:cNvPr id="20" name="椭圆 19"/>
            <p:cNvSpPr/>
            <p:nvPr/>
          </p:nvSpPr>
          <p:spPr>
            <a:xfrm>
              <a:off x="3605604" y="5191075"/>
              <a:ext cx="1237130" cy="7207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Router</a:t>
              </a:r>
              <a:endParaRPr lang="zh-CN" altLang="en-US" dirty="0"/>
            </a:p>
          </p:txBody>
        </p:sp>
        <p:cxnSp>
          <p:nvCxnSpPr>
            <p:cNvPr id="21" name="直接连接符 20"/>
            <p:cNvCxnSpPr>
              <a:stCxn id="20" idx="2"/>
              <a:endCxn id="23" idx="3"/>
            </p:cNvCxnSpPr>
            <p:nvPr/>
          </p:nvCxnSpPr>
          <p:spPr>
            <a:xfrm flipH="1" flipV="1">
              <a:off x="1674607" y="5551456"/>
              <a:ext cx="1930997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>
              <a:stCxn id="20" idx="6"/>
              <a:endCxn id="24" idx="1"/>
            </p:cNvCxnSpPr>
            <p:nvPr/>
          </p:nvCxnSpPr>
          <p:spPr>
            <a:xfrm flipV="1">
              <a:off x="4842734" y="5551456"/>
              <a:ext cx="1930997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22"/>
            <p:cNvSpPr/>
            <p:nvPr/>
          </p:nvSpPr>
          <p:spPr>
            <a:xfrm>
              <a:off x="684904" y="5250242"/>
              <a:ext cx="989703" cy="6024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Host 1</a:t>
              </a:r>
              <a:endParaRPr lang="zh-CN" altLang="en-US" dirty="0"/>
            </a:p>
          </p:txBody>
        </p:sp>
        <p:sp>
          <p:nvSpPr>
            <p:cNvPr id="24" name="矩形 23"/>
            <p:cNvSpPr/>
            <p:nvPr/>
          </p:nvSpPr>
          <p:spPr>
            <a:xfrm>
              <a:off x="6773731" y="5250242"/>
              <a:ext cx="989703" cy="6024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Host 2</a:t>
              </a:r>
              <a:endParaRPr lang="zh-CN" altLang="en-US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315804" y="4943125"/>
              <a:ext cx="12666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10.0.1.2/24</a:t>
              </a:r>
              <a:endParaRPr lang="zh-CN" altLang="en-US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036394" y="4967874"/>
              <a:ext cx="12666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10.0.2.2/24</a:t>
              </a:r>
              <a:endParaRPr lang="zh-CN" altLang="en-US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2697715" y="4947241"/>
              <a:ext cx="12666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10.0.1.1/24</a:t>
              </a:r>
              <a:endParaRPr lang="zh-CN" altLang="en-US" dirty="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4374358" y="4949926"/>
              <a:ext cx="12666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10.0.2.1/24</a:t>
              </a:r>
              <a:endParaRPr lang="zh-CN" altLang="en-US" dirty="0"/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2775494" y="4324677"/>
            <a:ext cx="2904544" cy="1289397"/>
            <a:chOff x="2934149" y="4986669"/>
            <a:chExt cx="2904544" cy="1289397"/>
          </a:xfrm>
        </p:grpSpPr>
        <p:cxnSp>
          <p:nvCxnSpPr>
            <p:cNvPr id="43" name="直接连接符 42"/>
            <p:cNvCxnSpPr/>
            <p:nvPr/>
          </p:nvCxnSpPr>
          <p:spPr>
            <a:xfrm>
              <a:off x="4464424" y="5081967"/>
              <a:ext cx="0" cy="5657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矩形 43"/>
            <p:cNvSpPr/>
            <p:nvPr/>
          </p:nvSpPr>
          <p:spPr>
            <a:xfrm>
              <a:off x="3969572" y="5673638"/>
              <a:ext cx="989703" cy="6024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Host 3</a:t>
              </a:r>
              <a:endParaRPr lang="zh-CN" altLang="en-US" dirty="0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4572000" y="4986669"/>
              <a:ext cx="12666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10.0.3.1/24</a:t>
              </a:r>
              <a:endParaRPr lang="zh-CN" altLang="en-US" dirty="0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2934149" y="5304306"/>
              <a:ext cx="12666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10.0.3.2/24</a:t>
              </a:r>
              <a:endParaRPr lang="zh-CN" altLang="en-US" dirty="0"/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2281779" y="4413848"/>
            <a:ext cx="4135556" cy="2074309"/>
            <a:chOff x="2281779" y="4413848"/>
            <a:chExt cx="4135556" cy="2074309"/>
          </a:xfrm>
        </p:grpSpPr>
        <p:sp>
          <p:nvSpPr>
            <p:cNvPr id="61" name="文本框 60"/>
            <p:cNvSpPr txBox="1"/>
            <p:nvPr/>
          </p:nvSpPr>
          <p:spPr>
            <a:xfrm>
              <a:off x="5150642" y="5427226"/>
              <a:ext cx="12666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10.0.3.4/24</a:t>
              </a:r>
              <a:endParaRPr lang="zh-CN" altLang="en-US" dirty="0"/>
            </a:p>
          </p:txBody>
        </p:sp>
        <p:grpSp>
          <p:nvGrpSpPr>
            <p:cNvPr id="66" name="组合 65"/>
            <p:cNvGrpSpPr/>
            <p:nvPr/>
          </p:nvGrpSpPr>
          <p:grpSpPr>
            <a:xfrm>
              <a:off x="2281779" y="4413848"/>
              <a:ext cx="3778604" cy="2074309"/>
              <a:chOff x="4908196" y="4725572"/>
              <a:chExt cx="3778604" cy="2074309"/>
            </a:xfrm>
          </p:grpSpPr>
          <p:sp>
            <p:nvSpPr>
              <p:cNvPr id="48" name="椭圆 47"/>
              <p:cNvSpPr/>
              <p:nvPr/>
            </p:nvSpPr>
            <p:spPr>
              <a:xfrm>
                <a:off x="6306212" y="5191874"/>
                <a:ext cx="1237130" cy="72076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Switch</a:t>
                </a:r>
                <a:endParaRPr lang="zh-CN" altLang="en-US" dirty="0"/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016884" y="6197453"/>
                <a:ext cx="989703" cy="60242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Host 3</a:t>
                </a:r>
                <a:endParaRPr lang="zh-CN" altLang="en-US" dirty="0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6433511" y="6197453"/>
                <a:ext cx="989703" cy="60242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Host 4</a:t>
                </a:r>
                <a:endParaRPr lang="zh-CN" altLang="en-US" dirty="0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7697097" y="6197453"/>
                <a:ext cx="989703" cy="60242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Host 5</a:t>
                </a:r>
                <a:endParaRPr lang="zh-CN" altLang="en-US" dirty="0"/>
              </a:p>
            </p:txBody>
          </p:sp>
          <p:cxnSp>
            <p:nvCxnSpPr>
              <p:cNvPr id="53" name="直接连接符 52"/>
              <p:cNvCxnSpPr>
                <a:stCxn id="48" idx="3"/>
                <a:endCxn id="49" idx="0"/>
              </p:cNvCxnSpPr>
              <p:nvPr/>
            </p:nvCxnSpPr>
            <p:spPr>
              <a:xfrm flipH="1">
                <a:off x="5511736" y="5807084"/>
                <a:ext cx="975649" cy="39036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>
                <a:stCxn id="48" idx="4"/>
                <a:endCxn id="50" idx="0"/>
              </p:cNvCxnSpPr>
              <p:nvPr/>
            </p:nvCxnSpPr>
            <p:spPr>
              <a:xfrm>
                <a:off x="6924777" y="5912637"/>
                <a:ext cx="3586" cy="28481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>
                <a:stCxn id="48" idx="5"/>
                <a:endCxn id="51" idx="0"/>
              </p:cNvCxnSpPr>
              <p:nvPr/>
            </p:nvCxnSpPr>
            <p:spPr>
              <a:xfrm>
                <a:off x="7362169" y="5807084"/>
                <a:ext cx="829780" cy="39036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文本框 58"/>
              <p:cNvSpPr txBox="1"/>
              <p:nvPr/>
            </p:nvSpPr>
            <p:spPr>
              <a:xfrm>
                <a:off x="4908196" y="5770503"/>
                <a:ext cx="12666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10.0.3.2/24</a:t>
                </a:r>
                <a:endParaRPr lang="zh-CN" altLang="en-US" dirty="0"/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6310032" y="5779689"/>
                <a:ext cx="12666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10.0.3.3/24</a:t>
                </a:r>
                <a:endParaRPr lang="zh-CN" altLang="en-US" dirty="0"/>
              </a:p>
            </p:txBody>
          </p:sp>
          <p:cxnSp>
            <p:nvCxnSpPr>
              <p:cNvPr id="64" name="直接连接符 63"/>
              <p:cNvCxnSpPr>
                <a:stCxn id="48" idx="0"/>
              </p:cNvCxnSpPr>
              <p:nvPr/>
            </p:nvCxnSpPr>
            <p:spPr>
              <a:xfrm flipV="1">
                <a:off x="6924777" y="4733365"/>
                <a:ext cx="0" cy="45850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文本框 64"/>
              <p:cNvSpPr txBox="1"/>
              <p:nvPr/>
            </p:nvSpPr>
            <p:spPr>
              <a:xfrm>
                <a:off x="7100964" y="4725572"/>
                <a:ext cx="12666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10.0.3.1/24</a:t>
                </a:r>
                <a:endParaRPr lang="zh-CN" altLang="en-US" dirty="0"/>
              </a:p>
            </p:txBody>
          </p:sp>
        </p:grpSp>
      </p:grpSp>
      <p:grpSp>
        <p:nvGrpSpPr>
          <p:cNvPr id="70" name="组合 69"/>
          <p:cNvGrpSpPr/>
          <p:nvPr/>
        </p:nvGrpSpPr>
        <p:grpSpPr>
          <a:xfrm>
            <a:off x="1515513" y="3466050"/>
            <a:ext cx="5552962" cy="1294601"/>
            <a:chOff x="1515513" y="3466050"/>
            <a:chExt cx="5552962" cy="1294601"/>
          </a:xfrm>
        </p:grpSpPr>
        <p:sp>
          <p:nvSpPr>
            <p:cNvPr id="68" name="椭圆 67"/>
            <p:cNvSpPr/>
            <p:nvPr/>
          </p:nvSpPr>
          <p:spPr>
            <a:xfrm>
              <a:off x="1515513" y="3474285"/>
              <a:ext cx="2400066" cy="1286366"/>
            </a:xfrm>
            <a:prstGeom prst="ellipse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4668409" y="3466050"/>
              <a:ext cx="2400066" cy="1286366"/>
            </a:xfrm>
            <a:prstGeom prst="ellipse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1" name="椭圆 70"/>
          <p:cNvSpPr/>
          <p:nvPr/>
        </p:nvSpPr>
        <p:spPr>
          <a:xfrm>
            <a:off x="1671170" y="3358365"/>
            <a:ext cx="5289028" cy="1286366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bldLvl="0" animBg="1"/>
      <p:bldP spid="71" grpId="1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网络管理工具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9101926" cy="5034843"/>
          </a:xfrm>
        </p:spPr>
        <p:txBody>
          <a:bodyPr/>
          <a:lstStyle/>
          <a:p>
            <a:r>
              <a:rPr lang="en-US" altLang="zh-CN" dirty="0"/>
              <a:t># </a:t>
            </a:r>
            <a:r>
              <a:rPr lang="en-US" altLang="zh-CN" dirty="0" err="1"/>
              <a:t>ifconfig</a:t>
            </a:r>
            <a:r>
              <a:rPr lang="en-US" altLang="zh-CN" dirty="0"/>
              <a:t> eth0 10.0.0.1/24		# set </a:t>
            </a:r>
            <a:r>
              <a:rPr lang="en-US" altLang="zh-CN" dirty="0" err="1"/>
              <a:t>IP</a:t>
            </a:r>
            <a:r>
              <a:rPr lang="en-US" altLang="zh-CN" dirty="0"/>
              <a:t> address &amp; netmask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# route add default </a:t>
            </a:r>
            <a:r>
              <a:rPr lang="en-US" altLang="zh-CN" dirty="0" err="1"/>
              <a:t>gw</a:t>
            </a:r>
            <a:r>
              <a:rPr lang="en-US" altLang="zh-CN" dirty="0"/>
              <a:t> 10.0.0.2		# set default gateway</a:t>
            </a:r>
            <a:endParaRPr lang="en-US" altLang="zh-CN" dirty="0"/>
          </a:p>
          <a:p>
            <a:r>
              <a:rPr lang="en-US" altLang="zh-CN" dirty="0"/>
              <a:t># route add 10.0.1.0/24 </a:t>
            </a:r>
            <a:r>
              <a:rPr lang="en-US" altLang="zh-CN" dirty="0" err="1"/>
              <a:t>gw</a:t>
            </a:r>
            <a:r>
              <a:rPr lang="en-US" altLang="zh-CN" dirty="0"/>
              <a:t> 10.0.3.1 dev h1-eth0	     # set gateway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# </a:t>
            </a:r>
            <a:r>
              <a:rPr lang="en-US" altLang="zh-CN" dirty="0" err="1"/>
              <a:t>arp</a:t>
            </a:r>
            <a:r>
              <a:rPr lang="en-US" altLang="zh-CN" dirty="0"/>
              <a:t> -n			# show </a:t>
            </a:r>
            <a:r>
              <a:rPr lang="en-US" altLang="zh-CN" dirty="0" err="1"/>
              <a:t>ip</a:t>
            </a:r>
            <a:r>
              <a:rPr lang="en-US" altLang="zh-CN" dirty="0"/>
              <a:t>-&gt;mac mapping</a:t>
            </a:r>
            <a:endParaRPr lang="en-US" altLang="zh-CN" dirty="0"/>
          </a:p>
          <a:p>
            <a:r>
              <a:rPr lang="en-US" altLang="zh-CN" dirty="0"/>
              <a:t># </a:t>
            </a:r>
            <a:r>
              <a:rPr lang="en-US" altLang="zh-CN" dirty="0" err="1"/>
              <a:t>arp</a:t>
            </a:r>
            <a:r>
              <a:rPr lang="en-US" altLang="zh-CN" dirty="0"/>
              <a:t> -d 10.0.0.1		# delete the entry of 10.0.0.1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# </a:t>
            </a:r>
            <a:r>
              <a:rPr lang="en-US" altLang="zh-CN" dirty="0" err="1"/>
              <a:t>nslookup</a:t>
            </a:r>
            <a:r>
              <a:rPr lang="en-US" altLang="zh-CN" dirty="0"/>
              <a:t> </a:t>
            </a:r>
            <a:r>
              <a:rPr lang="en-US" altLang="zh-CN" dirty="0">
                <a:hlinkClick r:id="rId1"/>
              </a:rPr>
              <a:t>www.baidu.com</a:t>
            </a:r>
            <a:r>
              <a:rPr lang="en-US" altLang="zh-CN" dirty="0"/>
              <a:t>	# </a:t>
            </a:r>
            <a:r>
              <a:rPr lang="en-US" altLang="zh-CN" dirty="0" err="1"/>
              <a:t>dns</a:t>
            </a:r>
            <a:r>
              <a:rPr lang="en-US" altLang="zh-CN" dirty="0"/>
              <a:t> lookup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网络测量工具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# ping 10.0.2.2 		# connectivity &amp; RTT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# traceroute 10.0.2.2 	# hops to the destination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# </a:t>
            </a:r>
            <a:r>
              <a:rPr lang="en-US" altLang="zh-CN" dirty="0" err="1"/>
              <a:t>iperf</a:t>
            </a:r>
            <a:r>
              <a:rPr lang="en-US" altLang="zh-CN" dirty="0"/>
              <a:t> 			# bandwidth measurement</a:t>
            </a:r>
            <a:endParaRPr lang="en-US" altLang="zh-CN" dirty="0"/>
          </a:p>
          <a:p>
            <a:pPr lvl="1"/>
            <a:r>
              <a:rPr lang="en-US" altLang="zh-CN" dirty="0"/>
              <a:t>10.0.0.1 # </a:t>
            </a:r>
            <a:r>
              <a:rPr lang="en-US" altLang="zh-CN" dirty="0" err="1"/>
              <a:t>iperf</a:t>
            </a:r>
            <a:r>
              <a:rPr lang="en-US" altLang="zh-CN" dirty="0"/>
              <a:t> -s </a:t>
            </a:r>
            <a:endParaRPr lang="en-US" altLang="zh-CN" dirty="0"/>
          </a:p>
          <a:p>
            <a:pPr lvl="1"/>
            <a:r>
              <a:rPr lang="en-US" altLang="zh-CN" dirty="0"/>
              <a:t>10.0.0.2 # </a:t>
            </a:r>
            <a:r>
              <a:rPr lang="en-US" altLang="zh-CN" dirty="0" err="1"/>
              <a:t>iperf</a:t>
            </a:r>
            <a:r>
              <a:rPr lang="en-US" altLang="zh-CN" dirty="0"/>
              <a:t> -c 10.0.0.1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互联网协议实验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9405" y="1445260"/>
            <a:ext cx="8634730" cy="5034915"/>
          </a:xfrm>
        </p:spPr>
        <p:txBody>
          <a:bodyPr/>
          <a:lstStyle/>
          <a:p>
            <a:r>
              <a:rPr lang="zh-CN" altLang="en-US" dirty="0"/>
              <a:t>搭建实验环境</a:t>
            </a:r>
            <a:endParaRPr lang="en-US" altLang="zh-CN" dirty="0"/>
          </a:p>
          <a:p>
            <a:pPr lvl="1"/>
            <a:r>
              <a:rPr kumimoji="1" lang="en-US" altLang="zh-CN" b="1" dirty="0">
                <a:solidFill>
                  <a:srgbClr val="FF0000"/>
                </a:solidFill>
              </a:rPr>
              <a:t>$ </a:t>
            </a:r>
            <a:r>
              <a:rPr kumimoji="1" lang="en-US" altLang="zh-CN" dirty="0"/>
              <a:t>sudo apt install wireshark ifupdown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$ </a:t>
            </a:r>
            <a:r>
              <a:rPr kumimoji="1" lang="sv-SE" altLang="zh-CN" dirty="0"/>
              <a:t>sudo mn --nat 	</a:t>
            </a:r>
            <a:r>
              <a:rPr kumimoji="1" lang="sv-SE" altLang="zh-CN" b="1" dirty="0">
                <a:solidFill>
                  <a:srgbClr val="FF0000"/>
                </a:solidFill>
              </a:rPr>
              <a:t># </a:t>
            </a:r>
            <a:r>
              <a:rPr kumimoji="1" lang="sv-SE" altLang="zh-CN" dirty="0"/>
              <a:t>allows hosts to connect to the Internet</a:t>
            </a:r>
            <a:endParaRPr kumimoji="1" lang="sv-SE" altLang="zh-CN" dirty="0"/>
          </a:p>
          <a:p>
            <a:pPr lvl="1"/>
            <a:r>
              <a:rPr lang="en-US" altLang="zh-CN" b="1" dirty="0" err="1">
                <a:solidFill>
                  <a:srgbClr val="FF0000"/>
                </a:solidFill>
              </a:rPr>
              <a:t>mininet</a:t>
            </a:r>
            <a:r>
              <a:rPr lang="en-US" altLang="zh-CN" b="1" dirty="0">
                <a:solidFill>
                  <a:srgbClr val="FF0000"/>
                </a:solidFill>
              </a:rPr>
              <a:t>&gt; </a:t>
            </a:r>
            <a:r>
              <a:rPr lang="en-US" altLang="zh-CN" dirty="0" err="1"/>
              <a:t>xterm</a:t>
            </a:r>
            <a:r>
              <a:rPr lang="en-US" altLang="zh-CN" dirty="0"/>
              <a:t> h1</a:t>
            </a:r>
            <a:endParaRPr lang="en-US" altLang="zh-CN" dirty="0"/>
          </a:p>
          <a:p>
            <a:pPr lvl="1"/>
            <a:r>
              <a:rPr lang="en-US" altLang="zh-CN" b="1" dirty="0">
                <a:solidFill>
                  <a:srgbClr val="FF0000"/>
                </a:solidFill>
              </a:rPr>
              <a:t>h1 #</a:t>
            </a:r>
            <a:r>
              <a:rPr lang="pt-BR" altLang="zh-CN" dirty="0"/>
              <a:t> echo "nameserver </a:t>
            </a:r>
            <a:r>
              <a:rPr lang="en-US" altLang="pt-BR" dirty="0"/>
              <a:t>8.8.8.</a:t>
            </a:r>
            <a:r>
              <a:rPr lang="pt-BR" altLang="zh-CN" dirty="0"/>
              <a:t>8" &gt; /etc/resolv.conf</a:t>
            </a:r>
            <a:endParaRPr lang="en-US" altLang="zh-CN" dirty="0"/>
          </a:p>
          <a:p>
            <a:pPr lvl="1"/>
            <a:r>
              <a:rPr lang="en-US" altLang="zh-CN" dirty="0"/>
              <a:t>h1 # wireshark &amp;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实验步骤</a:t>
            </a:r>
            <a:endParaRPr lang="en-US" altLang="zh-CN" dirty="0"/>
          </a:p>
          <a:p>
            <a:pPr lvl="1"/>
            <a:r>
              <a:rPr lang="en-US" altLang="zh-CN" dirty="0"/>
              <a:t>h1 # wget </a:t>
            </a:r>
            <a:r>
              <a:rPr lang="en-US" altLang="zh-CN" dirty="0">
                <a:solidFill>
                  <a:srgbClr val="FF0000"/>
                </a:solidFill>
                <a:cs typeface="+mn-ea"/>
              </a:rPr>
              <a:t>-U "</a:t>
            </a:r>
            <a:r>
              <a:rPr lang="en-US" altLang="zh-CN" dirty="0">
                <a:solidFill>
                  <a:srgbClr val="FF0000"/>
                </a:solidFill>
              </a:rPr>
              <a:t>Mozilla/5.0 (Windows NT 10.0; Win64; x64) AppleWebKit/537.36 (KHTML, like Gecko) Chrome/123.0 Safari/537.36"</a:t>
            </a:r>
            <a:r>
              <a:rPr lang="en-US" altLang="zh-CN" dirty="0"/>
              <a:t> https://www.ucas.ac.cn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3D1FE6-6671-4046-BBF6-876591C5C577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互联网协议实验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2021236"/>
          </a:xfrm>
        </p:spPr>
        <p:txBody>
          <a:bodyPr/>
          <a:lstStyle/>
          <a:p>
            <a:r>
              <a:rPr lang="zh-CN" altLang="en-US" dirty="0"/>
              <a:t>观察</a:t>
            </a:r>
            <a:r>
              <a:rPr lang="en-US" altLang="zh-CN" dirty="0"/>
              <a:t>wireshark</a:t>
            </a:r>
            <a:r>
              <a:rPr lang="zh-CN" altLang="en-US" dirty="0"/>
              <a:t>输出 （一），以</a:t>
            </a:r>
            <a:r>
              <a:rPr lang="en-US" altLang="zh-CN" dirty="0"/>
              <a:t>www.baidu.com</a:t>
            </a:r>
            <a:r>
              <a:rPr lang="zh-CN" altLang="en-US" dirty="0"/>
              <a:t>页面为例</a:t>
            </a:r>
            <a:endParaRPr lang="en-US" altLang="zh-CN" dirty="0"/>
          </a:p>
          <a:p>
            <a:pPr lvl="1"/>
            <a:r>
              <a:rPr lang="en-US" altLang="zh-CN" dirty="0"/>
              <a:t>ARP</a:t>
            </a:r>
            <a:r>
              <a:rPr lang="zh-CN" altLang="en-US" dirty="0"/>
              <a:t>协议</a:t>
            </a:r>
            <a:r>
              <a:rPr lang="en-US" altLang="zh-CN" dirty="0"/>
              <a:t>: IP</a:t>
            </a:r>
            <a:r>
              <a:rPr lang="zh-CN" altLang="en-US" dirty="0"/>
              <a:t>地址</a:t>
            </a:r>
            <a:r>
              <a:rPr lang="en-US" altLang="zh-CN" dirty="0"/>
              <a:t>-&gt;MAC</a:t>
            </a:r>
            <a:r>
              <a:rPr lang="zh-CN" altLang="en-US" dirty="0"/>
              <a:t>地址映射</a:t>
            </a:r>
            <a:endParaRPr lang="en-US" altLang="zh-CN" dirty="0"/>
          </a:p>
          <a:p>
            <a:pPr lvl="1"/>
            <a:r>
              <a:rPr lang="en-US" altLang="zh-CN" dirty="0"/>
              <a:t>DNS</a:t>
            </a:r>
            <a:r>
              <a:rPr lang="zh-CN" altLang="en-US" dirty="0"/>
              <a:t>协议</a:t>
            </a:r>
            <a:r>
              <a:rPr lang="en-US" altLang="zh-CN" dirty="0"/>
              <a:t>: </a:t>
            </a:r>
            <a:r>
              <a:rPr lang="zh-CN" altLang="en-US" dirty="0"/>
              <a:t>域名</a:t>
            </a:r>
            <a:r>
              <a:rPr lang="en-US" altLang="zh-CN" dirty="0"/>
              <a:t>-&gt;IP</a:t>
            </a:r>
            <a:r>
              <a:rPr lang="zh-CN" altLang="en-US" dirty="0"/>
              <a:t>地址映射</a:t>
            </a:r>
            <a:endParaRPr lang="en-US" altLang="zh-CN" dirty="0"/>
          </a:p>
          <a:p>
            <a:pPr lvl="1"/>
            <a:r>
              <a:rPr lang="en-US" altLang="zh-CN" dirty="0"/>
              <a:t>TCP</a:t>
            </a:r>
            <a:r>
              <a:rPr lang="zh-CN" altLang="en-US" dirty="0"/>
              <a:t>协议</a:t>
            </a:r>
            <a:r>
              <a:rPr lang="en-US" altLang="zh-CN" dirty="0"/>
              <a:t>: </a:t>
            </a:r>
            <a:r>
              <a:rPr lang="zh-CN" altLang="en-US" dirty="0"/>
              <a:t>数据传输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3D1FE6-6671-4046-BBF6-876591C5C57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/>
          <a:srcRect r="23718" b="1117"/>
          <a:stretch>
            <a:fillRect/>
          </a:stretch>
        </p:blipFill>
        <p:spPr>
          <a:xfrm>
            <a:off x="0" y="3642434"/>
            <a:ext cx="9133242" cy="2844427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互联网协议实验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观察</a:t>
            </a:r>
            <a:r>
              <a:rPr lang="en-US" altLang="zh-CN" dirty="0"/>
              <a:t>Wireshark</a:t>
            </a:r>
            <a:r>
              <a:rPr lang="zh-CN" altLang="en-US" dirty="0"/>
              <a:t>输出</a:t>
            </a:r>
            <a:r>
              <a:rPr lang="en-US" altLang="zh-CN" dirty="0"/>
              <a:t> </a:t>
            </a:r>
            <a:r>
              <a:rPr lang="zh-CN" altLang="en-US" dirty="0"/>
              <a:t>（二）</a:t>
            </a:r>
            <a:endParaRPr lang="en-US" altLang="zh-CN" dirty="0"/>
          </a:p>
          <a:p>
            <a:pPr lvl="1"/>
            <a:r>
              <a:rPr lang="zh-CN" altLang="en-US" dirty="0"/>
              <a:t>不同层次的协议封装</a:t>
            </a:r>
            <a:endParaRPr lang="en-US" altLang="zh-CN" dirty="0"/>
          </a:p>
          <a:p>
            <a:r>
              <a:rPr lang="en-US" altLang="zh-CN" dirty="0"/>
              <a:t>Ethernet &lt; IP &lt; UDP &lt; DNS</a:t>
            </a:r>
            <a:endParaRPr lang="en-US" altLang="zh-CN" dirty="0"/>
          </a:p>
          <a:p>
            <a:r>
              <a:rPr lang="en-US" altLang="zh-CN" dirty="0"/>
              <a:t>Ethernet &lt; IP &lt; TCP &lt; HTTP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3D1FE6-6671-4046-BBF6-876591C5C57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611" y="3573367"/>
            <a:ext cx="8140448" cy="248318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57" y="3679165"/>
            <a:ext cx="8142941" cy="245269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87301" y="2495774"/>
            <a:ext cx="8645032" cy="68403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互联网协议实验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观察</a:t>
            </a:r>
            <a:r>
              <a:rPr lang="en-US" altLang="zh-CN" dirty="0"/>
              <a:t>Wireshark</a:t>
            </a:r>
            <a:r>
              <a:rPr lang="zh-CN" altLang="en-US" dirty="0"/>
              <a:t>输出（三）</a:t>
            </a:r>
            <a:endParaRPr lang="en-US" altLang="zh-CN" dirty="0"/>
          </a:p>
          <a:p>
            <a:pPr lvl="1"/>
            <a:r>
              <a:rPr lang="en-US" altLang="zh-CN" dirty="0"/>
              <a:t>TCP</a:t>
            </a:r>
            <a:r>
              <a:rPr lang="zh-CN" altLang="en-US" dirty="0"/>
              <a:t>承载</a:t>
            </a:r>
            <a:r>
              <a:rPr lang="en-US" altLang="zh-CN" dirty="0"/>
              <a:t>HTTP</a:t>
            </a:r>
            <a:r>
              <a:rPr lang="zh-CN" altLang="en-US" dirty="0"/>
              <a:t>协议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3D1FE6-6671-4046-BBF6-876591C5C57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498" y="2461906"/>
            <a:ext cx="6802655" cy="28046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12250"/>
            <a:ext cx="4561367" cy="3545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传输性能</a:t>
            </a:r>
            <a:r>
              <a:rPr lang="zh-CN" altLang="en-US" dirty="0"/>
              <a:t>测量实验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Linux</a:t>
            </a:r>
            <a:r>
              <a:rPr lang="zh-CN" altLang="en-US" dirty="0"/>
              <a:t>系统或</a:t>
            </a:r>
            <a:r>
              <a:rPr lang="en-US" altLang="zh-CN" dirty="0"/>
              <a:t>Mininet</a:t>
            </a:r>
            <a:r>
              <a:rPr lang="zh-CN" altLang="en-US" dirty="0"/>
              <a:t>环境下，编写</a:t>
            </a:r>
            <a:r>
              <a:rPr lang="en-US" altLang="zh-CN" dirty="0"/>
              <a:t>Python</a:t>
            </a:r>
            <a:r>
              <a:rPr lang="zh-CN" altLang="en-US" dirty="0"/>
              <a:t>测量脚本，复现如下实验结果</a:t>
            </a:r>
            <a:endParaRPr lang="zh-CN" altLang="en-US" dirty="0"/>
          </a:p>
          <a:p>
            <a:pPr lvl="1"/>
            <a:r>
              <a:rPr lang="zh-CN" altLang="en-US" dirty="0"/>
              <a:t>只需要</a:t>
            </a:r>
            <a:r>
              <a:rPr lang="en-US" altLang="zh-CN" dirty="0"/>
              <a:t>Ping</a:t>
            </a:r>
            <a:r>
              <a:rPr lang="zh-CN" altLang="en-US" dirty="0"/>
              <a:t>、</a:t>
            </a:r>
            <a:r>
              <a:rPr lang="en-US" altLang="zh-CN" dirty="0"/>
              <a:t>DNS</a:t>
            </a:r>
            <a:r>
              <a:rPr lang="zh-CN" altLang="en-US" dirty="0"/>
              <a:t>、</a:t>
            </a:r>
            <a:r>
              <a:rPr lang="en-US" altLang="zh-CN" dirty="0"/>
              <a:t>TCP transfer</a:t>
            </a:r>
            <a:r>
              <a:rPr lang="zh-CN" altLang="en-US" dirty="0"/>
              <a:t>、</a:t>
            </a:r>
            <a:r>
              <a:rPr lang="en-US" altLang="zh-CN" dirty="0"/>
              <a:t>Total </a:t>
            </a:r>
            <a:r>
              <a:rPr lang="en-US" altLang="zh-CN" dirty="0"/>
              <a:t>time</a:t>
            </a:r>
            <a:r>
              <a:rPr lang="zh-CN" altLang="en-US" dirty="0"/>
              <a:t>这几个值</a:t>
            </a:r>
            <a:endParaRPr lang="zh-CN" altLang="en-US" dirty="0"/>
          </a:p>
          <a:p>
            <a:pPr lvl="1"/>
            <a:r>
              <a:rPr lang="zh-CN" altLang="en-US" dirty="0"/>
              <a:t>获取</a:t>
            </a:r>
            <a:r>
              <a:rPr lang="en-US" altLang="zh-CN" dirty="0"/>
              <a:t>1000</a:t>
            </a:r>
            <a:r>
              <a:rPr lang="zh-CN" altLang="en-US" dirty="0"/>
              <a:t>个左右网站的上述</a:t>
            </a:r>
            <a:r>
              <a:rPr lang="zh-CN" altLang="en-US" dirty="0"/>
              <a:t>指标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使用</a:t>
            </a:r>
            <a:r>
              <a:rPr lang="en-US" altLang="zh-CN" dirty="0">
                <a:sym typeface="+mn-ea"/>
              </a:rPr>
              <a:t>GeoIP</a:t>
            </a:r>
            <a:r>
              <a:rPr lang="zh-CN" altLang="en-US" dirty="0">
                <a:sym typeface="+mn-ea"/>
              </a:rPr>
              <a:t>数据库查询</a:t>
            </a:r>
            <a:r>
              <a:rPr lang="en-US" altLang="zh-CN" dirty="0">
                <a:sym typeface="+mn-ea"/>
              </a:rPr>
              <a:t>IP</a:t>
            </a:r>
            <a:r>
              <a:rPr lang="zh-CN" altLang="en-US" dirty="0">
                <a:sym typeface="+mn-ea"/>
              </a:rPr>
              <a:t>地址对应的地理位置，大致估算</a:t>
            </a:r>
            <a:r>
              <a:rPr lang="en-US" altLang="zh-CN" dirty="0">
                <a:sym typeface="+mn-ea"/>
              </a:rPr>
              <a:t>c-latency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3D1FE6-6671-4046-BBF6-876591C5C57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7085" y="4050665"/>
            <a:ext cx="4989830" cy="280733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互联网协议实验</a:t>
            </a:r>
            <a:endParaRPr lang="en-US" altLang="zh-CN" dirty="0"/>
          </a:p>
          <a:p>
            <a:pPr lvl="1"/>
            <a:r>
              <a:rPr lang="zh-CN" altLang="en-US" dirty="0"/>
              <a:t>在节点</a:t>
            </a:r>
            <a:r>
              <a:rPr lang="en-US" altLang="zh-CN" dirty="0"/>
              <a:t>h1</a:t>
            </a:r>
            <a:r>
              <a:rPr lang="zh-CN" altLang="en-US" dirty="0"/>
              <a:t>上开启</a:t>
            </a:r>
            <a:r>
              <a:rPr lang="en-US" altLang="zh-CN" dirty="0"/>
              <a:t>wireshark</a:t>
            </a:r>
            <a:r>
              <a:rPr lang="zh-CN" altLang="en-US" dirty="0"/>
              <a:t>抓包，用</a:t>
            </a:r>
            <a:r>
              <a:rPr lang="en-US" altLang="zh-CN" dirty="0" err="1"/>
              <a:t>wget</a:t>
            </a:r>
            <a:r>
              <a:rPr lang="zh-CN" altLang="en-US" dirty="0"/>
              <a:t>下载</a:t>
            </a:r>
            <a:r>
              <a:rPr lang="en-US" altLang="zh-CN" b="1" dirty="0">
                <a:solidFill>
                  <a:srgbClr val="FF0000"/>
                </a:solidFill>
              </a:rPr>
              <a:t>www.ucas.ac.cn</a:t>
            </a:r>
            <a:r>
              <a:rPr lang="zh-CN" altLang="en-US" dirty="0"/>
              <a:t>页面</a:t>
            </a:r>
            <a:endParaRPr lang="zh-CN" altLang="en-US" dirty="0"/>
          </a:p>
          <a:p>
            <a:pPr lvl="1"/>
            <a:r>
              <a:rPr lang="zh-CN" altLang="en-US" dirty="0"/>
              <a:t>调研说明</a:t>
            </a:r>
            <a:r>
              <a:rPr lang="en-US" altLang="zh-CN" dirty="0"/>
              <a:t>wireshark</a:t>
            </a:r>
            <a:r>
              <a:rPr lang="zh-CN" altLang="en-US" dirty="0"/>
              <a:t>抓到的几种协议</a:t>
            </a:r>
            <a:endParaRPr lang="en-US" altLang="zh-CN" dirty="0"/>
          </a:p>
          <a:p>
            <a:pPr lvl="2"/>
            <a:r>
              <a:rPr lang="en-US" altLang="zh-CN" dirty="0"/>
              <a:t>ARP, DNS, TCP, HTTP, HTTPS</a:t>
            </a:r>
            <a:endParaRPr lang="en-US" altLang="zh-CN" dirty="0"/>
          </a:p>
          <a:p>
            <a:pPr lvl="1"/>
            <a:r>
              <a:rPr lang="zh-CN" altLang="en-US" dirty="0"/>
              <a:t>调研解释</a:t>
            </a:r>
            <a:r>
              <a:rPr lang="en-US" altLang="zh-CN" dirty="0"/>
              <a:t>h1</a:t>
            </a:r>
            <a:r>
              <a:rPr lang="zh-CN" altLang="en-US" dirty="0"/>
              <a:t>下载</a:t>
            </a:r>
            <a:r>
              <a:rPr lang="en-US" altLang="zh-CN" dirty="0" err="1"/>
              <a:t>ucas</a:t>
            </a:r>
            <a:r>
              <a:rPr lang="zh-CN" altLang="en-US" dirty="0"/>
              <a:t>页面的整个过程</a:t>
            </a:r>
            <a:endParaRPr lang="en-US" altLang="zh-CN" dirty="0"/>
          </a:p>
          <a:p>
            <a:pPr lvl="2"/>
            <a:r>
              <a:rPr lang="zh-CN" altLang="en-US" dirty="0"/>
              <a:t>几种协议的运行机制</a:t>
            </a:r>
            <a:endParaRPr lang="en-US" altLang="zh-CN" dirty="0"/>
          </a:p>
          <a:p>
            <a:r>
              <a:rPr lang="zh-CN" altLang="en-US" dirty="0"/>
              <a:t>传输性能</a:t>
            </a:r>
            <a:r>
              <a:rPr lang="zh-CN" altLang="en-US" dirty="0"/>
              <a:t>测量实验</a:t>
            </a:r>
            <a:endParaRPr lang="en-US" altLang="zh-CN" dirty="0"/>
          </a:p>
          <a:p>
            <a:pPr lvl="1"/>
            <a:r>
              <a:rPr lang="zh-CN" altLang="en-US" dirty="0"/>
              <a:t>如果在</a:t>
            </a:r>
            <a:r>
              <a:rPr lang="en-US" altLang="zh-CN" dirty="0"/>
              <a:t>Mininet</a:t>
            </a:r>
            <a:r>
              <a:rPr lang="zh-CN" altLang="en-US" dirty="0"/>
              <a:t>环境下测量，</a:t>
            </a:r>
            <a:r>
              <a:rPr kumimoji="1" lang="en-US" altLang="zh-CN" dirty="0">
                <a:sym typeface="+mn-ea"/>
              </a:rPr>
              <a:t>$ </a:t>
            </a:r>
            <a:r>
              <a:rPr kumimoji="1" lang="sv-SE" altLang="zh-CN" dirty="0">
                <a:sym typeface="+mn-ea"/>
              </a:rPr>
              <a:t>sudo mn</a:t>
            </a:r>
            <a:r>
              <a:rPr kumimoji="1" lang="sv-SE" altLang="zh-CN" b="1" dirty="0">
                <a:solidFill>
                  <a:srgbClr val="C00000"/>
                </a:solidFill>
                <a:sym typeface="+mn-ea"/>
              </a:rPr>
              <a:t> </a:t>
            </a:r>
            <a:r>
              <a:rPr kumimoji="1" lang="sv-SE" altLang="zh-CN" b="1" dirty="0">
                <a:solidFill>
                  <a:srgbClr val="FF0000"/>
                </a:solidFill>
                <a:sym typeface="+mn-ea"/>
              </a:rPr>
              <a:t>--nat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测量结果可能与原图</a:t>
            </a:r>
            <a:r>
              <a:rPr lang="zh-CN" altLang="en-US" dirty="0"/>
              <a:t>不太一样：当前大部分通过</a:t>
            </a:r>
            <a:r>
              <a:rPr lang="en-US" altLang="zh-CN" dirty="0"/>
              <a:t>CDN</a:t>
            </a:r>
            <a:r>
              <a:rPr lang="zh-CN" altLang="en-US" dirty="0"/>
              <a:t>技术分发，服务器地址大都在</a:t>
            </a:r>
            <a:r>
              <a:rPr lang="zh-CN" altLang="en-US" dirty="0"/>
              <a:t>北京</a:t>
            </a:r>
            <a:endParaRPr lang="zh-CN" altLang="en-US" dirty="0"/>
          </a:p>
          <a:p>
            <a:pPr lvl="1"/>
            <a:r>
              <a:rPr lang="zh-CN" altLang="en-US" dirty="0"/>
              <a:t>结合本讲的内容，</a:t>
            </a:r>
            <a:r>
              <a:rPr lang="zh-CN" altLang="en-US" dirty="0"/>
              <a:t>调研解释这幅图中</a:t>
            </a:r>
            <a:r>
              <a:rPr lang="zh-CN" altLang="en-US" dirty="0"/>
              <a:t>结果的</a:t>
            </a:r>
            <a:r>
              <a:rPr lang="zh-CN" altLang="en-US" dirty="0"/>
              <a:t>成因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实验注意事项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737288" cy="5034843"/>
          </a:xfrm>
        </p:spPr>
        <p:txBody>
          <a:bodyPr/>
          <a:lstStyle/>
          <a:p>
            <a:r>
              <a:rPr lang="en-US" altLang="zh-CN" dirty="0"/>
              <a:t>Ubuntu</a:t>
            </a:r>
            <a:r>
              <a:rPr lang="zh-CN" altLang="en-US" dirty="0"/>
              <a:t>发行版中默认不包括</a:t>
            </a:r>
            <a:r>
              <a:rPr lang="en-US" altLang="zh-CN" dirty="0" err="1"/>
              <a:t>xterm</a:t>
            </a:r>
            <a:r>
              <a:rPr lang="zh-CN" altLang="en-US" dirty="0" err="1"/>
              <a:t>等</a:t>
            </a:r>
            <a:r>
              <a:rPr lang="zh-CN" altLang="en-US" dirty="0"/>
              <a:t>，需要单独安装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sudo apt install </a:t>
            </a:r>
            <a:r>
              <a:rPr lang="en-US" altLang="zh-CN" dirty="0" err="1">
                <a:solidFill>
                  <a:srgbClr val="FF0000"/>
                </a:solidFill>
              </a:rPr>
              <a:t>xterm ifupdown net-tools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wireshark</a:t>
            </a:r>
            <a:r>
              <a:rPr lang="zh-CN" altLang="en-US" dirty="0"/>
              <a:t>启动时提示</a:t>
            </a:r>
            <a:r>
              <a:rPr lang="en-US" altLang="zh-CN" dirty="0" err="1"/>
              <a:t>init.lua</a:t>
            </a:r>
            <a:r>
              <a:rPr lang="zh-CN" altLang="en-US" dirty="0"/>
              <a:t>脚本错误</a:t>
            </a:r>
            <a:endParaRPr lang="en-US" altLang="zh-CN" dirty="0"/>
          </a:p>
          <a:p>
            <a:pPr lvl="1"/>
            <a:r>
              <a:rPr lang="zh-CN" altLang="en-US" dirty="0"/>
              <a:t>可将配置文件中相应行注释掉，或直接忽略</a:t>
            </a:r>
            <a:endParaRPr lang="en-US" altLang="zh-CN" dirty="0"/>
          </a:p>
          <a:p>
            <a:r>
              <a:rPr lang="zh-CN" altLang="en-US" dirty="0"/>
              <a:t>抓包时，先选中相应网口（例如</a:t>
            </a:r>
            <a:r>
              <a:rPr lang="en-US" altLang="zh-CN" dirty="0"/>
              <a:t>,h1-eth0</a:t>
            </a:r>
            <a:r>
              <a:rPr lang="zh-CN" altLang="en-US" dirty="0"/>
              <a:t>），再启动</a:t>
            </a:r>
            <a:r>
              <a:rPr lang="en-US" altLang="zh-CN" dirty="0"/>
              <a:t>/Start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780" y="4074657"/>
            <a:ext cx="4844362" cy="2707144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zh-CN"/>
              <a:t>如何在</a:t>
            </a:r>
            <a:r>
              <a:rPr lang="en-US" altLang="zh-CN"/>
              <a:t>ssh</a:t>
            </a:r>
            <a:r>
              <a:rPr lang="zh-CN" altLang="en-US"/>
              <a:t>终端中执行</a:t>
            </a:r>
            <a:r>
              <a:rPr lang="en-US" altLang="zh-CN"/>
              <a:t>xterm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lang="zh-CN" altLang="en-US"/>
              <a:t>先确认能否以普通用户身份，执行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xterm</a:t>
            </a:r>
            <a:r>
              <a:rPr lang="zh-CN" altLang="en-US"/>
              <a:t>以打开终端窗口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再确认是否能通过执行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sudo xterm</a:t>
            </a:r>
            <a:r>
              <a:rPr lang="zh-CN" altLang="en-US"/>
              <a:t>打开终端窗口</a:t>
            </a:r>
            <a:endParaRPr lang="zh-CN" altLang="en-US"/>
          </a:p>
          <a:p>
            <a:pPr lvl="1">
              <a:lnSpc>
                <a:spcPct val="150000"/>
              </a:lnSpc>
            </a:pPr>
            <a:r>
              <a:rPr lang="en-US" altLang="zh-CN"/>
              <a:t>Mininet</a:t>
            </a:r>
            <a:r>
              <a:rPr lang="zh-CN" altLang="en-US"/>
              <a:t>环境下，新打开终端的用户都是</a:t>
            </a:r>
            <a:r>
              <a:rPr lang="en-US" altLang="zh-CN"/>
              <a:t>root</a:t>
            </a:r>
            <a:endParaRPr lang="en-US" altLang="zh-CN"/>
          </a:p>
          <a:p>
            <a:pPr lvl="0">
              <a:lnSpc>
                <a:spcPct val="150000"/>
              </a:lnSpc>
            </a:pPr>
            <a:r>
              <a:rPr lang="zh-CN" altLang="en-US"/>
              <a:t>如果</a:t>
            </a:r>
            <a:r>
              <a:rPr lang="en-US" altLang="zh-CN"/>
              <a:t>ssh</a:t>
            </a:r>
            <a:r>
              <a:rPr lang="zh-CN" altLang="en-US"/>
              <a:t>终端报错：</a:t>
            </a:r>
            <a:r>
              <a:rPr lang="en-US" altLang="zh-CN" sz="2000" b="1">
                <a:solidFill>
                  <a:srgbClr val="FF0000"/>
                </a:solidFill>
              </a:rPr>
              <a:t>**X11: Proxy authorisation not recognised**</a:t>
            </a:r>
            <a:endParaRPr lang="en-US" altLang="zh-CN" sz="2000" b="1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</a:rPr>
              <a:t>使用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cd ~; xauth list</a:t>
            </a:r>
            <a:r>
              <a:rPr lang="zh-CN" altLang="en-US">
                <a:solidFill>
                  <a:schemeClr val="tx1"/>
                </a:solidFill>
              </a:rPr>
              <a:t>查看所有</a:t>
            </a:r>
            <a:r>
              <a:rPr lang="en-US" altLang="zh-CN">
                <a:solidFill>
                  <a:schemeClr val="tx1"/>
                </a:solidFill>
              </a:rPr>
              <a:t>session ID</a:t>
            </a:r>
            <a:endParaRPr lang="en-US" altLang="zh-CN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将最后一行的内容作为</a:t>
            </a:r>
            <a:r>
              <a:rPr lang="en-US" altLang="zh-CN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sudo xauth add</a:t>
            </a:r>
            <a:r>
              <a:rPr lang="zh-CN" alt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的参数</a:t>
            </a:r>
            <a:endParaRPr lang="zh-CN" altLang="en-US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合并命令：</a:t>
            </a:r>
            <a:r>
              <a:rPr lang="en-US" altLang="zh-CN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sudo xauth add `cd ~; xauth list | tail -1`</a:t>
            </a:r>
            <a:endParaRPr lang="en-US" altLang="zh-CN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最后，在</a:t>
            </a:r>
            <a:r>
              <a:rPr lang="en-US" altLang="zh-CN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mininet&gt;</a:t>
            </a:r>
            <a:r>
              <a:rPr lang="zh-CN" alt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提示符下执行</a:t>
            </a:r>
            <a:r>
              <a:rPr lang="en-US" altLang="zh-CN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xterm h1</a:t>
            </a:r>
            <a:r>
              <a:rPr lang="zh-CN" alt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打开</a:t>
            </a:r>
            <a:r>
              <a:rPr lang="zh-CN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其</a:t>
            </a:r>
            <a:r>
              <a:rPr lang="zh-CN" alt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终端</a:t>
            </a:r>
            <a:endParaRPr lang="zh-CN" altLang="en-US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实验报告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提交内容</a:t>
            </a:r>
            <a:endParaRPr lang="en-US" altLang="zh-CN" dirty="0"/>
          </a:p>
          <a:p>
            <a:pPr lvl="1"/>
            <a:r>
              <a:rPr lang="zh-CN" altLang="en-US" dirty="0"/>
              <a:t>实验代码（本次实验不需要代码），</a:t>
            </a:r>
            <a:r>
              <a:rPr lang="zh-CN" altLang="en-US" dirty="0">
                <a:solidFill>
                  <a:srgbClr val="FF0000"/>
                </a:solidFill>
              </a:rPr>
              <a:t>提交到</a:t>
            </a:r>
            <a:r>
              <a:rPr lang="en-US" altLang="zh-CN" dirty="0">
                <a:solidFill>
                  <a:srgbClr val="FF0000"/>
                </a:solidFill>
              </a:rPr>
              <a:t>OJ</a:t>
            </a:r>
            <a:r>
              <a:rPr lang="zh-CN" altLang="en-US" dirty="0">
                <a:solidFill>
                  <a:srgbClr val="FF0000"/>
                </a:solidFill>
              </a:rPr>
              <a:t>网站</a:t>
            </a:r>
            <a:r>
              <a:rPr lang="zh-CN" altLang="en-US" dirty="0"/>
              <a:t>，下次课讲</a:t>
            </a:r>
            <a:endParaRPr lang="zh-CN" altLang="en-US" dirty="0"/>
          </a:p>
          <a:p>
            <a:pPr lvl="1"/>
            <a:r>
              <a:rPr lang="zh-CN" altLang="en-US" dirty="0"/>
              <a:t>实验报告：以作业形式</a:t>
            </a:r>
            <a:r>
              <a:rPr lang="zh-CN" altLang="en-US" dirty="0">
                <a:solidFill>
                  <a:srgbClr val="FF0000"/>
                </a:solidFill>
              </a:rPr>
              <a:t>提交到</a:t>
            </a:r>
            <a:r>
              <a:rPr lang="en-US" altLang="zh-CN" dirty="0">
                <a:solidFill>
                  <a:srgbClr val="FF0000"/>
                </a:solidFill>
              </a:rPr>
              <a:t>SEP</a:t>
            </a:r>
            <a:r>
              <a:rPr lang="zh-CN" altLang="en-US" dirty="0">
                <a:solidFill>
                  <a:srgbClr val="FF0000"/>
                </a:solidFill>
              </a:rPr>
              <a:t>网站</a:t>
            </a:r>
            <a:r>
              <a:rPr lang="zh-CN" altLang="en-US" dirty="0"/>
              <a:t>，模板不限，内容包括但不限于实验题目、实验内容、实验流程、实验结果及分析</a:t>
            </a:r>
            <a:endParaRPr lang="zh-CN" altLang="en-US" dirty="0"/>
          </a:p>
          <a:p>
            <a:pPr lvl="0"/>
            <a:endParaRPr lang="zh-CN" altLang="en-US" sz="2400" dirty="0"/>
          </a:p>
          <a:p>
            <a:pPr lvl="0"/>
            <a:r>
              <a:rPr lang="zh-CN" altLang="en-US" sz="2400" dirty="0"/>
              <a:t>注意</a:t>
            </a:r>
            <a:endParaRPr lang="zh-CN" altLang="en-US" sz="2400" dirty="0"/>
          </a:p>
          <a:p>
            <a:pPr lvl="1"/>
            <a:r>
              <a:rPr lang="zh-CN" altLang="en-US" sz="2000" dirty="0">
                <a:solidFill>
                  <a:srgbClr val="FF0000"/>
                </a:solidFill>
              </a:rPr>
              <a:t>鼓励使用</a:t>
            </a:r>
            <a:r>
              <a:rPr lang="en-US" altLang="zh-CN" sz="2000" dirty="0">
                <a:solidFill>
                  <a:srgbClr val="FF0000"/>
                </a:solidFill>
              </a:rPr>
              <a:t>AI</a:t>
            </a:r>
            <a:r>
              <a:rPr lang="zh-CN" altLang="en-US" sz="2000" dirty="0">
                <a:solidFill>
                  <a:srgbClr val="FF0000"/>
                </a:solidFill>
              </a:rPr>
              <a:t>生成代码，但不能抄袭</a:t>
            </a:r>
            <a:endParaRPr lang="zh-CN" altLang="en-US" sz="2000" dirty="0">
              <a:solidFill>
                <a:srgbClr val="FF0000"/>
              </a:solidFill>
            </a:endParaRPr>
          </a:p>
          <a:p>
            <a:pPr lvl="1"/>
            <a:r>
              <a:rPr lang="zh-CN" altLang="en-US" sz="2000" dirty="0">
                <a:solidFill>
                  <a:srgbClr val="FF0000"/>
                </a:solidFill>
              </a:rPr>
              <a:t>禁止使用</a:t>
            </a:r>
            <a:r>
              <a:rPr lang="en-US" altLang="zh-CN" sz="2000" dirty="0">
                <a:solidFill>
                  <a:srgbClr val="FF0000"/>
                </a:solidFill>
              </a:rPr>
              <a:t>AI</a:t>
            </a:r>
            <a:r>
              <a:rPr lang="zh-CN" altLang="en-US" sz="2000" dirty="0">
                <a:solidFill>
                  <a:srgbClr val="FF0000"/>
                </a:solidFill>
              </a:rPr>
              <a:t>生成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实验报告</a:t>
            </a:r>
            <a:endParaRPr lang="zh-CN" altLang="en-US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Mininet</a:t>
            </a:r>
            <a:r>
              <a:rPr lang="zh-CN" altLang="en-US" dirty="0"/>
              <a:t>是一种基于</a:t>
            </a:r>
            <a:r>
              <a:rPr lang="en-US" altLang="zh-CN" dirty="0"/>
              <a:t>Linux</a:t>
            </a:r>
            <a:r>
              <a:rPr lang="zh-CN" altLang="en-US" dirty="0"/>
              <a:t>容器</a:t>
            </a:r>
            <a:r>
              <a:rPr lang="en-US" altLang="zh-CN" dirty="0"/>
              <a:t>/</a:t>
            </a:r>
            <a:r>
              <a:rPr lang="zh-CN" altLang="en-US" dirty="0"/>
              <a:t>虚拟化技术的网络仿真器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相比于硬件网络平台和网络模拟器，</a:t>
            </a:r>
            <a:r>
              <a:rPr lang="en-US" altLang="zh-CN" dirty="0" err="1"/>
              <a:t>Mininet</a:t>
            </a:r>
            <a:r>
              <a:rPr lang="zh-CN" altLang="en-US" dirty="0"/>
              <a:t>的优点</a:t>
            </a:r>
            <a:endParaRPr lang="en-US" altLang="zh-CN" dirty="0"/>
          </a:p>
          <a:p>
            <a:pPr lvl="1"/>
            <a:r>
              <a:rPr lang="zh-CN" altLang="en-US" dirty="0"/>
              <a:t>对硬件要求较低、速度较快、可以支持较大规模拓扑</a:t>
            </a:r>
            <a:endParaRPr lang="en-US" altLang="zh-CN" dirty="0"/>
          </a:p>
          <a:p>
            <a:pPr lvl="1"/>
            <a:r>
              <a:rPr lang="zh-CN" altLang="en-US" dirty="0"/>
              <a:t>具有与硬件网络平台类似的精确度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支持命令行工具和</a:t>
            </a:r>
            <a:r>
              <a:rPr lang="en-US" altLang="zh-CN" dirty="0"/>
              <a:t>Python API</a:t>
            </a:r>
            <a:endParaRPr lang="en-US" altLang="zh-CN" dirty="0"/>
          </a:p>
          <a:p>
            <a:pPr lvl="1"/>
            <a:r>
              <a:rPr lang="zh-CN" altLang="en-US" dirty="0"/>
              <a:t>可实现从</a:t>
            </a:r>
            <a:r>
              <a:rPr lang="en-US" altLang="zh-CN" dirty="0"/>
              <a:t>L2</a:t>
            </a:r>
            <a:r>
              <a:rPr lang="zh-CN" altLang="en-US" dirty="0"/>
              <a:t>到</a:t>
            </a:r>
            <a:r>
              <a:rPr lang="en-US" altLang="zh-CN" dirty="0"/>
              <a:t>L7</a:t>
            </a:r>
            <a:r>
              <a:rPr lang="zh-CN" altLang="en-US" dirty="0"/>
              <a:t>的不同层次的网络系统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课程（微信）群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9135" y="1567180"/>
            <a:ext cx="4588510" cy="504444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8.85322834645672,&quot;left&quot;:25.918661417322834,&quot;top&quot;:108.27433070866141,&quot;width&quot;:693.836062992126}"/>
</p:tagLst>
</file>

<file path=ppt/tags/tag2.xml><?xml version="1.0" encoding="utf-8"?>
<p:tagLst xmlns:p="http://schemas.openxmlformats.org/presentationml/2006/main">
  <p:tag name="KSO_WM_DIAGRAM_VIRTUALLY_FRAME" val="{&quot;height&quot;:218.85322834645672,&quot;left&quot;:25.918661417322834,&quot;top&quot;:108.27433070866141,&quot;width&quot;:693.836062992126}"/>
</p:tagLst>
</file>

<file path=ppt/tags/tag3.xml><?xml version="1.0" encoding="utf-8"?>
<p:tagLst xmlns:p="http://schemas.openxmlformats.org/presentationml/2006/main">
  <p:tag name="KSO_WM_DIAGRAM_VIRTUALLY_FRAME" val="{&quot;height&quot;:218.85322834645672,&quot;left&quot;:25.918661417322834,&quot;top&quot;:108.27433070866141,&quot;width&quot;:693.836062992126}"/>
</p:tagLst>
</file>

<file path=ppt/tags/tag4.xml><?xml version="1.0" encoding="utf-8"?>
<p:tagLst xmlns:p="http://schemas.openxmlformats.org/presentationml/2006/main">
  <p:tag name="KSO_WM_DIAGRAM_VIRTUALLY_FRAME" val="{&quot;height&quot;:218.85322834645672,&quot;left&quot;:25.918661417322834,&quot;top&quot;:108.27433070866141,&quot;width&quot;:693.836062992126}"/>
</p:tagLst>
</file>

<file path=ppt/tags/tag5.xml><?xml version="1.0" encoding="utf-8"?>
<p:tagLst xmlns:p="http://schemas.openxmlformats.org/presentationml/2006/main">
  <p:tag name="KSO_WPP_MARK_KEY" val="2ff626cb-f0ae-4531-b9e0-c3682dcd417c"/>
  <p:tag name="COMMONDATA" val="eyJoZGlkIjoiNTM2NTZlNDJlY2JjODRiN2ExYmFlZWMyYWVkMDUzOWEifQ=="/>
  <p:tag name="commondata" val="eyJoZGlkIjoiZTllZGQyYTgzMDVhZjVmMWU0ODdmMDlmNGY5MThhMGUifQ==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计算机网络课程模板</Template>
  <TotalTime>0</TotalTime>
  <Words>11302</Words>
  <Application>WPS 演示</Application>
  <PresentationFormat>全屏显示(4:3)</PresentationFormat>
  <Paragraphs>1391</Paragraphs>
  <Slides>67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67</vt:i4>
      </vt:variant>
    </vt:vector>
  </HeadingPairs>
  <TitlesOfParts>
    <vt:vector size="87" baseType="lpstr">
      <vt:lpstr>Arial</vt:lpstr>
      <vt:lpstr>宋体</vt:lpstr>
      <vt:lpstr>Wingdings</vt:lpstr>
      <vt:lpstr>Arial Black</vt:lpstr>
      <vt:lpstr>Times New Roman</vt:lpstr>
      <vt:lpstr>黑体</vt:lpstr>
      <vt:lpstr>Calibri</vt:lpstr>
      <vt:lpstr>微软雅黑</vt:lpstr>
      <vt:lpstr>Cambria Math</vt:lpstr>
      <vt:lpstr>Calibri</vt:lpstr>
      <vt:lpstr>Courier New</vt:lpstr>
      <vt:lpstr>Helvetica</vt:lpstr>
      <vt:lpstr>楷体</vt:lpstr>
      <vt:lpstr>MS PGothic</vt:lpstr>
      <vt:lpstr>Arial Unicode MS</vt:lpstr>
      <vt:lpstr>Wingdings</vt:lpstr>
      <vt:lpstr>KSOFEEC592C5</vt:lpstr>
      <vt:lpstr>Segoe Print</vt:lpstr>
      <vt:lpstr>Pixel</vt:lpstr>
      <vt:lpstr>自定义设计方案</vt:lpstr>
      <vt:lpstr>互联网体系结构初识</vt:lpstr>
      <vt:lpstr>提纲</vt:lpstr>
      <vt:lpstr>课程基本信息</vt:lpstr>
      <vt:lpstr>课程设置</vt:lpstr>
      <vt:lpstr>实验作业提交说明</vt:lpstr>
      <vt:lpstr>实验工具与参考文献</vt:lpstr>
      <vt:lpstr>什么是网络？</vt:lpstr>
      <vt:lpstr>网络 -&gt; 万物互联 -&gt; 智慧万物</vt:lpstr>
      <vt:lpstr>网络不是已经很成熟了么？</vt:lpstr>
      <vt:lpstr>计算机网络领域的研究方法</vt:lpstr>
      <vt:lpstr>互联网体系结构</vt:lpstr>
      <vt:lpstr>标识空间</vt:lpstr>
      <vt:lpstr>固定/变动标识的例子</vt:lpstr>
      <vt:lpstr>互联网系统的标识空间</vt:lpstr>
      <vt:lpstr>互联网系统设计</vt:lpstr>
      <vt:lpstr>网络程序接口</vt:lpstr>
      <vt:lpstr>编程示例</vt:lpstr>
      <vt:lpstr>报文传递</vt:lpstr>
      <vt:lpstr>组网与网络互联</vt:lpstr>
      <vt:lpstr>组网</vt:lpstr>
      <vt:lpstr>网络互联</vt:lpstr>
      <vt:lpstr>数据传输</vt:lpstr>
      <vt:lpstr>传输控制机制</vt:lpstr>
      <vt:lpstr>互联网体系结构层次模型</vt:lpstr>
      <vt:lpstr>网络安全</vt:lpstr>
      <vt:lpstr>网络安全示例</vt:lpstr>
      <vt:lpstr>如何缓解DDoS问题？</vt:lpstr>
      <vt:lpstr>互联网传输性能</vt:lpstr>
      <vt:lpstr>互联网性能指标</vt:lpstr>
      <vt:lpstr>传输性能与用户参与度</vt:lpstr>
      <vt:lpstr>理想性能模型</vt:lpstr>
      <vt:lpstr>传输性能的例子</vt:lpstr>
      <vt:lpstr>网络延迟</vt:lpstr>
      <vt:lpstr>Android/Linux设备的发送延迟</vt:lpstr>
      <vt:lpstr>队列延迟引起的BufferBloat问题</vt:lpstr>
      <vt:lpstr>Buffer与传输性能</vt:lpstr>
      <vt:lpstr>吞吐率与流完成时间</vt:lpstr>
      <vt:lpstr>TCP传输的性能问题</vt:lpstr>
      <vt:lpstr>传输中的其它开销</vt:lpstr>
      <vt:lpstr>现实网络中的传输性能</vt:lpstr>
      <vt:lpstr>小结</vt:lpstr>
      <vt:lpstr>网络实验：搭建一个简单的网络</vt:lpstr>
      <vt:lpstr>网络实验平台</vt:lpstr>
      <vt:lpstr>网络仿真平台</vt:lpstr>
      <vt:lpstr>全虚拟化技术</vt:lpstr>
      <vt:lpstr>网络命名空间(Network Namespace)技术</vt:lpstr>
      <vt:lpstr>基于网络命名空间的网络环境搭建</vt:lpstr>
      <vt:lpstr>Mininet环境</vt:lpstr>
      <vt:lpstr>Mininet安装</vt:lpstr>
      <vt:lpstr>Mininet API举例</vt:lpstr>
      <vt:lpstr>Mininet支持设置性能参数</vt:lpstr>
      <vt:lpstr>Mininet CLI举例</vt:lpstr>
      <vt:lpstr>Mininet自定义网络拓扑</vt:lpstr>
      <vt:lpstr>网络环境搭建</vt:lpstr>
      <vt:lpstr>网络管理工具</vt:lpstr>
      <vt:lpstr>网络测量工具</vt:lpstr>
      <vt:lpstr>互联网协议实验</vt:lpstr>
      <vt:lpstr>互联网协议实验</vt:lpstr>
      <vt:lpstr>互联网协议实验</vt:lpstr>
      <vt:lpstr>互联网协议实验</vt:lpstr>
      <vt:lpstr>流完成时间实验</vt:lpstr>
      <vt:lpstr>实验内容</vt:lpstr>
      <vt:lpstr>实验注意事项</vt:lpstr>
      <vt:lpstr>如何在ssh终端中执行xterm</vt:lpstr>
      <vt:lpstr>实验报告</vt:lpstr>
      <vt:lpstr>小结</vt:lpstr>
      <vt:lpstr>课程（微信）群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 Qinghua</dc:creator>
  <cp:lastModifiedBy>Qinghua</cp:lastModifiedBy>
  <cp:revision>1069</cp:revision>
  <dcterms:created xsi:type="dcterms:W3CDTF">2017-02-15T05:09:00Z</dcterms:created>
  <dcterms:modified xsi:type="dcterms:W3CDTF">2026-09-03T00:22:12Z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82A09E41D6FC446E83832E7D4541DF4F</vt:lpwstr>
  </property>
  <property fmtid="{D5CDD505-2E9C-101B-9397-08002B2CF9AE}" pid="3" name="KSOProductBuildVer">
    <vt:lpwstr>2052-12.1.0.28043</vt:lpwstr>
  </property>
</Properties>
</file>